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Inter"/>
      <p:regular r:id="rId15"/>
      <p:bold r:id="rId16"/>
      <p:italic r:id="rId17"/>
      <p:boldItalic r:id="rId18"/>
    </p:embeddedFont>
    <p:embeddedFont>
      <p:font typeface="Roboto Mono"/>
      <p:regular r:id="rId19"/>
      <p:bold r:id="rId20"/>
      <p:italic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D4B2BF-3E0E-46A6-B5DC-F7E9C2A96AA4}">
  <a:tblStyle styleId="{51D4B2BF-3E0E-46A6-B5DC-F7E9C2A96AA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22" Type="http://schemas.openxmlformats.org/officeDocument/2006/relationships/font" Target="fonts/RobotoMono-boldItalic.fntdata"/><Relationship Id="rId21" Type="http://schemas.openxmlformats.org/officeDocument/2006/relationships/font" Target="fonts/RobotoMono-italic.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regular.fntdata"/><Relationship Id="rId14" Type="http://schemas.openxmlformats.org/officeDocument/2006/relationships/slide" Target="slides/slide8.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RobotoMono-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c74dce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c74dce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c74dce5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7c74dce5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c74dce5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7c74dce5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Personal Place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Reflection:</a:t>
            </a:r>
            <a:r>
              <a:rPr lang="en">
                <a:solidFill>
                  <a:schemeClr val="dk1"/>
                </a:solidFill>
              </a:rPr>
              <a:t> Write a paragraph about a personal place that holds significance for you.</a:t>
            </a:r>
            <a:endParaRPr>
              <a:solidFill>
                <a:schemeClr val="dk1"/>
              </a:solidFill>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Guiding Questions:: In a second section, describe how  your personal perspective shapes the way you see and feel about this place. What stories or memories are tied to this specific location?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c74dce51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c74dce51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Reflection: Write about a significant place in our local community. Tell the story of the place! Who owns it? Why do you like it? Describe something that happened there that you remember.</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c74dce51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c74dce51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Guiding Questions: Tell the story of how you and/or your family are connected to this place.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What traditions or values from this place have been passed down to you?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How does this connect to your cultural identity, including things you do and who you are?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c74dce51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7c74dce51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8cf471e1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8cf471e1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7c74dce51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7c74dce51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hyperlink" Target="https://www.youtube.com/watch?v=YVVTZgwYwVo" TargetMode="Externa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DATE</a:t>
            </a:r>
            <a:endParaRPr/>
          </a:p>
        </p:txBody>
      </p:sp>
      <p:sp>
        <p:nvSpPr>
          <p:cNvPr id="275" name="Google Shape;275;p42"/>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8500"/>
              <a:t>YOUR NAME</a:t>
            </a:r>
            <a:br>
              <a:rPr lang="en" sz="8500"/>
            </a:br>
            <a:r>
              <a:rPr b="0" lang="en" sz="1600"/>
              <a:t>Citizenship 9</a:t>
            </a:r>
            <a:endParaRPr b="0" sz="1600"/>
          </a:p>
        </p:txBody>
      </p:sp>
      <p:graphicFrame>
        <p:nvGraphicFramePr>
          <p:cNvPr id="276" name="Google Shape;276;p42"/>
          <p:cNvGraphicFramePr/>
          <p:nvPr/>
        </p:nvGraphicFramePr>
        <p:xfrm>
          <a:off x="4738075" y="671025"/>
          <a:ext cx="3000000" cy="3000000"/>
        </p:xfrm>
        <a:graphic>
          <a:graphicData uri="http://schemas.openxmlformats.org/drawingml/2006/table">
            <a:tbl>
              <a:tblPr>
                <a:noFill/>
                <a:tableStyleId>{51D4B2BF-3E0E-46A6-B5DC-F7E9C2A96AA4}</a:tableStyleId>
              </a:tblPr>
              <a:tblGrid>
                <a:gridCol w="3453425"/>
              </a:tblGrid>
              <a:tr h="39063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Insert some kind of cool picture here</a:t>
                      </a:r>
                      <a:endParaRPr/>
                    </a:p>
                  </a:txBody>
                  <a:tcPr marT="91425" marB="91425" marR="91425" marL="91425"/>
                </a:tc>
              </a:tr>
            </a:tbl>
          </a:graphicData>
        </a:graphic>
      </p:graphicFrame>
      <p:pic>
        <p:nvPicPr>
          <p:cNvPr id="277" name="Google Shape;277;p42" title="images.jpg"/>
          <p:cNvPicPr preferRelativeResize="0"/>
          <p:nvPr/>
        </p:nvPicPr>
        <p:blipFill>
          <a:blip r:embed="rId3">
            <a:alphaModFix/>
          </a:blip>
          <a:stretch>
            <a:fillRect/>
          </a:stretch>
        </p:blipFill>
        <p:spPr>
          <a:xfrm>
            <a:off x="4834163" y="957313"/>
            <a:ext cx="3000375" cy="3333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idx="3" type="body"/>
          </p:nvPr>
        </p:nvSpPr>
        <p:spPr>
          <a:xfrm>
            <a:off x="138550" y="2621100"/>
            <a:ext cx="424800" cy="220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83" name="Google Shape;283;p43"/>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Personal </a:t>
            </a:r>
            <a:endParaRPr/>
          </a:p>
          <a:p>
            <a:pPr indent="0" lvl="0" marL="0" rtl="0" algn="r">
              <a:spcBef>
                <a:spcPts val="0"/>
              </a:spcBef>
              <a:spcAft>
                <a:spcPts val="0"/>
              </a:spcAft>
              <a:buNone/>
            </a:pPr>
            <a:r>
              <a:rPr lang="en"/>
              <a:t>Community</a:t>
            </a:r>
            <a:endParaRPr/>
          </a:p>
          <a:p>
            <a:pPr indent="0" lvl="0" marL="0" rtl="0" algn="r">
              <a:spcBef>
                <a:spcPts val="0"/>
              </a:spcBef>
              <a:spcAft>
                <a:spcPts val="0"/>
              </a:spcAft>
              <a:buNone/>
            </a:pPr>
            <a:r>
              <a:rPr lang="en"/>
              <a:t>Global</a:t>
            </a:r>
            <a:endParaRPr/>
          </a:p>
          <a:p>
            <a:pPr indent="0" lvl="0" marL="0" rtl="0" algn="r">
              <a:spcBef>
                <a:spcPts val="0"/>
              </a:spcBef>
              <a:spcAft>
                <a:spcPts val="0"/>
              </a:spcAft>
              <a:buNone/>
            </a:pPr>
            <a:r>
              <a:rPr lang="en"/>
              <a:t>Aspirational</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cxnSp>
        <p:nvCxnSpPr>
          <p:cNvPr id="284" name="Google Shape;284;p43"/>
          <p:cNvCxnSpPr/>
          <p:nvPr/>
        </p:nvCxnSpPr>
        <p:spPr>
          <a:xfrm flipH="1" rot="10800000">
            <a:off x="563100" y="2750475"/>
            <a:ext cx="7387200" cy="6600"/>
          </a:xfrm>
          <a:prstGeom prst="straightConnector1">
            <a:avLst/>
          </a:prstGeom>
          <a:noFill/>
          <a:ln cap="flat" cmpd="sng" w="9525">
            <a:solidFill>
              <a:schemeClr val="dk1"/>
            </a:solidFill>
            <a:prstDash val="dot"/>
            <a:round/>
            <a:headEnd len="med" w="med" type="none"/>
            <a:tailEnd len="med" w="med" type="none"/>
          </a:ln>
        </p:spPr>
      </p:cxnSp>
      <p:cxnSp>
        <p:nvCxnSpPr>
          <p:cNvPr id="285" name="Google Shape;285;p43"/>
          <p:cNvCxnSpPr/>
          <p:nvPr/>
        </p:nvCxnSpPr>
        <p:spPr>
          <a:xfrm>
            <a:off x="563100" y="3000800"/>
            <a:ext cx="7118100" cy="5700"/>
          </a:xfrm>
          <a:prstGeom prst="straightConnector1">
            <a:avLst/>
          </a:prstGeom>
          <a:noFill/>
          <a:ln cap="flat" cmpd="sng" w="9525">
            <a:solidFill>
              <a:schemeClr val="dk1"/>
            </a:solidFill>
            <a:prstDash val="dot"/>
            <a:round/>
            <a:headEnd len="med" w="med" type="none"/>
            <a:tailEnd len="med" w="med" type="none"/>
          </a:ln>
        </p:spPr>
      </p:cxnSp>
      <p:cxnSp>
        <p:nvCxnSpPr>
          <p:cNvPr id="286" name="Google Shape;286;p43"/>
          <p:cNvCxnSpPr/>
          <p:nvPr/>
        </p:nvCxnSpPr>
        <p:spPr>
          <a:xfrm>
            <a:off x="563100" y="3248450"/>
            <a:ext cx="7580700" cy="0"/>
          </a:xfrm>
          <a:prstGeom prst="straightConnector1">
            <a:avLst/>
          </a:prstGeom>
          <a:noFill/>
          <a:ln cap="flat" cmpd="sng" w="9525">
            <a:solidFill>
              <a:schemeClr val="dk1"/>
            </a:solidFill>
            <a:prstDash val="dot"/>
            <a:round/>
            <a:headEnd len="med" w="med" type="none"/>
            <a:tailEnd len="med" w="med" type="none"/>
          </a:ln>
        </p:spPr>
      </p:cxnSp>
      <p:cxnSp>
        <p:nvCxnSpPr>
          <p:cNvPr id="287" name="Google Shape;287;p43"/>
          <p:cNvCxnSpPr/>
          <p:nvPr/>
        </p:nvCxnSpPr>
        <p:spPr>
          <a:xfrm>
            <a:off x="563100" y="3480975"/>
            <a:ext cx="7073400" cy="6000"/>
          </a:xfrm>
          <a:prstGeom prst="straightConnector1">
            <a:avLst/>
          </a:prstGeom>
          <a:noFill/>
          <a:ln cap="flat" cmpd="sng" w="9525">
            <a:solidFill>
              <a:schemeClr val="dk1"/>
            </a:solidFill>
            <a:prstDash val="dot"/>
            <a:round/>
            <a:headEnd len="med" w="med" type="none"/>
            <a:tailEnd len="med" w="med" type="none"/>
          </a:ln>
        </p:spPr>
      </p:cxnSp>
      <p:sp>
        <p:nvSpPr>
          <p:cNvPr id="288" name="Google Shape;288;p43"/>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TABLE OF CONTENTS</a:t>
            </a:r>
            <a:endParaRPr sz="600">
              <a:solidFill>
                <a:schemeClr val="dk1"/>
              </a:solidFill>
              <a:latin typeface="Roboto Mono"/>
              <a:ea typeface="Roboto Mono"/>
              <a:cs typeface="Roboto Mono"/>
              <a:sym typeface="Roboto Mono"/>
            </a:endParaRPr>
          </a:p>
        </p:txBody>
      </p:sp>
      <p:sp>
        <p:nvSpPr>
          <p:cNvPr id="289" name="Google Shape;289;p43"/>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sp>
        <p:nvSpPr>
          <p:cNvPr id="290" name="Google Shape;290;p43"/>
          <p:cNvSpPr txBox="1"/>
          <p:nvPr>
            <p:ph idx="4" type="title"/>
          </p:nvPr>
        </p:nvSpPr>
        <p:spPr>
          <a:xfrm>
            <a:off x="302725" y="571800"/>
            <a:ext cx="6763500" cy="20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Personal Place</a:t>
            </a:r>
            <a:endParaRPr sz="600">
              <a:solidFill>
                <a:schemeClr val="dk1"/>
              </a:solidFill>
              <a:latin typeface="Roboto Mono"/>
              <a:ea typeface="Roboto Mono"/>
              <a:cs typeface="Roboto Mono"/>
              <a:sym typeface="Roboto Mono"/>
            </a:endParaRPr>
          </a:p>
        </p:txBody>
      </p:sp>
      <p:sp>
        <p:nvSpPr>
          <p:cNvPr id="296" name="Google Shape;296;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sp>
        <p:nvSpPr>
          <p:cNvPr id="297" name="Google Shape;297;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a:t>
            </a: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graphicFrame>
        <p:nvGraphicFramePr>
          <p:cNvPr id="298" name="Google Shape;298;p44"/>
          <p:cNvGraphicFramePr/>
          <p:nvPr/>
        </p:nvGraphicFramePr>
        <p:xfrm>
          <a:off x="226500" y="600552"/>
          <a:ext cx="3000000" cy="3000000"/>
        </p:xfrm>
        <a:graphic>
          <a:graphicData uri="http://schemas.openxmlformats.org/drawingml/2006/table">
            <a:tbl>
              <a:tblPr>
                <a:noFill/>
                <a:tableStyleId>{51D4B2BF-3E0E-46A6-B5DC-F7E9C2A96AA4}</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br>
                        <a:rPr lang="en">
                          <a:latin typeface="Inter Medium"/>
                          <a:ea typeface="Inter Medium"/>
                          <a:cs typeface="Inter Medium"/>
                          <a:sym typeface="Inter Medium"/>
                        </a:rPr>
                      </a:br>
                      <a:r>
                        <a:rPr lang="en">
                          <a:latin typeface="Inter Medium"/>
                          <a:ea typeface="Inter Medium"/>
                          <a:cs typeface="Inter Medium"/>
                          <a:sym typeface="Inter Medium"/>
                        </a:rPr>
                        <a:t>(from Bing Maps)</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t/>
                      </a:r>
                      <a:endParaRPr sz="9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9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The place i picked is white point. I used to go there every year with my family. We would go in the winter and feed bunnies and swim in the pool. That pool is where i learned how to swim. I chose this place because it is an important part of my childhood.</a:t>
                      </a:r>
                      <a:endParaRPr sz="9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pic>
        <p:nvPicPr>
          <p:cNvPr id="299" name="Google Shape;299;p44" title="images.jpg"/>
          <p:cNvPicPr preferRelativeResize="0"/>
          <p:nvPr/>
        </p:nvPicPr>
        <p:blipFill>
          <a:blip r:embed="rId3">
            <a:alphaModFix/>
          </a:blip>
          <a:stretch>
            <a:fillRect/>
          </a:stretch>
        </p:blipFill>
        <p:spPr>
          <a:xfrm>
            <a:off x="6829449" y="1484625"/>
            <a:ext cx="2166626" cy="1617625"/>
          </a:xfrm>
          <a:prstGeom prst="rect">
            <a:avLst/>
          </a:prstGeom>
          <a:noFill/>
          <a:ln>
            <a:noFill/>
          </a:ln>
        </p:spPr>
      </p:pic>
      <p:pic>
        <p:nvPicPr>
          <p:cNvPr id="300" name="Google Shape;300;p44" title="Screenshot 2026-09-10 9.51.11 AM.png"/>
          <p:cNvPicPr preferRelativeResize="0"/>
          <p:nvPr/>
        </p:nvPicPr>
        <p:blipFill>
          <a:blip r:embed="rId4">
            <a:alphaModFix/>
          </a:blip>
          <a:stretch>
            <a:fillRect/>
          </a:stretch>
        </p:blipFill>
        <p:spPr>
          <a:xfrm>
            <a:off x="226501" y="2093451"/>
            <a:ext cx="2436876" cy="1428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Community Place</a:t>
            </a:r>
            <a:endParaRPr sz="600">
              <a:solidFill>
                <a:schemeClr val="dk1"/>
              </a:solidFill>
              <a:latin typeface="Roboto Mono"/>
              <a:ea typeface="Roboto Mono"/>
              <a:cs typeface="Roboto Mono"/>
              <a:sym typeface="Roboto Mono"/>
            </a:endParaRPr>
          </a:p>
        </p:txBody>
      </p:sp>
      <p:sp>
        <p:nvSpPr>
          <p:cNvPr id="306" name="Google Shape;306;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07" name="Google Shape;307;p45"/>
          <p:cNvGraphicFramePr/>
          <p:nvPr/>
        </p:nvGraphicFramePr>
        <p:xfrm>
          <a:off x="226500" y="600552"/>
          <a:ext cx="3000000" cy="3000000"/>
        </p:xfrm>
        <a:graphic>
          <a:graphicData uri="http://schemas.openxmlformats.org/drawingml/2006/table">
            <a:tbl>
              <a:tblPr>
                <a:noFill/>
                <a:tableStyleId>{51D4B2BF-3E0E-46A6-B5DC-F7E9C2A96AA4}</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t/>
                      </a:r>
                      <a:endParaRPr sz="10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1200"/>
                        </a:spcAft>
                        <a:buNone/>
                      </a:pPr>
                      <a:r>
                        <a:rPr lang="en" sz="1000">
                          <a:solidFill>
                            <a:schemeClr val="dk1"/>
                          </a:solidFill>
                          <a:latin typeface="Inter Medium"/>
                          <a:ea typeface="Inter Medium"/>
                          <a:cs typeface="Inter Medium"/>
                          <a:sym typeface="Inter Medium"/>
                        </a:rPr>
                        <a:t>When i was younger my mom would always take me and my brother to Crichton Park playground. I also like it because it was my elementary school. One thing i remember is going into the woods behind the school with my brother and making a fort with sticks.</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08" name="Google Shape;308;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09" name="Google Shape;309;p45" title="images.jpg"/>
          <p:cNvPicPr preferRelativeResize="0"/>
          <p:nvPr/>
        </p:nvPicPr>
        <p:blipFill>
          <a:blip r:embed="rId3">
            <a:alphaModFix/>
          </a:blip>
          <a:stretch>
            <a:fillRect/>
          </a:stretch>
        </p:blipFill>
        <p:spPr>
          <a:xfrm>
            <a:off x="6212019" y="2376850"/>
            <a:ext cx="2669550" cy="2011250"/>
          </a:xfrm>
          <a:prstGeom prst="rect">
            <a:avLst/>
          </a:prstGeom>
          <a:noFill/>
          <a:ln>
            <a:noFill/>
          </a:ln>
        </p:spPr>
      </p:pic>
      <p:pic>
        <p:nvPicPr>
          <p:cNvPr id="310" name="Google Shape;310;p45" title="Screenshot 2026-09-10 10.03.56 AM.png"/>
          <p:cNvPicPr preferRelativeResize="0"/>
          <p:nvPr/>
        </p:nvPicPr>
        <p:blipFill>
          <a:blip r:embed="rId4">
            <a:alphaModFix/>
          </a:blip>
          <a:stretch>
            <a:fillRect/>
          </a:stretch>
        </p:blipFill>
        <p:spPr>
          <a:xfrm>
            <a:off x="289393" y="2064918"/>
            <a:ext cx="3010900" cy="1619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Global Place</a:t>
            </a:r>
            <a:endParaRPr sz="600">
              <a:solidFill>
                <a:schemeClr val="dk1"/>
              </a:solidFill>
              <a:latin typeface="Roboto Mono"/>
              <a:ea typeface="Roboto Mono"/>
              <a:cs typeface="Roboto Mono"/>
              <a:sym typeface="Roboto Mono"/>
            </a:endParaRPr>
          </a:p>
        </p:txBody>
      </p:sp>
      <p:sp>
        <p:nvSpPr>
          <p:cNvPr id="316" name="Google Shape;316;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17" name="Google Shape;317;p46"/>
          <p:cNvGraphicFramePr/>
          <p:nvPr/>
        </p:nvGraphicFramePr>
        <p:xfrm>
          <a:off x="226500" y="600552"/>
          <a:ext cx="3000000" cy="3000000"/>
        </p:xfrm>
        <a:graphic>
          <a:graphicData uri="http://schemas.openxmlformats.org/drawingml/2006/table">
            <a:tbl>
              <a:tblPr>
                <a:noFill/>
                <a:tableStyleId>{51D4B2BF-3E0E-46A6-B5DC-F7E9C2A96AA4}</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Inter Medium"/>
                          <a:ea typeface="Inter Medium"/>
                          <a:cs typeface="Inter Medium"/>
                          <a:sym typeface="Inter Medium"/>
                        </a:rPr>
                        <a:t>Grand bahama island is a very special place to me. I have been going there every year since before i was one. My grandparents own an apartment in the island, they go there every winter because they don't like the cold. This year will be my first year other than covid that i wont be going there with my family. </a:t>
                      </a:r>
                      <a:endParaRPr sz="10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18" name="Google Shape;318;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19" name="Google Shape;319;p46" title="images.jpg"/>
          <p:cNvPicPr preferRelativeResize="0"/>
          <p:nvPr/>
        </p:nvPicPr>
        <p:blipFill>
          <a:blip r:embed="rId3">
            <a:alphaModFix/>
          </a:blip>
          <a:stretch>
            <a:fillRect/>
          </a:stretch>
        </p:blipFill>
        <p:spPr>
          <a:xfrm>
            <a:off x="6929769" y="2483069"/>
            <a:ext cx="2103525" cy="2103525"/>
          </a:xfrm>
          <a:prstGeom prst="rect">
            <a:avLst/>
          </a:prstGeom>
          <a:noFill/>
          <a:ln>
            <a:noFill/>
          </a:ln>
        </p:spPr>
      </p:pic>
      <p:pic>
        <p:nvPicPr>
          <p:cNvPr id="320" name="Google Shape;320;p46" title="Screenshot 2026-09-14 1.30.01 PM.png"/>
          <p:cNvPicPr preferRelativeResize="0"/>
          <p:nvPr/>
        </p:nvPicPr>
        <p:blipFill>
          <a:blip r:embed="rId4">
            <a:alphaModFix/>
          </a:blip>
          <a:stretch>
            <a:fillRect/>
          </a:stretch>
        </p:blipFill>
        <p:spPr>
          <a:xfrm>
            <a:off x="291827" y="2926477"/>
            <a:ext cx="2517201" cy="1360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26" name="Google Shape;326;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27" name="Google Shape;327;p47"/>
          <p:cNvGraphicFramePr/>
          <p:nvPr/>
        </p:nvGraphicFramePr>
        <p:xfrm>
          <a:off x="226500" y="600552"/>
          <a:ext cx="3000000" cy="3000000"/>
        </p:xfrm>
        <a:graphic>
          <a:graphicData uri="http://schemas.openxmlformats.org/drawingml/2006/table">
            <a:tbl>
              <a:tblPr>
                <a:noFill/>
                <a:tableStyleId>{51D4B2BF-3E0E-46A6-B5DC-F7E9C2A96AA4}</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1100">
                          <a:solidFill>
                            <a:schemeClr val="dk1"/>
                          </a:solidFill>
                          <a:latin typeface="Inter Medium"/>
                          <a:ea typeface="Inter Medium"/>
                          <a:cs typeface="Inter Medium"/>
                          <a:sym typeface="Inter Medium"/>
                        </a:rPr>
                        <a:t>I want to go to paris. One thing that draws me to this place is my grandas daad is from </a:t>
                      </a:r>
                      <a:r>
                        <a:rPr lang="en" sz="1100">
                          <a:solidFill>
                            <a:schemeClr val="dk1"/>
                          </a:solidFill>
                          <a:latin typeface="Inter Medium"/>
                          <a:ea typeface="Inter Medium"/>
                          <a:cs typeface="Inter Medium"/>
                          <a:sym typeface="Inter Medium"/>
                        </a:rPr>
                        <a:t>there. I also think paris is such a beautiful place and would be so fun to visit.</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28" name="Google Shape;328;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29" name="Google Shape;329;p47" title="images.jpg"/>
          <p:cNvPicPr preferRelativeResize="0"/>
          <p:nvPr/>
        </p:nvPicPr>
        <p:blipFill>
          <a:blip r:embed="rId3">
            <a:alphaModFix/>
          </a:blip>
          <a:stretch>
            <a:fillRect/>
          </a:stretch>
        </p:blipFill>
        <p:spPr>
          <a:xfrm>
            <a:off x="6887575" y="1444250"/>
            <a:ext cx="1917200" cy="2875800"/>
          </a:xfrm>
          <a:prstGeom prst="rect">
            <a:avLst/>
          </a:prstGeom>
          <a:noFill/>
          <a:ln>
            <a:noFill/>
          </a:ln>
        </p:spPr>
      </p:pic>
      <p:pic>
        <p:nvPicPr>
          <p:cNvPr id="330" name="Google Shape;330;p47" title="Screenshot 2026-09-14 1.34.34 PM.png"/>
          <p:cNvPicPr preferRelativeResize="0"/>
          <p:nvPr/>
        </p:nvPicPr>
        <p:blipFill>
          <a:blip r:embed="rId4">
            <a:alphaModFix/>
          </a:blip>
          <a:stretch>
            <a:fillRect/>
          </a:stretch>
        </p:blipFill>
        <p:spPr>
          <a:xfrm>
            <a:off x="226499" y="2571749"/>
            <a:ext cx="3234116" cy="1748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36" name="Google Shape;336;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37" name="Google Shape;337;p48"/>
          <p:cNvGraphicFramePr/>
          <p:nvPr/>
        </p:nvGraphicFramePr>
        <p:xfrm>
          <a:off x="226500" y="600552"/>
          <a:ext cx="3000000" cy="3000000"/>
        </p:xfrm>
        <a:graphic>
          <a:graphicData uri="http://schemas.openxmlformats.org/drawingml/2006/table">
            <a:tbl>
              <a:tblPr>
                <a:noFill/>
                <a:tableStyleId>{51D4B2BF-3E0E-46A6-B5DC-F7E9C2A96AA4}</a:tableStyleId>
              </a:tblPr>
              <a:tblGrid>
                <a:gridCol w="2227325"/>
                <a:gridCol w="3466625"/>
                <a:gridCol w="2994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Soundtrack of your life</a:t>
                      </a:r>
                      <a:endParaRPr>
                        <a:latin typeface="Inter Medium"/>
                        <a:ea typeface="Inter Medium"/>
                        <a:cs typeface="Inter Medium"/>
                        <a:sym typeface="Inter Medium"/>
                      </a:endParaRPr>
                    </a:p>
                    <a:p>
                      <a:pPr indent="0" lvl="0" marL="0" rtl="0" algn="l">
                        <a:spcBef>
                          <a:spcPts val="0"/>
                        </a:spcBef>
                        <a:spcAft>
                          <a:spcPts val="0"/>
                        </a:spcAft>
                        <a:buNone/>
                      </a:pPr>
                      <a:r>
                        <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Post the youtube </a:t>
                      </a:r>
                      <a:r>
                        <a:rPr b="1" lang="en" sz="1100">
                          <a:solidFill>
                            <a:schemeClr val="dk1"/>
                          </a:solidFill>
                          <a:latin typeface="Inter"/>
                          <a:ea typeface="Inter"/>
                          <a:cs typeface="Inter"/>
                          <a:sym typeface="Inter"/>
                        </a:rPr>
                        <a:t>link here</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r>
                        <a:rPr lang="en" sz="1100" u="sng">
                          <a:solidFill>
                            <a:schemeClr val="hlink"/>
                          </a:solidFill>
                          <a:latin typeface="Inter"/>
                          <a:ea typeface="Inter"/>
                          <a:cs typeface="Inter"/>
                          <a:sym typeface="Inter"/>
                          <a:hlinkClick r:id="rId3"/>
                        </a:rPr>
                        <a:t>https://www.youtube.com/watch?v=YVVTZgwYwVo</a:t>
                      </a: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What’s the story on the song? Write here! </a:t>
                      </a:r>
                      <a:endParaRPr>
                        <a:latin typeface="Inter Medium"/>
                        <a:ea typeface="Inter Medium"/>
                        <a:cs typeface="Inter Medium"/>
                        <a:sym typeface="Inter Medium"/>
                      </a:endParaRPr>
                    </a:p>
                    <a:p>
                      <a:pPr indent="0" lvl="0" marL="0" rtl="0" algn="l">
                        <a:spcBef>
                          <a:spcPts val="0"/>
                        </a:spcBef>
                        <a:spcAft>
                          <a:spcPts val="0"/>
                        </a:spcAft>
                        <a:buNone/>
                      </a:pPr>
                      <a:r>
                        <a:t/>
                      </a:r>
                      <a:endParaRPr>
                        <a:latin typeface="Inter Medium"/>
                        <a:ea typeface="Inter Medium"/>
                        <a:cs typeface="Inter Medium"/>
                        <a:sym typeface="Inter Medium"/>
                      </a:endParaRPr>
                    </a:p>
                    <a:p>
                      <a:pPr indent="0" lvl="0" marL="0" rtl="0" algn="l">
                        <a:spcBef>
                          <a:spcPts val="0"/>
                        </a:spcBef>
                        <a:spcAft>
                          <a:spcPts val="0"/>
                        </a:spcAft>
                        <a:buNone/>
                      </a:pPr>
                      <a:r>
                        <a:t/>
                      </a:r>
                      <a:endParaRPr>
                        <a:latin typeface="Inter Medium"/>
                        <a:ea typeface="Inter Medium"/>
                        <a:cs typeface="Inter Medium"/>
                        <a:sym typeface="Inter Medium"/>
                      </a:endParaRPr>
                    </a:p>
                    <a:p>
                      <a:pPr indent="0" lvl="0" marL="0" rtl="0" algn="l">
                        <a:spcBef>
                          <a:spcPts val="0"/>
                        </a:spcBef>
                        <a:spcAft>
                          <a:spcPts val="0"/>
                        </a:spcAft>
                        <a:buNone/>
                      </a:pPr>
                      <a:r>
                        <a:t/>
                      </a:r>
                      <a:endParaRPr>
                        <a:latin typeface="Inter Medium"/>
                        <a:ea typeface="Inter Medium"/>
                        <a:cs typeface="Inter Medium"/>
                        <a:sym typeface="Inter Medium"/>
                      </a:endParaRPr>
                    </a:p>
                    <a:p>
                      <a:pPr indent="0" lvl="0" marL="0" rtl="0" algn="l">
                        <a:spcBef>
                          <a:spcPts val="0"/>
                        </a:spcBef>
                        <a:spcAft>
                          <a:spcPts val="0"/>
                        </a:spcAft>
                        <a:buNone/>
                      </a:pPr>
                      <a:r>
                        <a:rPr lang="en">
                          <a:latin typeface="Inter Medium"/>
                          <a:ea typeface="Inter Medium"/>
                          <a:cs typeface="Inter Medium"/>
                          <a:sym typeface="Inter Medium"/>
                        </a:rPr>
                        <a:t>When i was </a:t>
                      </a:r>
                      <a:r>
                        <a:rPr lang="en">
                          <a:latin typeface="Inter Medium"/>
                          <a:ea typeface="Inter Medium"/>
                          <a:cs typeface="Inter Medium"/>
                          <a:sym typeface="Inter Medium"/>
                        </a:rPr>
                        <a:t>younger</a:t>
                      </a:r>
                      <a:r>
                        <a:rPr lang="en">
                          <a:latin typeface="Inter Medium"/>
                          <a:ea typeface="Inter Medium"/>
                          <a:cs typeface="Inter Medium"/>
                          <a:sym typeface="Inter Medium"/>
                        </a:rPr>
                        <a:t> I loved </a:t>
                      </a:r>
                      <a:r>
                        <a:rPr lang="en">
                          <a:latin typeface="Inter Medium"/>
                          <a:ea typeface="Inter Medium"/>
                          <a:cs typeface="Inter Medium"/>
                          <a:sym typeface="Inter Medium"/>
                        </a:rPr>
                        <a:t>princesses</a:t>
                      </a:r>
                      <a:r>
                        <a:rPr lang="en">
                          <a:latin typeface="Inter Medium"/>
                          <a:ea typeface="Inter Medium"/>
                          <a:cs typeface="Inter Medium"/>
                          <a:sym typeface="Inter Medium"/>
                        </a:rPr>
                        <a:t> </a:t>
                      </a:r>
                      <a:r>
                        <a:rPr lang="en">
                          <a:latin typeface="Inter Medium"/>
                          <a:ea typeface="Inter Medium"/>
                          <a:cs typeface="Inter Medium"/>
                          <a:sym typeface="Inter Medium"/>
                        </a:rPr>
                        <a:t>especially</a:t>
                      </a:r>
                      <a:r>
                        <a:rPr lang="en">
                          <a:latin typeface="Inter Medium"/>
                          <a:ea typeface="Inter Medium"/>
                          <a:cs typeface="Inter Medium"/>
                          <a:sym typeface="Inter Medium"/>
                        </a:rPr>
                        <a:t> elsa and anna. I loved </a:t>
                      </a:r>
                      <a:r>
                        <a:rPr lang="en">
                          <a:latin typeface="Inter Medium"/>
                          <a:ea typeface="Inter Medium"/>
                          <a:cs typeface="Inter Medium"/>
                          <a:sym typeface="Inter Medium"/>
                        </a:rPr>
                        <a:t>singing</a:t>
                      </a:r>
                      <a:r>
                        <a:rPr lang="en">
                          <a:latin typeface="Inter Medium"/>
                          <a:ea typeface="Inter Medium"/>
                          <a:cs typeface="Inter Medium"/>
                          <a:sym typeface="Inter Medium"/>
                        </a:rPr>
                        <a:t> this song. And i also loved watching this movie</a:t>
                      </a:r>
                      <a:endParaRPr>
                        <a:latin typeface="Inter Medium"/>
                        <a:ea typeface="Inter Medium"/>
                        <a:cs typeface="Inter Medium"/>
                        <a:sym typeface="Inter Medium"/>
                      </a:endParaRPr>
                    </a:p>
                  </a:txBody>
                  <a:tcPr marT="91425" marB="91425" marR="91425" marL="91425"/>
                </a:tc>
              </a:tr>
            </a:tbl>
          </a:graphicData>
        </a:graphic>
      </p:graphicFrame>
      <p:sp>
        <p:nvSpPr>
          <p:cNvPr id="338" name="Google Shape;338;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39" name="Google Shape;339;p48" title="images.jpg"/>
          <p:cNvPicPr preferRelativeResize="0"/>
          <p:nvPr/>
        </p:nvPicPr>
        <p:blipFill>
          <a:blip r:embed="rId4">
            <a:alphaModFix/>
          </a:blip>
          <a:stretch>
            <a:fillRect/>
          </a:stretch>
        </p:blipFill>
        <p:spPr>
          <a:xfrm>
            <a:off x="481425" y="2419700"/>
            <a:ext cx="2267674" cy="2267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9"/>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