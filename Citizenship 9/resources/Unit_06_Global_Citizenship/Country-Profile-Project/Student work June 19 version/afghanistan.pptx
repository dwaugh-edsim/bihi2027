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Slab"/>
      <p:regular r:id="rId13"/>
      <p:bold r:id="rId14"/>
    </p:embeddedFon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Slab-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font" Target="fonts/RobotoSlab-bold.fntdata"/><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531a7ac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531a7ac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531a7ac79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531a7ac79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31a7ac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531a7ac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531a7ac7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531a7ac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a8c8004e8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a8c8004e8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74c0731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74c0731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rgbClr val="6AA84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medicamondiale.org/en/where-we-empower-women/afghanistan" TargetMode="External"/><Relationship Id="rId4" Type="http://schemas.openxmlformats.org/officeDocument/2006/relationships/hyperlink" Target="https://medicamondiale.org/en/where-we-empower-women/afghanistan" TargetMode="External"/><Relationship Id="rId5" Type="http://schemas.openxmlformats.org/officeDocument/2006/relationships/hyperlink" Target="https://www.aljazeera.com/news/2023/3/8/international-womens-day-the-exclusion-of-afghanistans-women" TargetMode="External"/><Relationship Id="rId6" Type="http://schemas.openxmlformats.org/officeDocument/2006/relationships/hyperlink" Target="https://www.unwomen.org/en/articles/faqs/faqs-afghanistan" TargetMode="External"/><Relationship Id="rId7" Type="http://schemas.openxmlformats.org/officeDocument/2006/relationships/hyperlink" Target="https://www.unesco.org/en/articles/afghanistan-14-million-girls-still-banned-school-de-facto-authoritie" TargetMode="External"/><Relationship Id="rId8" Type="http://schemas.openxmlformats.org/officeDocument/2006/relationships/hyperlink" Target="https://zantimes.com/2024/03/21/consequences-of-talibans-ban-on-womens-educat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0" y="923550"/>
            <a:ext cx="5783400" cy="172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5144">
                <a:solidFill>
                  <a:srgbClr val="000000"/>
                </a:solidFill>
              </a:rPr>
              <a:t>Afghanistan</a:t>
            </a:r>
            <a:endParaRPr b="1" sz="5144">
              <a:solidFill>
                <a:srgbClr val="000000"/>
              </a:solidFill>
            </a:endParaRPr>
          </a:p>
          <a:p>
            <a:pPr indent="0" lvl="0" marL="0" rtl="0" algn="ctr">
              <a:spcBef>
                <a:spcPts val="0"/>
              </a:spcBef>
              <a:spcAft>
                <a:spcPts val="0"/>
              </a:spcAft>
              <a:buNone/>
            </a:pPr>
            <a:r>
              <a:rPr lang="en" sz="2933">
                <a:solidFill>
                  <a:srgbClr val="000000"/>
                </a:solidFill>
              </a:rPr>
              <a:t>Women's Rights and Education</a:t>
            </a:r>
            <a:endParaRPr sz="2933">
              <a:solidFill>
                <a:srgbClr val="000000"/>
              </a:solidFill>
            </a:endParaRPr>
          </a:p>
        </p:txBody>
      </p:sp>
      <p:sp>
        <p:nvSpPr>
          <p:cNvPr id="64" name="Google Shape;64;p13"/>
          <p:cNvSpPr txBox="1"/>
          <p:nvPr>
            <p:ph idx="1" type="subTitle"/>
          </p:nvPr>
        </p:nvSpPr>
        <p:spPr>
          <a:xfrm>
            <a:off x="1680302" y="32199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700">
                <a:solidFill>
                  <a:srgbClr val="274E13"/>
                </a:solidFill>
              </a:rPr>
              <a:t>By: Laila and Josie</a:t>
            </a:r>
            <a:endParaRPr b="1" sz="2700">
              <a:solidFill>
                <a:srgbClr val="274E13"/>
              </a:solidFill>
            </a:endParaRPr>
          </a:p>
        </p:txBody>
      </p:sp>
      <p:pic>
        <p:nvPicPr>
          <p:cNvPr id="65" name="Google Shape;65;p13" title="download.png"/>
          <p:cNvPicPr preferRelativeResize="0"/>
          <p:nvPr/>
        </p:nvPicPr>
        <p:blipFill>
          <a:blip r:embed="rId3">
            <a:alphaModFix/>
          </a:blip>
          <a:stretch>
            <a:fillRect/>
          </a:stretch>
        </p:blipFill>
        <p:spPr>
          <a:xfrm>
            <a:off x="1561888" y="663831"/>
            <a:ext cx="961982" cy="642598"/>
          </a:xfrm>
          <a:prstGeom prst="rect">
            <a:avLst/>
          </a:prstGeom>
          <a:noFill/>
          <a:ln>
            <a:noFill/>
          </a:ln>
        </p:spPr>
      </p:pic>
      <p:pic>
        <p:nvPicPr>
          <p:cNvPr id="66" name="Google Shape;66;p13" title="download.png"/>
          <p:cNvPicPr preferRelativeResize="0"/>
          <p:nvPr/>
        </p:nvPicPr>
        <p:blipFill>
          <a:blip r:embed="rId3">
            <a:alphaModFix/>
          </a:blip>
          <a:stretch>
            <a:fillRect/>
          </a:stretch>
        </p:blipFill>
        <p:spPr>
          <a:xfrm>
            <a:off x="6630438" y="3814256"/>
            <a:ext cx="961982" cy="642598"/>
          </a:xfrm>
          <a:prstGeom prst="rect">
            <a:avLst/>
          </a:prstGeom>
          <a:noFill/>
          <a:ln>
            <a:noFill/>
          </a:ln>
        </p:spPr>
      </p:pic>
      <p:cxnSp>
        <p:nvCxnSpPr>
          <p:cNvPr id="67" name="Google Shape;67;p13"/>
          <p:cNvCxnSpPr/>
          <p:nvPr/>
        </p:nvCxnSpPr>
        <p:spPr>
          <a:xfrm flipH="1" rot="10800000">
            <a:off x="2071950" y="2822125"/>
            <a:ext cx="5000100" cy="21000"/>
          </a:xfrm>
          <a:prstGeom prst="straightConnector1">
            <a:avLst/>
          </a:prstGeom>
          <a:noFill/>
          <a:ln cap="flat" cmpd="sng" w="9525">
            <a:solidFill>
              <a:srgbClr val="000000"/>
            </a:solidFill>
            <a:prstDash val="solid"/>
            <a:round/>
            <a:headEnd len="med" w="med" type="none"/>
            <a:tailEnd len="med" w="med" type="none"/>
          </a:ln>
        </p:spPr>
      </p:cxnSp>
      <p:cxnSp>
        <p:nvCxnSpPr>
          <p:cNvPr id="68" name="Google Shape;68;p13"/>
          <p:cNvCxnSpPr/>
          <p:nvPr/>
        </p:nvCxnSpPr>
        <p:spPr>
          <a:xfrm flipH="1" rot="10800000">
            <a:off x="2071950" y="2801113"/>
            <a:ext cx="5000100" cy="210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387900" y="32325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Afghanistan’s background</a:t>
            </a:r>
            <a:endParaRPr b="1" sz="3500">
              <a:solidFill>
                <a:srgbClr val="000000"/>
              </a:solidFill>
            </a:endParaRPr>
          </a:p>
        </p:txBody>
      </p:sp>
      <p:sp>
        <p:nvSpPr>
          <p:cNvPr id="74" name="Google Shape;74;p14"/>
          <p:cNvSpPr txBox="1"/>
          <p:nvPr>
            <p:ph idx="1" type="body"/>
          </p:nvPr>
        </p:nvSpPr>
        <p:spPr>
          <a:xfrm>
            <a:off x="387900" y="941968"/>
            <a:ext cx="5171100" cy="3945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sz="2000">
                <a:solidFill>
                  <a:srgbClr val="000000"/>
                </a:solidFill>
                <a:latin typeface="Roboto Slab"/>
                <a:ea typeface="Roboto Slab"/>
                <a:cs typeface="Roboto Slab"/>
                <a:sym typeface="Roboto Slab"/>
              </a:rPr>
              <a:t>Culture/language: </a:t>
            </a:r>
            <a:r>
              <a:rPr b="1" lang="en" sz="2000">
                <a:solidFill>
                  <a:srgbClr val="CC0000"/>
                </a:solidFill>
                <a:latin typeface="Roboto Slab"/>
                <a:ea typeface="Roboto Slab"/>
                <a:cs typeface="Roboto Slab"/>
                <a:sym typeface="Roboto Slab"/>
              </a:rPr>
              <a:t>Afghanistan</a:t>
            </a:r>
            <a:r>
              <a:rPr b="1" lang="en" sz="2000">
                <a:solidFill>
                  <a:srgbClr val="CC0000"/>
                </a:solidFill>
                <a:latin typeface="Roboto Slab"/>
                <a:ea typeface="Roboto Slab"/>
                <a:cs typeface="Roboto Slab"/>
                <a:sym typeface="Roboto Slab"/>
              </a:rPr>
              <a:t> is </a:t>
            </a:r>
            <a:r>
              <a:rPr b="1" lang="en" sz="2000">
                <a:solidFill>
                  <a:srgbClr val="CC0000"/>
                </a:solidFill>
                <a:latin typeface="Roboto Slab"/>
                <a:ea typeface="Roboto Slab"/>
                <a:cs typeface="Roboto Slab"/>
                <a:sym typeface="Roboto Slab"/>
              </a:rPr>
              <a:t>a</a:t>
            </a:r>
            <a:r>
              <a:rPr b="1" lang="en" sz="2000">
                <a:solidFill>
                  <a:srgbClr val="CC0000"/>
                </a:solidFill>
                <a:latin typeface="Roboto Slab"/>
                <a:ea typeface="Roboto Slab"/>
                <a:cs typeface="Roboto Slab"/>
                <a:sym typeface="Roboto Slab"/>
              </a:rPr>
              <a:t> multilingual society with over 40 languages and lots of dialects spoken across different regions. The most common languages include Dari (Afghan Persian), and Pasht</a:t>
            </a:r>
            <a:r>
              <a:rPr b="1" lang="en" sz="2000">
                <a:solidFill>
                  <a:srgbClr val="CC0000"/>
                </a:solidFill>
                <a:latin typeface="Roboto Slab"/>
                <a:ea typeface="Roboto Slab"/>
                <a:cs typeface="Roboto Slab"/>
                <a:sym typeface="Roboto Slab"/>
              </a:rPr>
              <a:t>o.</a:t>
            </a:r>
            <a:r>
              <a:rPr b="1" lang="en" sz="2000">
                <a:solidFill>
                  <a:srgbClr val="CC0000"/>
                </a:solidFill>
                <a:latin typeface="Roboto Slab"/>
                <a:ea typeface="Roboto Slab"/>
                <a:cs typeface="Roboto Slab"/>
                <a:sym typeface="Roboto Slab"/>
              </a:rPr>
              <a:t> </a:t>
            </a:r>
            <a:r>
              <a:rPr b="1" lang="en" sz="2000">
                <a:solidFill>
                  <a:srgbClr val="CC0000"/>
                </a:solidFill>
                <a:latin typeface="Roboto Slab"/>
                <a:ea typeface="Roboto Slab"/>
                <a:cs typeface="Roboto Slab"/>
                <a:sym typeface="Roboto Slab"/>
              </a:rPr>
              <a:t>Afghanistan</a:t>
            </a:r>
            <a:r>
              <a:rPr b="1" lang="en" sz="2000">
                <a:solidFill>
                  <a:srgbClr val="CC0000"/>
                </a:solidFill>
                <a:latin typeface="Roboto Slab"/>
                <a:ea typeface="Roboto Slab"/>
                <a:cs typeface="Roboto Slab"/>
                <a:sym typeface="Roboto Slab"/>
              </a:rPr>
              <a:t> has </a:t>
            </a:r>
            <a:r>
              <a:rPr b="1" lang="en" sz="2000">
                <a:solidFill>
                  <a:srgbClr val="CC0000"/>
                </a:solidFill>
                <a:latin typeface="Roboto Slab"/>
                <a:ea typeface="Roboto Slab"/>
                <a:cs typeface="Roboto Slab"/>
                <a:sym typeface="Roboto Slab"/>
              </a:rPr>
              <a:t>a</a:t>
            </a:r>
            <a:r>
              <a:rPr b="1" lang="en" sz="2000">
                <a:solidFill>
                  <a:srgbClr val="CC0000"/>
                </a:solidFill>
                <a:latin typeface="Roboto Slab"/>
                <a:ea typeface="Roboto Slab"/>
                <a:cs typeface="Roboto Slab"/>
                <a:sym typeface="Roboto Slab"/>
              </a:rPr>
              <a:t>  traditional, </a:t>
            </a:r>
            <a:r>
              <a:rPr b="1" lang="en" sz="2000">
                <a:solidFill>
                  <a:srgbClr val="CC0000"/>
                </a:solidFill>
                <a:latin typeface="Roboto Slab"/>
                <a:ea typeface="Roboto Slab"/>
                <a:cs typeface="Roboto Slab"/>
                <a:sym typeface="Roboto Slab"/>
              </a:rPr>
              <a:t>fundamentalist culture </a:t>
            </a:r>
            <a:r>
              <a:rPr b="1" lang="en" sz="2000">
                <a:solidFill>
                  <a:srgbClr val="CC0000"/>
                </a:solidFill>
                <a:latin typeface="Roboto Slab"/>
                <a:ea typeface="Roboto Slab"/>
                <a:cs typeface="Roboto Slab"/>
                <a:sym typeface="Roboto Slab"/>
              </a:rPr>
              <a:t>rooted in Islamic principles.                                                                                         </a:t>
            </a:r>
            <a:endParaRPr b="1" sz="2000">
              <a:solidFill>
                <a:srgbClr val="CC0000"/>
              </a:solidFill>
              <a:latin typeface="Roboto Slab"/>
              <a:ea typeface="Roboto Slab"/>
              <a:cs typeface="Roboto Slab"/>
              <a:sym typeface="Roboto Slab"/>
            </a:endParaRPr>
          </a:p>
          <a:p>
            <a:pPr indent="0" lvl="0" marL="0" rtl="0" algn="l">
              <a:spcBef>
                <a:spcPts val="1200"/>
              </a:spcBef>
              <a:spcAft>
                <a:spcPts val="1200"/>
              </a:spcAft>
              <a:buNone/>
            </a:pPr>
            <a:r>
              <a:rPr b="1" lang="en" sz="2000">
                <a:solidFill>
                  <a:srgbClr val="000000"/>
                </a:solidFill>
              </a:rPr>
              <a:t>Economic</a:t>
            </a:r>
            <a:r>
              <a:rPr b="1" lang="en" sz="2000">
                <a:solidFill>
                  <a:srgbClr val="000000"/>
                </a:solidFill>
              </a:rPr>
              <a:t> Context: </a:t>
            </a:r>
            <a:r>
              <a:rPr b="1" lang="en" sz="2000">
                <a:solidFill>
                  <a:srgbClr val="CC0000"/>
                </a:solidFill>
              </a:rPr>
              <a:t>Afghanistan has one of the poorest economies in the world even though it has such valuable natural resources. </a:t>
            </a:r>
            <a:r>
              <a:rPr b="1" lang="en" sz="2000">
                <a:solidFill>
                  <a:srgbClr val="CC0000"/>
                </a:solidFill>
              </a:rPr>
              <a:t>S</a:t>
            </a:r>
            <a:r>
              <a:rPr b="1" lang="en" sz="2000">
                <a:solidFill>
                  <a:srgbClr val="CC0000"/>
                </a:solidFill>
              </a:rPr>
              <a:t>ome of the resources they have are minerals and there are lots. Some are lithium, copper, iron, gold, cobalt and so much more. They also are known for their farming and growing fruits and nuts. There is pomegranates, grapes, melons and other dry fruits. But however, after years of wars and political problems it has been hard to get these resources. Because of this </a:t>
            </a:r>
            <a:r>
              <a:rPr b="1" lang="en" sz="2000">
                <a:solidFill>
                  <a:srgbClr val="CC0000"/>
                </a:solidFill>
              </a:rPr>
              <a:t>afghanistan</a:t>
            </a:r>
            <a:r>
              <a:rPr b="1" lang="en" sz="2000">
                <a:solidFill>
                  <a:srgbClr val="CC0000"/>
                </a:solidFill>
              </a:rPr>
              <a:t> is one of the poorest countries in the world and imports more than exports. </a:t>
            </a:r>
            <a:endParaRPr b="1" sz="2000">
              <a:solidFill>
                <a:srgbClr val="CC0000"/>
              </a:solidFill>
            </a:endParaRPr>
          </a:p>
        </p:txBody>
      </p:sp>
      <p:pic>
        <p:nvPicPr>
          <p:cNvPr id="75" name="Google Shape;75;p14"/>
          <p:cNvPicPr preferRelativeResize="0"/>
          <p:nvPr/>
        </p:nvPicPr>
        <p:blipFill>
          <a:blip r:embed="rId3">
            <a:alphaModFix/>
          </a:blip>
          <a:stretch>
            <a:fillRect/>
          </a:stretch>
        </p:blipFill>
        <p:spPr>
          <a:xfrm>
            <a:off x="5435500" y="1295200"/>
            <a:ext cx="3605825" cy="32553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5"/>
          <p:cNvPicPr preferRelativeResize="0"/>
          <p:nvPr/>
        </p:nvPicPr>
        <p:blipFill>
          <a:blip r:embed="rId3">
            <a:alphaModFix/>
          </a:blip>
          <a:stretch>
            <a:fillRect/>
          </a:stretch>
        </p:blipFill>
        <p:spPr>
          <a:xfrm>
            <a:off x="6300300" y="89850"/>
            <a:ext cx="2843701" cy="1996749"/>
          </a:xfrm>
          <a:prstGeom prst="rect">
            <a:avLst/>
          </a:prstGeom>
          <a:noFill/>
          <a:ln>
            <a:noFill/>
          </a:ln>
        </p:spPr>
      </p:pic>
      <p:sp>
        <p:nvSpPr>
          <p:cNvPr id="81" name="Google Shape;81;p15"/>
          <p:cNvSpPr txBox="1"/>
          <p:nvPr>
            <p:ph type="title"/>
          </p:nvPr>
        </p:nvSpPr>
        <p:spPr>
          <a:xfrm>
            <a:off x="331750" y="293000"/>
            <a:ext cx="8368200" cy="6861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300">
                <a:solidFill>
                  <a:srgbClr val="000000"/>
                </a:solidFill>
              </a:rPr>
              <a:t>The main issue</a:t>
            </a:r>
            <a:endParaRPr b="1" sz="3300">
              <a:solidFill>
                <a:srgbClr val="000000"/>
              </a:solidFill>
            </a:endParaRPr>
          </a:p>
        </p:txBody>
      </p:sp>
      <p:sp>
        <p:nvSpPr>
          <p:cNvPr id="82" name="Google Shape;82;p15"/>
          <p:cNvSpPr txBox="1"/>
          <p:nvPr>
            <p:ph idx="1" type="body"/>
          </p:nvPr>
        </p:nvSpPr>
        <p:spPr>
          <a:xfrm>
            <a:off x="145375" y="830550"/>
            <a:ext cx="6019500" cy="3482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935"/>
              <a:buNone/>
            </a:pPr>
            <a:r>
              <a:rPr b="1" lang="en" sz="1530">
                <a:solidFill>
                  <a:srgbClr val="CC0000"/>
                </a:solidFill>
              </a:rPr>
              <a:t>The main facing issue in afghanistan for girls is the limited access to education Women's rights and education are major issues in Afghanistan. Women's rights means that girls and women should get equal access to all opportunities for education, healthcare, jobs and other basic opportunities. Since 2021 when the power of the taliban was returned, afghanistan became the one country that bans girls and women from secondary school and anything higher. at least 1.4 million girls have been denied access to attend secondary education, and in total, 3.8 million girls in Afghanistan are out of school, all of their knowledge and talents are getting lost or wasted. Woman are also facing lots of challenges when trying to access healthcare, getting jobs and other opportunities.Since the takeover, fear, travel restrictions, ban from education, and systemic discrimination are keeping the woman from things they need, and woman have been scared to even leave their homes. Here's a fact: 1 in 3 girls were being forced into marrage before the age of 18. This number continues growing and has an impact on women</a:t>
            </a:r>
            <a:endParaRPr b="1" sz="1530">
              <a:solidFill>
                <a:srgbClr val="CC0000"/>
              </a:solidFill>
            </a:endParaRPr>
          </a:p>
        </p:txBody>
      </p:sp>
      <p:pic>
        <p:nvPicPr>
          <p:cNvPr id="83" name="Google Shape;83;p15"/>
          <p:cNvPicPr preferRelativeResize="0"/>
          <p:nvPr/>
        </p:nvPicPr>
        <p:blipFill>
          <a:blip r:embed="rId4">
            <a:alphaModFix/>
          </a:blip>
          <a:stretch>
            <a:fillRect/>
          </a:stretch>
        </p:blipFill>
        <p:spPr>
          <a:xfrm>
            <a:off x="6164863" y="2918450"/>
            <a:ext cx="2962275"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87900" y="37045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Country's</a:t>
            </a:r>
            <a:r>
              <a:rPr b="1" lang="en" sz="3500">
                <a:solidFill>
                  <a:srgbClr val="000000"/>
                </a:solidFill>
              </a:rPr>
              <a:t> response </a:t>
            </a:r>
            <a:endParaRPr b="1" sz="3500">
              <a:solidFill>
                <a:srgbClr val="000000"/>
              </a:solidFill>
            </a:endParaRPr>
          </a:p>
        </p:txBody>
      </p:sp>
      <p:sp>
        <p:nvSpPr>
          <p:cNvPr id="89" name="Google Shape;89;p16"/>
          <p:cNvSpPr txBox="1"/>
          <p:nvPr>
            <p:ph idx="1" type="body"/>
          </p:nvPr>
        </p:nvSpPr>
        <p:spPr>
          <a:xfrm>
            <a:off x="4063925" y="951300"/>
            <a:ext cx="4878300" cy="3354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b="1" lang="en" sz="1460">
                <a:solidFill>
                  <a:srgbClr val="CC0000"/>
                </a:solidFill>
              </a:rPr>
              <a:t>In Afghanistan, the taliban governent since 2021 has just responded to womens rights and their education by continuing to introduce and </a:t>
            </a:r>
            <a:r>
              <a:rPr b="1" lang="en" sz="1460">
                <a:solidFill>
                  <a:srgbClr val="CC0000"/>
                </a:solidFill>
              </a:rPr>
              <a:t>enforce</a:t>
            </a:r>
            <a:r>
              <a:rPr b="1" lang="en" sz="1460">
                <a:solidFill>
                  <a:srgbClr val="CC0000"/>
                </a:solidFill>
              </a:rPr>
              <a:t> more strict rules, some that include baning girl above grade 6 from attending school. This just shows how this is active </a:t>
            </a:r>
            <a:r>
              <a:rPr b="1" lang="en" sz="1460">
                <a:solidFill>
                  <a:srgbClr val="CC0000"/>
                </a:solidFill>
              </a:rPr>
              <a:t>government</a:t>
            </a:r>
            <a:r>
              <a:rPr b="1" lang="en" sz="1460">
                <a:solidFill>
                  <a:srgbClr val="CC0000"/>
                </a:solidFill>
              </a:rPr>
              <a:t> actions that continue rather than trying to improve things for girls and women or getting them </a:t>
            </a:r>
            <a:r>
              <a:rPr b="1" lang="en" sz="1460">
                <a:solidFill>
                  <a:srgbClr val="CC0000"/>
                </a:solidFill>
              </a:rPr>
              <a:t>access</a:t>
            </a:r>
            <a:r>
              <a:rPr b="1" lang="en" sz="1460">
                <a:solidFill>
                  <a:srgbClr val="CC0000"/>
                </a:solidFill>
              </a:rPr>
              <a:t> into </a:t>
            </a:r>
            <a:r>
              <a:rPr b="1" lang="en" sz="1460">
                <a:solidFill>
                  <a:srgbClr val="CC0000"/>
                </a:solidFill>
              </a:rPr>
              <a:t>education</a:t>
            </a:r>
            <a:r>
              <a:rPr b="1" lang="en" sz="1460">
                <a:solidFill>
                  <a:srgbClr val="CC0000"/>
                </a:solidFill>
              </a:rPr>
              <a:t>. Evidence we can see from UNESCO, they reported that 80% of Afghanistan girls and young women are not attending school or university which has affected 2.5  million girls. And even </a:t>
            </a:r>
            <a:r>
              <a:rPr b="1" lang="en" sz="1460">
                <a:solidFill>
                  <a:srgbClr val="CC0000"/>
                </a:solidFill>
              </a:rPr>
              <a:t>the United Nations describes Afghanistan as “most repressive country in the world” for womens rights and their education. UNESCO has been trying and making a effort to provide and make alternative methods for their learning even with all of the difficult policies and conditions. </a:t>
            </a:r>
            <a:endParaRPr b="1" sz="1460">
              <a:solidFill>
                <a:srgbClr val="CC0000"/>
              </a:solidFill>
            </a:endParaRPr>
          </a:p>
          <a:p>
            <a:pPr indent="0" lvl="0" marL="0" rtl="0" algn="l">
              <a:lnSpc>
                <a:spcPct val="105000"/>
              </a:lnSpc>
              <a:spcBef>
                <a:spcPts val="1200"/>
              </a:spcBef>
              <a:spcAft>
                <a:spcPts val="1200"/>
              </a:spcAft>
              <a:buSzPts val="770"/>
              <a:buNone/>
            </a:pPr>
            <a:r>
              <a:t/>
            </a:r>
            <a:endParaRPr sz="1260"/>
          </a:p>
        </p:txBody>
      </p:sp>
      <p:pic>
        <p:nvPicPr>
          <p:cNvPr id="90" name="Google Shape;90;p16"/>
          <p:cNvPicPr preferRelativeResize="0"/>
          <p:nvPr/>
        </p:nvPicPr>
        <p:blipFill>
          <a:blip r:embed="rId3">
            <a:alphaModFix/>
          </a:blip>
          <a:stretch>
            <a:fillRect/>
          </a:stretch>
        </p:blipFill>
        <p:spPr>
          <a:xfrm>
            <a:off x="168939" y="1056550"/>
            <a:ext cx="3818436" cy="3707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Consequences</a:t>
            </a:r>
            <a:r>
              <a:rPr lang="en" sz="3500"/>
              <a:t> </a:t>
            </a:r>
            <a:endParaRPr sz="3500"/>
          </a:p>
        </p:txBody>
      </p:sp>
      <p:sp>
        <p:nvSpPr>
          <p:cNvPr id="96" name="Google Shape;96;p17"/>
          <p:cNvSpPr txBox="1"/>
          <p:nvPr>
            <p:ph idx="1" type="body"/>
          </p:nvPr>
        </p:nvSpPr>
        <p:spPr>
          <a:xfrm>
            <a:off x="202950" y="999125"/>
            <a:ext cx="6092100" cy="35070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935"/>
              <a:buNone/>
            </a:pPr>
            <a:r>
              <a:rPr b="1" lang="en" sz="1530">
                <a:solidFill>
                  <a:srgbClr val="FF0000"/>
                </a:solidFill>
              </a:rPr>
              <a:t>There were lots of consequences resulting from the </a:t>
            </a:r>
            <a:r>
              <a:rPr b="1" lang="en" sz="1530">
                <a:solidFill>
                  <a:srgbClr val="FF0000"/>
                </a:solidFill>
              </a:rPr>
              <a:t>women's</a:t>
            </a:r>
            <a:r>
              <a:rPr b="1" lang="en" sz="1530">
                <a:solidFill>
                  <a:srgbClr val="FF0000"/>
                </a:solidFill>
              </a:rPr>
              <a:t> right and education issue. There were lots of long term and short term issues coming from this. The most common short term issues were </a:t>
            </a:r>
            <a:r>
              <a:rPr b="1" lang="en" sz="1530">
                <a:solidFill>
                  <a:srgbClr val="FF0000"/>
                </a:solidFill>
              </a:rPr>
              <a:t>psychological shock and despair among the girls and women. Girls from sixth grade and above remained psychologically shocked and very disappointed on the first day of the academic year late March 2022 when they were prevented from attending school. The long-term  lack of female students and teachers is </a:t>
            </a:r>
            <a:r>
              <a:rPr b="1" lang="en" sz="1530">
                <a:solidFill>
                  <a:srgbClr val="FF0000"/>
                </a:solidFill>
              </a:rPr>
              <a:t>expected</a:t>
            </a:r>
            <a:r>
              <a:rPr b="1" lang="en" sz="1530">
                <a:solidFill>
                  <a:srgbClr val="FF0000"/>
                </a:solidFill>
              </a:rPr>
              <a:t> of  a severe shortage or lack of specialists in the next decade or two, especially in the health and education areas. The taliban intended for keeping all women out of schools, universities, and regular workplaces. As well as they wanted to force the women to stay home unless they had a male relative </a:t>
            </a:r>
            <a:r>
              <a:rPr b="1" lang="en" sz="1530">
                <a:solidFill>
                  <a:srgbClr val="FF0000"/>
                </a:solidFill>
              </a:rPr>
              <a:t>accompanying</a:t>
            </a:r>
            <a:r>
              <a:rPr b="1" lang="en" sz="1530">
                <a:solidFill>
                  <a:srgbClr val="FF0000"/>
                </a:solidFill>
              </a:rPr>
              <a:t> them. They didn’t intend for more </a:t>
            </a:r>
            <a:r>
              <a:rPr b="1" lang="en" sz="1530">
                <a:solidFill>
                  <a:srgbClr val="FF0000"/>
                </a:solidFill>
              </a:rPr>
              <a:t>mothers dying because of the lack of female doctors, the taliban wanted to control the borders, they didn't want or intend Violent groups like ISIS to grow stronger and start fights with neighbor countries.</a:t>
            </a:r>
            <a:endParaRPr b="1" sz="1530">
              <a:solidFill>
                <a:srgbClr val="FF0000"/>
              </a:solidFill>
            </a:endParaRPr>
          </a:p>
        </p:txBody>
      </p:sp>
      <p:pic>
        <p:nvPicPr>
          <p:cNvPr id="97" name="Google Shape;97;p17" title="images.jpg"/>
          <p:cNvPicPr preferRelativeResize="0"/>
          <p:nvPr/>
        </p:nvPicPr>
        <p:blipFill rotWithShape="1">
          <a:blip r:embed="rId3">
            <a:alphaModFix/>
          </a:blip>
          <a:srcRect b="27740" l="0" r="0" t="0"/>
          <a:stretch/>
        </p:blipFill>
        <p:spPr>
          <a:xfrm>
            <a:off x="6335918" y="1091600"/>
            <a:ext cx="2723431" cy="350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87900" y="31155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Canada and reflection</a:t>
            </a:r>
            <a:endParaRPr b="1" sz="3500">
              <a:solidFill>
                <a:srgbClr val="000000"/>
              </a:solidFill>
            </a:endParaRPr>
          </a:p>
        </p:txBody>
      </p:sp>
      <p:sp>
        <p:nvSpPr>
          <p:cNvPr id="103" name="Google Shape;103;p18"/>
          <p:cNvSpPr txBox="1"/>
          <p:nvPr>
            <p:ph idx="1" type="body"/>
          </p:nvPr>
        </p:nvSpPr>
        <p:spPr>
          <a:xfrm>
            <a:off x="387900" y="883750"/>
            <a:ext cx="8368200" cy="3653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b="1" lang="en">
                <a:solidFill>
                  <a:srgbClr val="CC0000"/>
                </a:solidFill>
              </a:rPr>
              <a:t>Canada has been a great support to the people from afghanistan that immigrate here. They have welcomed into Canada over 40 000 of the vulnerable people which came from Afganistan. They used special measures and programs to help get them here. When people come from there, they are really traumatized and phsycoligcally shocked, and Canada helps out by supporting them with specialized resettlemt programs, income </a:t>
            </a:r>
            <a:r>
              <a:rPr b="1" lang="en">
                <a:solidFill>
                  <a:srgbClr val="CC0000"/>
                </a:solidFill>
              </a:rPr>
              <a:t>assistance</a:t>
            </a:r>
            <a:r>
              <a:rPr b="1" lang="en">
                <a:solidFill>
                  <a:srgbClr val="CC0000"/>
                </a:solidFill>
              </a:rPr>
              <a:t>, and to help with their trauma, they are connected with </a:t>
            </a:r>
            <a:r>
              <a:rPr b="1" lang="en">
                <a:solidFill>
                  <a:srgbClr val="CC0000"/>
                </a:solidFill>
              </a:rPr>
              <a:t>physiological</a:t>
            </a:r>
            <a:r>
              <a:rPr b="1" lang="en">
                <a:solidFill>
                  <a:srgbClr val="CC0000"/>
                </a:solidFill>
              </a:rPr>
              <a:t> support programs, community peer and support programs, and any healthcare they may need.  Canadians should care about this because the issue affects global peace, human rights, and Canadas own history! When Afghanistan doesnt have a stable governemnt, terrorist groups can grow and threaten safety all over </a:t>
            </a:r>
            <a:r>
              <a:rPr b="1" lang="en">
                <a:solidFill>
                  <a:srgbClr val="CC0000"/>
                </a:solidFill>
              </a:rPr>
              <a:t>the</a:t>
            </a:r>
            <a:r>
              <a:rPr b="1" lang="en">
                <a:solidFill>
                  <a:srgbClr val="CC0000"/>
                </a:solidFill>
              </a:rPr>
              <a:t> world, including Canada. Another reason is because when all these things are going on in afghanistan, people are going to immigrate and leave there, so Canada has to support those people and Canadians are inclduded in the support. Also this ties to Canadas history because over 40 000 canadian soldiers served there to protect their country and support womens rights. In that time, 158 Canadian soldiers died and women in Afganistan getting ignored is wasting our Candains soldiers sacrifices and apart of Canadas history. </a:t>
            </a:r>
            <a:endParaRPr b="1">
              <a:solidFill>
                <a:srgbClr val="CC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87900" y="38210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Sources we used!</a:t>
            </a:r>
            <a:endParaRPr b="1" sz="3500">
              <a:solidFill>
                <a:srgbClr val="000000"/>
              </a:solidFill>
            </a:endParaRPr>
          </a:p>
        </p:txBody>
      </p:sp>
      <p:sp>
        <p:nvSpPr>
          <p:cNvPr id="109" name="Google Shape;109;p19"/>
          <p:cNvSpPr txBox="1"/>
          <p:nvPr>
            <p:ph idx="1" type="body"/>
          </p:nvPr>
        </p:nvSpPr>
        <p:spPr>
          <a:xfrm>
            <a:off x="387900" y="1171750"/>
            <a:ext cx="8368200" cy="3624900"/>
          </a:xfrm>
          <a:prstGeom prst="rect">
            <a:avLst/>
          </a:prstGeom>
        </p:spPr>
        <p:txBody>
          <a:bodyPr anchorCtr="0" anchor="t" bIns="91425" lIns="91425" spcFirstLastPara="1" rIns="91425" wrap="square" tIns="91425">
            <a:normAutofit fontScale="92500" lnSpcReduction="20000"/>
          </a:bodyPr>
          <a:lstStyle/>
          <a:p>
            <a:pPr indent="-319643" lvl="0" marL="457200" rtl="0" algn="l">
              <a:spcBef>
                <a:spcPts val="0"/>
              </a:spcBef>
              <a:spcAft>
                <a:spcPts val="0"/>
              </a:spcAft>
              <a:buSzPct val="100000"/>
              <a:buFont typeface="Arial"/>
              <a:buChar char="●"/>
            </a:pPr>
            <a:r>
              <a:rPr b="1" lang="en" sz="1550">
                <a:latin typeface="Arial"/>
                <a:ea typeface="Arial"/>
                <a:cs typeface="Arial"/>
                <a:sym typeface="Arial"/>
              </a:rPr>
              <a:t>Medica Mondiale. (no date). Women’s rights in Afghanistan. </a:t>
            </a:r>
            <a:r>
              <a:rPr b="1" lang="en" sz="1550" u="sng">
                <a:solidFill>
                  <a:srgbClr val="990000"/>
                </a:solidFill>
                <a:latin typeface="Arial"/>
                <a:ea typeface="Arial"/>
                <a:cs typeface="Arial"/>
                <a:sym typeface="Arial"/>
                <a:hlinkClick r:id="rId3">
                  <a:extLst>
                    <a:ext uri="{A12FA001-AC4F-418D-AE19-62706E023703}">
                      <ahyp:hlinkClr val="tx"/>
                    </a:ext>
                  </a:extLst>
                </a:hlinkClick>
              </a:rPr>
              <a:t>https://medicamondiale.org/en/where-we-empower-women/afghanista</a:t>
            </a:r>
            <a:r>
              <a:rPr b="1" lang="en" sz="1550" u="sng">
                <a:solidFill>
                  <a:srgbClr val="990000"/>
                </a:solidFill>
                <a:latin typeface="Arial"/>
                <a:ea typeface="Arial"/>
                <a:cs typeface="Arial"/>
                <a:sym typeface="Arial"/>
                <a:hlinkClick r:id="rId4">
                  <a:extLst>
                    <a:ext uri="{A12FA001-AC4F-418D-AE19-62706E023703}">
                      <ahyp:hlinkClr val="tx"/>
                    </a:ext>
                  </a:extLst>
                </a:hlinkClick>
              </a:rPr>
              <a:t>n</a:t>
            </a:r>
            <a:endParaRPr b="1" sz="1700"/>
          </a:p>
          <a:p>
            <a:pPr indent="-328454" lvl="0" marL="457200" rtl="0" algn="l">
              <a:spcBef>
                <a:spcPts val="0"/>
              </a:spcBef>
              <a:spcAft>
                <a:spcPts val="0"/>
              </a:spcAft>
              <a:buSzPct val="100000"/>
              <a:buChar char="●"/>
            </a:pPr>
            <a:r>
              <a:rPr b="1" lang="en" sz="1700"/>
              <a:t>Al jazeera news. (2023). International Women’s Day: The exclusion of Afghanistan’s women. </a:t>
            </a:r>
            <a:r>
              <a:rPr b="1" lang="en" sz="1700" u="sng">
                <a:solidFill>
                  <a:srgbClr val="990000"/>
                </a:solidFill>
                <a:hlinkClick r:id="rId5">
                  <a:extLst>
                    <a:ext uri="{A12FA001-AC4F-418D-AE19-62706E023703}">
                      <ahyp:hlinkClr val="tx"/>
                    </a:ext>
                  </a:extLst>
                </a:hlinkClick>
              </a:rPr>
              <a:t>https://www.aljazeera.com/news/2023/3/8/international-womens-day-the-exclusion-of-afghanistans-women</a:t>
            </a:r>
            <a:endParaRPr b="1" sz="1700">
              <a:solidFill>
                <a:srgbClr val="990000"/>
              </a:solidFill>
            </a:endParaRPr>
          </a:p>
          <a:p>
            <a:pPr indent="-319643" lvl="0" marL="457200" rtl="0" algn="l">
              <a:spcBef>
                <a:spcPts val="0"/>
              </a:spcBef>
              <a:spcAft>
                <a:spcPts val="0"/>
              </a:spcAft>
              <a:buSzPct val="91176"/>
              <a:buFont typeface="Arial"/>
              <a:buChar char="●"/>
            </a:pPr>
            <a:r>
              <a:rPr b="1" lang="en" sz="1700"/>
              <a:t>UN Women. (2025). FAQs:What it’s like to be a woman in Afghanistan today. </a:t>
            </a:r>
            <a:r>
              <a:rPr b="1" lang="en" sz="1700" u="sng">
                <a:solidFill>
                  <a:srgbClr val="990000"/>
                </a:solidFill>
                <a:hlinkClick r:id="rId6">
                  <a:extLst>
                    <a:ext uri="{A12FA001-AC4F-418D-AE19-62706E023703}">
                      <ahyp:hlinkClr val="tx"/>
                    </a:ext>
                  </a:extLst>
                </a:hlinkClick>
              </a:rPr>
              <a:t>https://www.unwomen.org/en/articles/faqs/faqs-afghanistan</a:t>
            </a:r>
            <a:endParaRPr b="1" sz="1700">
              <a:solidFill>
                <a:srgbClr val="990000"/>
              </a:solidFill>
            </a:endParaRPr>
          </a:p>
          <a:p>
            <a:pPr indent="-328454" lvl="0" marL="457200" rtl="0" algn="l">
              <a:spcBef>
                <a:spcPts val="0"/>
              </a:spcBef>
              <a:spcAft>
                <a:spcPts val="0"/>
              </a:spcAft>
              <a:buSzPct val="100000"/>
              <a:buChar char="●"/>
            </a:pPr>
            <a:r>
              <a:rPr b="1" lang="en" sz="1700"/>
              <a:t>UNESCO. (2024). Afghanistan: 1.4 million girls still banned from school by de facto authorities. </a:t>
            </a:r>
            <a:r>
              <a:rPr b="1" lang="en" sz="1700" u="sng">
                <a:solidFill>
                  <a:srgbClr val="990000"/>
                </a:solidFill>
                <a:hlinkClick r:id="rId7">
                  <a:extLst>
                    <a:ext uri="{A12FA001-AC4F-418D-AE19-62706E023703}">
                      <ahyp:hlinkClr val="tx"/>
                    </a:ext>
                  </a:extLst>
                </a:hlinkClick>
              </a:rPr>
              <a:t>https://www.unesco.org/en/articles/afghanistan-14-million-girls-still-banned-school-de-facto-authoritie</a:t>
            </a:r>
            <a:r>
              <a:rPr b="1" lang="en" sz="1700">
                <a:solidFill>
                  <a:srgbClr val="990000"/>
                </a:solidFill>
              </a:rPr>
              <a:t>s</a:t>
            </a:r>
            <a:endParaRPr b="1" sz="1700">
              <a:solidFill>
                <a:srgbClr val="990000"/>
              </a:solidFill>
            </a:endParaRPr>
          </a:p>
          <a:p>
            <a:pPr indent="-328454" lvl="0" marL="457200" rtl="0" algn="l">
              <a:spcBef>
                <a:spcPts val="0"/>
              </a:spcBef>
              <a:spcAft>
                <a:spcPts val="0"/>
              </a:spcAft>
              <a:buSzPct val="94444"/>
              <a:buChar char="●"/>
            </a:pPr>
            <a:r>
              <a:rPr b="1" lang="en"/>
              <a:t>Zan times. (2024). Consequences of Taliban’s ban on women’s education.</a:t>
            </a:r>
            <a:r>
              <a:rPr b="1" lang="en">
                <a:solidFill>
                  <a:srgbClr val="990000"/>
                </a:solidFill>
              </a:rPr>
              <a:t> </a:t>
            </a:r>
            <a:r>
              <a:rPr b="1" lang="en" u="sng">
                <a:solidFill>
                  <a:srgbClr val="990000"/>
                </a:solidFill>
                <a:hlinkClick r:id="rId8">
                  <a:extLst>
                    <a:ext uri="{A12FA001-AC4F-418D-AE19-62706E023703}">
                      <ahyp:hlinkClr val="tx"/>
                    </a:ext>
                  </a:extLst>
                </a:hlinkClick>
              </a:rPr>
              <a:t>https://zantimes.com/2024/03/21/consequences-of-talibans-ban-on-womens-education/</a:t>
            </a:r>
            <a:endParaRPr b="1">
              <a:solidFill>
                <a:srgbClr val="99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