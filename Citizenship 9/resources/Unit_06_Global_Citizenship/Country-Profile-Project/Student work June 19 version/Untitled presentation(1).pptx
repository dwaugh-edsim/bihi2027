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e8d5a629c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e8d5a629c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e8bce9563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e8bce9563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8bce9563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8bce9563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8bce9563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8bce9563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8bce9563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8bce9563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8bce9563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8bce9563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8bce9563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8bce9563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e8d5a629c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e8d5a629c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8d5a629ca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8d5a629c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brunch.co.kr/@kid008/378" TargetMode="External"/><Relationship Id="rId4" Type="http://schemas.openxmlformats.org/officeDocument/2006/relationships/hyperlink" Target="https://ko.wikipedia.org/wiki/%EC%9D%BC%EB%B3%B8%EC%9D%98_%EA%B3%A0%EB%A0%B9%ED%99%94" TargetMode="External"/><Relationship Id="rId5" Type="http://schemas.openxmlformats.org/officeDocument/2006/relationships/hyperlink" Target="https://en.wikipedia.org/wiki/Aging_of_Canada" TargetMode="External"/><Relationship Id="rId6"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1161425" y="2145875"/>
            <a:ext cx="8520600" cy="890400"/>
          </a:xfrm>
          <a:prstGeom prst="rect">
            <a:avLst/>
          </a:prstGeom>
          <a:ln>
            <a:noFill/>
          </a:ln>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Aging issue</a:t>
            </a:r>
            <a:endParaRPr/>
          </a:p>
          <a:p>
            <a:pPr indent="0" lvl="0" marL="0" rtl="0" algn="ctr">
              <a:spcBef>
                <a:spcPts val="0"/>
              </a:spcBef>
              <a:spcAft>
                <a:spcPts val="0"/>
              </a:spcAft>
              <a:buNone/>
            </a:pPr>
            <a:r>
              <a:rPr lang="en"/>
              <a:t> of Japan</a:t>
            </a:r>
            <a:endParaRPr/>
          </a:p>
        </p:txBody>
      </p:sp>
      <p:sp>
        <p:nvSpPr>
          <p:cNvPr id="55" name="Google Shape;55;p13"/>
          <p:cNvSpPr txBox="1"/>
          <p:nvPr>
            <p:ph idx="1" type="subTitle"/>
          </p:nvPr>
        </p:nvSpPr>
        <p:spPr>
          <a:xfrm>
            <a:off x="-384350" y="2707575"/>
            <a:ext cx="699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56" name="Google Shape;56;p13"/>
          <p:cNvSpPr txBox="1"/>
          <p:nvPr/>
        </p:nvSpPr>
        <p:spPr>
          <a:xfrm>
            <a:off x="6072625" y="3131625"/>
            <a:ext cx="1265400" cy="6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By Yunho</a:t>
            </a:r>
            <a:endParaRPr sz="1800">
              <a:solidFill>
                <a:schemeClr val="dk2"/>
              </a:solidFill>
            </a:endParaRPr>
          </a:p>
        </p:txBody>
      </p:sp>
      <p:sp>
        <p:nvSpPr>
          <p:cNvPr id="57" name="Google Shape;57;p13"/>
          <p:cNvSpPr txBox="1"/>
          <p:nvPr/>
        </p:nvSpPr>
        <p:spPr>
          <a:xfrm>
            <a:off x="-1272800" y="762950"/>
            <a:ext cx="1084800" cy="461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58" name="Google Shape;58;p13"/>
          <p:cNvSpPr txBox="1"/>
          <p:nvPr/>
        </p:nvSpPr>
        <p:spPr>
          <a:xfrm>
            <a:off x="-538750" y="2055600"/>
            <a:ext cx="27000" cy="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59" name="Google Shape;59;p13" title="58b4ee55-02fe-48c5-aefd-171761ba1407.png"/>
          <p:cNvPicPr preferRelativeResize="0"/>
          <p:nvPr/>
        </p:nvPicPr>
        <p:blipFill>
          <a:blip r:embed="rId3">
            <a:alphaModFix/>
          </a:blip>
          <a:stretch>
            <a:fillRect/>
          </a:stretch>
        </p:blipFill>
        <p:spPr>
          <a:xfrm>
            <a:off x="602325" y="703625"/>
            <a:ext cx="2569976" cy="25699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63" name="Shape 63"/>
        <p:cNvGrpSpPr/>
        <p:nvPr/>
      </p:nvGrpSpPr>
      <p:grpSpPr>
        <a:xfrm>
          <a:off x="0" y="0"/>
          <a:ext cx="0" cy="0"/>
          <a:chOff x="0" y="0"/>
          <a:chExt cx="0" cy="0"/>
        </a:xfrm>
      </p:grpSpPr>
      <p:sp>
        <p:nvSpPr>
          <p:cNvPr id="64" name="Google Shape;64;p14"/>
          <p:cNvSpPr txBox="1"/>
          <p:nvPr>
            <p:ph type="title"/>
          </p:nvPr>
        </p:nvSpPr>
        <p:spPr>
          <a:xfrm>
            <a:off x="760125" y="389800"/>
            <a:ext cx="1930500" cy="80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500"/>
              <a:t>Japan</a:t>
            </a:r>
            <a:endParaRPr b="1" sz="4500"/>
          </a:p>
        </p:txBody>
      </p:sp>
      <p:sp>
        <p:nvSpPr>
          <p:cNvPr id="65" name="Google Shape;65;p14"/>
          <p:cNvSpPr txBox="1"/>
          <p:nvPr>
            <p:ph idx="1" type="body"/>
          </p:nvPr>
        </p:nvSpPr>
        <p:spPr>
          <a:xfrm rot="10800000">
            <a:off x="-1237575" y="4397300"/>
            <a:ext cx="585000" cy="1791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1200"/>
              </a:spcAft>
              <a:buNone/>
            </a:pPr>
            <a:r>
              <a:t/>
            </a:r>
            <a:endParaRPr/>
          </a:p>
        </p:txBody>
      </p:sp>
      <p:pic>
        <p:nvPicPr>
          <p:cNvPr id="66" name="Google Shape;66;p14" title="download.png"/>
          <p:cNvPicPr preferRelativeResize="0"/>
          <p:nvPr/>
        </p:nvPicPr>
        <p:blipFill>
          <a:blip r:embed="rId3">
            <a:alphaModFix/>
          </a:blip>
          <a:stretch>
            <a:fillRect/>
          </a:stretch>
        </p:blipFill>
        <p:spPr>
          <a:xfrm>
            <a:off x="6021250" y="389800"/>
            <a:ext cx="2619375" cy="1743075"/>
          </a:xfrm>
          <a:prstGeom prst="rect">
            <a:avLst/>
          </a:prstGeom>
          <a:noFill/>
          <a:ln>
            <a:noFill/>
          </a:ln>
        </p:spPr>
      </p:pic>
      <p:cxnSp>
        <p:nvCxnSpPr>
          <p:cNvPr id="67" name="Google Shape;67;p14"/>
          <p:cNvCxnSpPr/>
          <p:nvPr/>
        </p:nvCxnSpPr>
        <p:spPr>
          <a:xfrm flipH="1">
            <a:off x="6005850" y="395650"/>
            <a:ext cx="8100" cy="1732200"/>
          </a:xfrm>
          <a:prstGeom prst="straightConnector1">
            <a:avLst/>
          </a:prstGeom>
          <a:noFill/>
          <a:ln cap="flat" cmpd="sng" w="9525">
            <a:solidFill>
              <a:schemeClr val="dk2"/>
            </a:solidFill>
            <a:prstDash val="solid"/>
            <a:round/>
            <a:headEnd len="med" w="med" type="none"/>
            <a:tailEnd len="med" w="med" type="none"/>
          </a:ln>
        </p:spPr>
      </p:cxnSp>
      <p:cxnSp>
        <p:nvCxnSpPr>
          <p:cNvPr id="68" name="Google Shape;68;p14"/>
          <p:cNvCxnSpPr/>
          <p:nvPr/>
        </p:nvCxnSpPr>
        <p:spPr>
          <a:xfrm rot="10800000">
            <a:off x="5996925" y="2136975"/>
            <a:ext cx="2693700" cy="9000"/>
          </a:xfrm>
          <a:prstGeom prst="straightConnector1">
            <a:avLst/>
          </a:prstGeom>
          <a:noFill/>
          <a:ln cap="flat" cmpd="sng" w="9525">
            <a:solidFill>
              <a:schemeClr val="dk2"/>
            </a:solidFill>
            <a:prstDash val="solid"/>
            <a:round/>
            <a:headEnd len="med" w="med" type="none"/>
            <a:tailEnd len="med" w="med" type="none"/>
          </a:ln>
        </p:spPr>
      </p:cxnSp>
      <p:cxnSp>
        <p:nvCxnSpPr>
          <p:cNvPr id="69" name="Google Shape;69;p14"/>
          <p:cNvCxnSpPr/>
          <p:nvPr/>
        </p:nvCxnSpPr>
        <p:spPr>
          <a:xfrm>
            <a:off x="8661125" y="395650"/>
            <a:ext cx="2400" cy="1732200"/>
          </a:xfrm>
          <a:prstGeom prst="straightConnector1">
            <a:avLst/>
          </a:prstGeom>
          <a:noFill/>
          <a:ln cap="flat" cmpd="sng" w="9525">
            <a:solidFill>
              <a:schemeClr val="dk2"/>
            </a:solidFill>
            <a:prstDash val="solid"/>
            <a:round/>
            <a:headEnd len="med" w="med" type="none"/>
            <a:tailEnd len="med" w="med" type="none"/>
          </a:ln>
        </p:spPr>
      </p:cxnSp>
      <p:cxnSp>
        <p:nvCxnSpPr>
          <p:cNvPr id="70" name="Google Shape;70;p14"/>
          <p:cNvCxnSpPr/>
          <p:nvPr/>
        </p:nvCxnSpPr>
        <p:spPr>
          <a:xfrm flipH="1">
            <a:off x="6005538" y="395650"/>
            <a:ext cx="2650800" cy="14700"/>
          </a:xfrm>
          <a:prstGeom prst="straightConnector1">
            <a:avLst/>
          </a:prstGeom>
          <a:noFill/>
          <a:ln cap="flat" cmpd="sng" w="9525">
            <a:solidFill>
              <a:schemeClr val="dk2"/>
            </a:solidFill>
            <a:prstDash val="solid"/>
            <a:round/>
            <a:headEnd len="med" w="med" type="none"/>
            <a:tailEnd len="med" w="med" type="none"/>
          </a:ln>
        </p:spPr>
      </p:cxnSp>
      <p:sp>
        <p:nvSpPr>
          <p:cNvPr id="71" name="Google Shape;71;p14"/>
          <p:cNvSpPr txBox="1"/>
          <p:nvPr/>
        </p:nvSpPr>
        <p:spPr>
          <a:xfrm>
            <a:off x="184650" y="1437550"/>
            <a:ext cx="5420400" cy="3218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An East Asian island nation consisting of over 14,000 islands.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A unique fusion of deep-rooted traditions (Shinto and Buddhist customs) and </a:t>
            </a:r>
            <a:r>
              <a:rPr lang="en" sz="1800">
                <a:solidFill>
                  <a:schemeClr val="dk2"/>
                </a:solidFill>
              </a:rPr>
              <a:t>cutting-edge modern technology, heavily emphasizing social harmony and respect for elders.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Japanese are spoken by over 99% of the population.</a:t>
            </a:r>
            <a:endParaRPr sz="1800">
              <a:solidFill>
                <a:schemeClr val="dk2"/>
              </a:solidFill>
            </a:endParaRPr>
          </a:p>
        </p:txBody>
      </p:sp>
      <p:pic>
        <p:nvPicPr>
          <p:cNvPr id="72" name="Google Shape;72;p14" title="Screenshot 2026-06-05 1.38.36 PM.png"/>
          <p:cNvPicPr preferRelativeResize="0"/>
          <p:nvPr/>
        </p:nvPicPr>
        <p:blipFill rotWithShape="1">
          <a:blip r:embed="rId4">
            <a:alphaModFix/>
          </a:blip>
          <a:srcRect b="0" l="6204" r="10296" t="0"/>
          <a:stretch/>
        </p:blipFill>
        <p:spPr>
          <a:xfrm>
            <a:off x="5533650" y="2453050"/>
            <a:ext cx="3236675" cy="1872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76" name="Shape 76"/>
        <p:cNvGrpSpPr/>
        <p:nvPr/>
      </p:nvGrpSpPr>
      <p:grpSpPr>
        <a:xfrm>
          <a:off x="0" y="0"/>
          <a:ext cx="0" cy="0"/>
          <a:chOff x="0" y="0"/>
          <a:chExt cx="0" cy="0"/>
        </a:xfrm>
      </p:grpSpPr>
      <p:sp>
        <p:nvSpPr>
          <p:cNvPr id="77" name="Google Shape;7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Japan, the “</a:t>
            </a:r>
            <a:r>
              <a:rPr lang="en"/>
              <a:t>Silvertown”</a:t>
            </a:r>
            <a:endParaRPr/>
          </a:p>
        </p:txBody>
      </p:sp>
      <p:sp>
        <p:nvSpPr>
          <p:cNvPr id="78" name="Google Shape;78;p15"/>
          <p:cNvSpPr txBox="1"/>
          <p:nvPr>
            <p:ph idx="1" type="body"/>
          </p:nvPr>
        </p:nvSpPr>
        <p:spPr>
          <a:xfrm>
            <a:off x="311700" y="12519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Japan is having hard time with the aging population issue. Japan hit the title “the oldest world” by hitting over 30% of the population passed 65 old. In Canada, people can start </a:t>
            </a:r>
            <a:r>
              <a:rPr lang="en"/>
              <a:t>claiming</a:t>
            </a:r>
            <a:r>
              <a:rPr lang="en"/>
              <a:t> CPP(Canada Pension Plan) by 60 years old. </a:t>
            </a:r>
            <a:r>
              <a:rPr lang="en"/>
              <a:t>That's</a:t>
            </a:r>
            <a:r>
              <a:rPr lang="en"/>
              <a:t> not the only </a:t>
            </a:r>
            <a:r>
              <a:rPr lang="en"/>
              <a:t>problem. Japan is currently losing around one million people from its total population annually. </a:t>
            </a:r>
            <a:endParaRPr/>
          </a:p>
          <a:p>
            <a:pPr indent="0" lvl="0" marL="0" rtl="0" algn="l">
              <a:spcBef>
                <a:spcPts val="1200"/>
              </a:spcBef>
              <a:spcAft>
                <a:spcPts val="1200"/>
              </a:spcAft>
              <a:buNone/>
            </a:pPr>
            <a:r>
              <a:rPr lang="en"/>
              <a:t>As the world's fourth largest economy, Japan acts as a 'canary in the coal mine' for global aging, meaning its shrinking workforce could destabilize global supply chains while its successes or failures will serve as a roadmap for other developed nations.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82" name="Shape 82"/>
        <p:cNvGrpSpPr/>
        <p:nvPr/>
      </p:nvGrpSpPr>
      <p:grpSpPr>
        <a:xfrm>
          <a:off x="0" y="0"/>
          <a:ext cx="0" cy="0"/>
          <a:chOff x="0" y="0"/>
          <a:chExt cx="0" cy="0"/>
        </a:xfrm>
      </p:grpSpPr>
      <p:sp>
        <p:nvSpPr>
          <p:cNvPr id="83" name="Google Shape;8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Country's Actions</a:t>
            </a:r>
            <a:endParaRPr/>
          </a:p>
        </p:txBody>
      </p:sp>
      <p:sp>
        <p:nvSpPr>
          <p:cNvPr id="84" name="Google Shape;84;p16"/>
          <p:cNvSpPr txBox="1"/>
          <p:nvPr>
            <p:ph idx="1" type="body"/>
          </p:nvPr>
        </p:nvSpPr>
        <p:spPr>
          <a:xfrm>
            <a:off x="388500" y="1370275"/>
            <a:ext cx="4259700" cy="11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Japanese</a:t>
            </a:r>
            <a:r>
              <a:rPr lang="en" sz="1600"/>
              <a:t> government is trying to solve the </a:t>
            </a:r>
            <a:r>
              <a:rPr lang="en" sz="1600"/>
              <a:t>aging</a:t>
            </a:r>
            <a:r>
              <a:rPr lang="en" sz="1600"/>
              <a:t> issue since now it’s being very bad </a:t>
            </a:r>
            <a:r>
              <a:rPr lang="en" sz="1600"/>
              <a:t>problem</a:t>
            </a:r>
            <a:r>
              <a:rPr lang="en" sz="1600"/>
              <a:t>. </a:t>
            </a:r>
            <a:r>
              <a:rPr lang="en" sz="1600"/>
              <a:t>They</a:t>
            </a:r>
            <a:r>
              <a:rPr lang="en" sz="1600"/>
              <a:t> made a lot of policy and rules. </a:t>
            </a:r>
            <a:endParaRPr sz="1600"/>
          </a:p>
          <a:p>
            <a:pPr indent="0" lvl="0" marL="0" rtl="0" algn="l">
              <a:spcBef>
                <a:spcPts val="1200"/>
              </a:spcBef>
              <a:spcAft>
                <a:spcPts val="1200"/>
              </a:spcAft>
              <a:buNone/>
            </a:pPr>
            <a:r>
              <a:t/>
            </a:r>
            <a:endParaRPr sz="1300"/>
          </a:p>
        </p:txBody>
      </p:sp>
      <p:sp>
        <p:nvSpPr>
          <p:cNvPr id="85" name="Google Shape;85;p16"/>
          <p:cNvSpPr txBox="1"/>
          <p:nvPr/>
        </p:nvSpPr>
        <p:spPr>
          <a:xfrm>
            <a:off x="6962250" y="2200225"/>
            <a:ext cx="1545900" cy="8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86" name="Google Shape;86;p16"/>
          <p:cNvSpPr txBox="1"/>
          <p:nvPr/>
        </p:nvSpPr>
        <p:spPr>
          <a:xfrm>
            <a:off x="311700" y="2525650"/>
            <a:ext cx="4182600" cy="23859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2"/>
              </a:buClr>
              <a:buSzPts val="1300"/>
              <a:buChar char="●"/>
            </a:pPr>
            <a:r>
              <a:rPr b="1" lang="en" sz="1300">
                <a:solidFill>
                  <a:schemeClr val="dk2"/>
                </a:solidFill>
              </a:rPr>
              <a:t>Extending Working Age:</a:t>
            </a:r>
            <a:r>
              <a:rPr lang="en" sz="1300">
                <a:solidFill>
                  <a:schemeClr val="dk2"/>
                </a:solidFill>
              </a:rPr>
              <a:t> Raised the retirement age to 70 to keep seniors in the workforce.</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Pro-Natalist Policies: Increased childcare subsidies and parental leave benefits to boost birth rates.</a:t>
            </a:r>
            <a:endParaRPr sz="1300">
              <a:solidFill>
                <a:schemeClr val="dk2"/>
              </a:solidFill>
            </a:endParaRPr>
          </a:p>
          <a:p>
            <a:pPr indent="-311150" lvl="0" marL="457200" rtl="0" algn="l">
              <a:spcBef>
                <a:spcPts val="0"/>
              </a:spcBef>
              <a:spcAft>
                <a:spcPts val="0"/>
              </a:spcAft>
              <a:buClr>
                <a:schemeClr val="dk2"/>
              </a:buClr>
              <a:buSzPts val="1300"/>
              <a:buChar char="●"/>
            </a:pPr>
            <a:r>
              <a:rPr b="1" lang="en" sz="1300">
                <a:solidFill>
                  <a:schemeClr val="dk2"/>
                </a:solidFill>
              </a:rPr>
              <a:t>Automation &amp; Tech: </a:t>
            </a:r>
            <a:r>
              <a:rPr lang="en" sz="1300">
                <a:solidFill>
                  <a:schemeClr val="dk2"/>
                </a:solidFill>
              </a:rPr>
              <a:t>Investing heavily in robotics and AI to fill labor gaps in elderly care and services.</a:t>
            </a:r>
            <a:endParaRPr sz="1300">
              <a:solidFill>
                <a:schemeClr val="dk2"/>
              </a:solidFill>
            </a:endParaRPr>
          </a:p>
          <a:p>
            <a:pPr indent="-311150" lvl="0" marL="457200" rtl="0" algn="l">
              <a:spcBef>
                <a:spcPts val="0"/>
              </a:spcBef>
              <a:spcAft>
                <a:spcPts val="0"/>
              </a:spcAft>
              <a:buClr>
                <a:schemeClr val="dk2"/>
              </a:buClr>
              <a:buSzPts val="1300"/>
              <a:buChar char="●"/>
            </a:pPr>
            <a:r>
              <a:rPr b="1" lang="en" sz="1300">
                <a:solidFill>
                  <a:schemeClr val="dk2"/>
                </a:solidFill>
              </a:rPr>
              <a:t>Immigration Shift:</a:t>
            </a:r>
            <a:r>
              <a:rPr lang="en" sz="1300">
                <a:solidFill>
                  <a:schemeClr val="dk2"/>
                </a:solidFill>
              </a:rPr>
              <a:t> Easing visa restrictions to attract more foreign workers into essential sectors.</a:t>
            </a:r>
            <a:endParaRPr sz="1300">
              <a:solidFill>
                <a:schemeClr val="dk2"/>
              </a:solidFill>
            </a:endParaRPr>
          </a:p>
        </p:txBody>
      </p:sp>
      <p:sp>
        <p:nvSpPr>
          <p:cNvPr id="87" name="Google Shape;87;p16"/>
          <p:cNvSpPr txBox="1"/>
          <p:nvPr/>
        </p:nvSpPr>
        <p:spPr>
          <a:xfrm>
            <a:off x="5758725" y="1815713"/>
            <a:ext cx="2006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But the problem..</a:t>
            </a:r>
            <a:endParaRPr sz="1800">
              <a:solidFill>
                <a:schemeClr val="dk2"/>
              </a:solidFill>
            </a:endParaRPr>
          </a:p>
        </p:txBody>
      </p:sp>
      <p:sp>
        <p:nvSpPr>
          <p:cNvPr id="88" name="Google Shape;88;p16"/>
          <p:cNvSpPr txBox="1"/>
          <p:nvPr/>
        </p:nvSpPr>
        <p:spPr>
          <a:xfrm>
            <a:off x="4747575" y="2571750"/>
            <a:ext cx="4029000" cy="17808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b="1" lang="en" sz="1300">
                <a:solidFill>
                  <a:schemeClr val="dk2"/>
                </a:solidFill>
              </a:rPr>
              <a:t>Conservative Corporate Culture:</a:t>
            </a:r>
            <a:r>
              <a:rPr lang="en" sz="1300">
                <a:solidFill>
                  <a:schemeClr val="dk2"/>
                </a:solidFill>
              </a:rPr>
              <a:t> Rigid work environments still make it hard for women to balance career and family.</a:t>
            </a:r>
            <a:endParaRPr sz="1300">
              <a:solidFill>
                <a:schemeClr val="dk2"/>
              </a:solidFill>
            </a:endParaRPr>
          </a:p>
          <a:p>
            <a:pPr indent="-311150" lvl="0" marL="457200" rtl="0" algn="l">
              <a:spcBef>
                <a:spcPts val="0"/>
              </a:spcBef>
              <a:spcAft>
                <a:spcPts val="0"/>
              </a:spcAft>
              <a:buClr>
                <a:schemeClr val="dk2"/>
              </a:buClr>
              <a:buSzPts val="1300"/>
              <a:buChar char="●"/>
            </a:pPr>
            <a:r>
              <a:rPr b="1" lang="en" sz="1300">
                <a:solidFill>
                  <a:schemeClr val="dk2"/>
                </a:solidFill>
              </a:rPr>
              <a:t>Slow Social Integration:</a:t>
            </a:r>
            <a:r>
              <a:rPr lang="en" sz="1300">
                <a:solidFill>
                  <a:schemeClr val="dk2"/>
                </a:solidFill>
              </a:rPr>
              <a:t> Cultural resistance limits the full social integration and long-term settlement of immigrants.</a:t>
            </a:r>
            <a:endParaRPr sz="1300">
              <a:solidFill>
                <a:schemeClr val="dk2"/>
              </a:solidFill>
            </a:endParaRPr>
          </a:p>
          <a:p>
            <a:pPr indent="-311150" lvl="0" marL="457200" rtl="0" algn="l">
              <a:spcBef>
                <a:spcPts val="0"/>
              </a:spcBef>
              <a:spcAft>
                <a:spcPts val="0"/>
              </a:spcAft>
              <a:buClr>
                <a:schemeClr val="dk2"/>
              </a:buClr>
              <a:buSzPts val="1300"/>
              <a:buChar char="●"/>
            </a:pPr>
            <a:r>
              <a:rPr b="1" lang="en" sz="1300">
                <a:solidFill>
                  <a:schemeClr val="dk2"/>
                </a:solidFill>
              </a:rPr>
              <a:t>Delayed Structural Reform:</a:t>
            </a:r>
            <a:r>
              <a:rPr lang="en" sz="1300">
                <a:solidFill>
                  <a:schemeClr val="dk2"/>
                </a:solidFill>
              </a:rPr>
              <a:t> Financial support alone has failed to address the root causes of the low birth rate.</a:t>
            </a:r>
            <a:endParaRPr sz="1300">
              <a:solidFill>
                <a:schemeClr val="dk2"/>
              </a:solidFill>
            </a:endParaRPr>
          </a:p>
        </p:txBody>
      </p:sp>
      <p:pic>
        <p:nvPicPr>
          <p:cNvPr id="89" name="Google Shape;89;p16" title="241db3d7-0254-44b8-8cff-7f24f3f4e4b9_removalai_preview.png"/>
          <p:cNvPicPr preferRelativeResize="0"/>
          <p:nvPr/>
        </p:nvPicPr>
        <p:blipFill>
          <a:blip r:embed="rId3">
            <a:alphaModFix/>
          </a:blip>
          <a:stretch>
            <a:fillRect/>
          </a:stretch>
        </p:blipFill>
        <p:spPr>
          <a:xfrm>
            <a:off x="6833475" y="38375"/>
            <a:ext cx="1943100" cy="1828800"/>
          </a:xfrm>
          <a:prstGeom prst="rect">
            <a:avLst/>
          </a:prstGeom>
          <a:noFill/>
          <a:ln>
            <a:noFill/>
          </a:ln>
        </p:spPr>
      </p:pic>
      <p:cxnSp>
        <p:nvCxnSpPr>
          <p:cNvPr id="90" name="Google Shape;90;p16"/>
          <p:cNvCxnSpPr/>
          <p:nvPr/>
        </p:nvCxnSpPr>
        <p:spPr>
          <a:xfrm>
            <a:off x="5561125" y="1815725"/>
            <a:ext cx="2196600" cy="0"/>
          </a:xfrm>
          <a:prstGeom prst="straightConnector1">
            <a:avLst/>
          </a:prstGeom>
          <a:noFill/>
          <a:ln cap="flat" cmpd="sng" w="9525">
            <a:solidFill>
              <a:schemeClr val="dk2"/>
            </a:solidFill>
            <a:prstDash val="solid"/>
            <a:round/>
            <a:headEnd len="med" w="med" type="none"/>
            <a:tailEnd len="med" w="med" type="none"/>
          </a:ln>
        </p:spPr>
      </p:cxnSp>
      <p:cxnSp>
        <p:nvCxnSpPr>
          <p:cNvPr id="91" name="Google Shape;91;p16"/>
          <p:cNvCxnSpPr/>
          <p:nvPr/>
        </p:nvCxnSpPr>
        <p:spPr>
          <a:xfrm>
            <a:off x="5561125" y="2334550"/>
            <a:ext cx="21966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95" name="Shape 95"/>
        <p:cNvGrpSpPr/>
        <p:nvPr/>
      </p:nvGrpSpPr>
      <p:grpSpPr>
        <a:xfrm>
          <a:off x="0" y="0"/>
          <a:ext cx="0" cy="0"/>
          <a:chOff x="0" y="0"/>
          <a:chExt cx="0" cy="0"/>
        </a:xfrm>
      </p:grpSpPr>
      <p:sp>
        <p:nvSpPr>
          <p:cNvPr id="96" name="Google Shape;96;p17"/>
          <p:cNvSpPr txBox="1"/>
          <p:nvPr>
            <p:ph type="title"/>
          </p:nvPr>
        </p:nvSpPr>
        <p:spPr>
          <a:xfrm>
            <a:off x="412350" y="442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Reality &amp; Consequences</a:t>
            </a:r>
            <a:endParaRPr/>
          </a:p>
        </p:txBody>
      </p:sp>
      <p:sp>
        <p:nvSpPr>
          <p:cNvPr id="97" name="Google Shape;97;p17"/>
          <p:cNvSpPr txBox="1"/>
          <p:nvPr>
            <p:ph idx="1" type="body"/>
          </p:nvPr>
        </p:nvSpPr>
        <p:spPr>
          <a:xfrm>
            <a:off x="-1082950" y="1297100"/>
            <a:ext cx="903900" cy="387900"/>
          </a:xfrm>
          <a:prstGeom prst="rect">
            <a:avLst/>
          </a:prstGeom>
        </p:spPr>
        <p:txBody>
          <a:bodyPr anchorCtr="0" anchor="t" bIns="91425" lIns="91425" spcFirstLastPara="1" rIns="91425" wrap="square" tIns="91425">
            <a:normAutofit fontScale="77500"/>
          </a:bodyPr>
          <a:lstStyle/>
          <a:p>
            <a:pPr indent="0" lvl="0" marL="0" rtl="0" algn="l">
              <a:spcBef>
                <a:spcPts val="1700"/>
              </a:spcBef>
              <a:spcAft>
                <a:spcPts val="1700"/>
              </a:spcAft>
              <a:buNone/>
            </a:pPr>
            <a:r>
              <a:t/>
            </a:r>
            <a:endParaRPr sz="1700">
              <a:solidFill>
                <a:srgbClr val="0F172A"/>
              </a:solidFill>
            </a:endParaRPr>
          </a:p>
        </p:txBody>
      </p:sp>
      <p:sp>
        <p:nvSpPr>
          <p:cNvPr id="98" name="Google Shape;98;p17"/>
          <p:cNvSpPr txBox="1"/>
          <p:nvPr/>
        </p:nvSpPr>
        <p:spPr>
          <a:xfrm>
            <a:off x="4819938" y="1595400"/>
            <a:ext cx="3959400" cy="147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Clr>
                <a:schemeClr val="dk1"/>
              </a:buClr>
              <a:buSzPts val="1100"/>
              <a:buFont typeface="Arial"/>
              <a:buNone/>
            </a:pPr>
            <a:r>
              <a:rPr b="1" lang="en" sz="1500">
                <a:solidFill>
                  <a:srgbClr val="0F172A"/>
                </a:solidFill>
              </a:rPr>
              <a:t>All of those solution can be the answers but there can be some unintended consequences. Such as..</a:t>
            </a:r>
            <a:endParaRPr b="1" sz="1500">
              <a:solidFill>
                <a:srgbClr val="0F172A"/>
              </a:solidFill>
            </a:endParaRPr>
          </a:p>
          <a:p>
            <a:pPr indent="0" lvl="0" marL="0" rtl="0" algn="l">
              <a:spcBef>
                <a:spcPts val="1700"/>
              </a:spcBef>
              <a:spcAft>
                <a:spcPts val="0"/>
              </a:spcAft>
              <a:buNone/>
            </a:pPr>
            <a:r>
              <a:t/>
            </a:r>
            <a:endParaRPr sz="1800">
              <a:solidFill>
                <a:schemeClr val="dk2"/>
              </a:solidFill>
            </a:endParaRPr>
          </a:p>
        </p:txBody>
      </p:sp>
      <p:sp>
        <p:nvSpPr>
          <p:cNvPr id="99" name="Google Shape;99;p17"/>
          <p:cNvSpPr txBox="1"/>
          <p:nvPr/>
        </p:nvSpPr>
        <p:spPr>
          <a:xfrm>
            <a:off x="283763" y="2320625"/>
            <a:ext cx="4366200" cy="101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700"/>
              </a:spcBef>
              <a:spcAft>
                <a:spcPts val="1700"/>
              </a:spcAft>
              <a:buNone/>
            </a:pPr>
            <a:r>
              <a:rPr lang="en" sz="1700">
                <a:solidFill>
                  <a:schemeClr val="dk2"/>
                </a:solidFill>
              </a:rPr>
              <a:t>By extending the retirement age, more seniors are entering the workforce, effectively filling the severe labor shortage. </a:t>
            </a:r>
            <a:endParaRPr sz="1800">
              <a:solidFill>
                <a:schemeClr val="dk2"/>
              </a:solidFill>
            </a:endParaRPr>
          </a:p>
        </p:txBody>
      </p:sp>
      <p:sp>
        <p:nvSpPr>
          <p:cNvPr id="100" name="Google Shape;100;p17"/>
          <p:cNvSpPr txBox="1"/>
          <p:nvPr/>
        </p:nvSpPr>
        <p:spPr>
          <a:xfrm>
            <a:off x="6202925" y="130925"/>
            <a:ext cx="39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1" name="Google Shape;101;p17"/>
          <p:cNvSpPr txBox="1"/>
          <p:nvPr/>
        </p:nvSpPr>
        <p:spPr>
          <a:xfrm>
            <a:off x="4819938" y="2530450"/>
            <a:ext cx="4113000" cy="101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700"/>
              </a:spcBef>
              <a:spcAft>
                <a:spcPts val="1700"/>
              </a:spcAft>
              <a:buNone/>
            </a:pPr>
            <a:r>
              <a:rPr lang="en" sz="1600">
                <a:solidFill>
                  <a:schemeClr val="dk2"/>
                </a:solidFill>
              </a:rPr>
              <a:t>D</a:t>
            </a:r>
            <a:r>
              <a:rPr lang="en" sz="1600">
                <a:solidFill>
                  <a:schemeClr val="dk2"/>
                </a:solidFill>
              </a:rPr>
              <a:t>ue to insufficient pensions, many seniors cannot afford to retire and are forced to keep working past the age of 70, leading to a rise in elderly poverty.</a:t>
            </a:r>
            <a:endParaRPr sz="1700">
              <a:solidFill>
                <a:schemeClr val="dk2"/>
              </a:solidFill>
            </a:endParaRPr>
          </a:p>
        </p:txBody>
      </p:sp>
      <p:sp>
        <p:nvSpPr>
          <p:cNvPr id="102" name="Google Shape;102;p17"/>
          <p:cNvSpPr txBox="1"/>
          <p:nvPr/>
        </p:nvSpPr>
        <p:spPr>
          <a:xfrm>
            <a:off x="283763" y="3407350"/>
            <a:ext cx="3959400" cy="13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Elderly-dominated jobs: Most taxi drivers and convenience store clerks have been replaced by seniors.</a:t>
            </a:r>
            <a:endParaRPr sz="1800">
              <a:solidFill>
                <a:schemeClr val="dk2"/>
              </a:solidFill>
            </a:endParaRPr>
          </a:p>
        </p:txBody>
      </p:sp>
      <p:sp>
        <p:nvSpPr>
          <p:cNvPr id="103" name="Google Shape;103;p17"/>
          <p:cNvSpPr txBox="1"/>
          <p:nvPr/>
        </p:nvSpPr>
        <p:spPr>
          <a:xfrm>
            <a:off x="333288" y="1505000"/>
            <a:ext cx="3747600" cy="65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700"/>
              </a:spcBef>
              <a:spcAft>
                <a:spcPts val="1700"/>
              </a:spcAft>
              <a:buNone/>
            </a:pPr>
            <a:r>
              <a:rPr b="1" lang="en" sz="1500">
                <a:solidFill>
                  <a:schemeClr val="dk1"/>
                </a:solidFill>
              </a:rPr>
              <a:t>Those solutions can solve lot of again issue problems. Such as..</a:t>
            </a:r>
            <a:endParaRPr b="1" sz="1500">
              <a:solidFill>
                <a:schemeClr val="dk1"/>
              </a:solidFill>
            </a:endParaRPr>
          </a:p>
        </p:txBody>
      </p:sp>
      <p:sp>
        <p:nvSpPr>
          <p:cNvPr id="104" name="Google Shape;104;p17"/>
          <p:cNvSpPr txBox="1"/>
          <p:nvPr/>
        </p:nvSpPr>
        <p:spPr>
          <a:xfrm>
            <a:off x="4847088" y="3732850"/>
            <a:ext cx="3905100" cy="11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2"/>
                </a:solidFill>
              </a:rPr>
              <a:t>As the population completely vanishes, entire rural villages are turning into empty "ghost towns."</a:t>
            </a:r>
            <a:endParaRPr sz="1700">
              <a:solidFill>
                <a:schemeClr val="dk2"/>
              </a:solidFill>
            </a:endParaRPr>
          </a:p>
        </p:txBody>
      </p:sp>
      <p:pic>
        <p:nvPicPr>
          <p:cNvPr id="105" name="Google Shape;105;p17" title="6a33f97c-298f-4e26-92df-3899bed536c2_removalai_preview.png"/>
          <p:cNvPicPr preferRelativeResize="0"/>
          <p:nvPr/>
        </p:nvPicPr>
        <p:blipFill>
          <a:blip r:embed="rId3">
            <a:alphaModFix/>
          </a:blip>
          <a:stretch>
            <a:fillRect/>
          </a:stretch>
        </p:blipFill>
        <p:spPr>
          <a:xfrm>
            <a:off x="7510150" y="171775"/>
            <a:ext cx="1242049" cy="1242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109" name="Shape 109"/>
        <p:cNvGrpSpPr/>
        <p:nvPr/>
      </p:nvGrpSpPr>
      <p:grpSpPr>
        <a:xfrm>
          <a:off x="0" y="0"/>
          <a:ext cx="0" cy="0"/>
          <a:chOff x="0" y="0"/>
          <a:chExt cx="0" cy="0"/>
        </a:xfrm>
      </p:grpSpPr>
      <p:sp>
        <p:nvSpPr>
          <p:cNvPr id="110" name="Google Shape;110;p18"/>
          <p:cNvSpPr txBox="1"/>
          <p:nvPr>
            <p:ph type="title"/>
          </p:nvPr>
        </p:nvSpPr>
        <p:spPr>
          <a:xfrm>
            <a:off x="311700" y="219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Canada or Japan?</a:t>
            </a:r>
            <a:endParaRPr/>
          </a:p>
        </p:txBody>
      </p:sp>
      <p:sp>
        <p:nvSpPr>
          <p:cNvPr id="111" name="Google Shape;111;p18"/>
          <p:cNvSpPr txBox="1"/>
          <p:nvPr>
            <p:ph idx="1" type="body"/>
          </p:nvPr>
        </p:nvSpPr>
        <p:spPr>
          <a:xfrm>
            <a:off x="311700" y="863200"/>
            <a:ext cx="8520600" cy="115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t>Aging issue is also the </a:t>
            </a:r>
            <a:r>
              <a:rPr lang="en" sz="1600"/>
              <a:t>problem</a:t>
            </a:r>
            <a:r>
              <a:rPr lang="en" sz="1600"/>
              <a:t> in Canada. Canada </a:t>
            </a:r>
            <a:r>
              <a:rPr lang="en" sz="1600"/>
              <a:t>government</a:t>
            </a:r>
            <a:r>
              <a:rPr lang="en" sz="1600"/>
              <a:t> is also trying hard to catch the problem right. The problem are the same but the solution is way different. </a:t>
            </a:r>
            <a:endParaRPr sz="1600"/>
          </a:p>
        </p:txBody>
      </p:sp>
      <p:sp>
        <p:nvSpPr>
          <p:cNvPr id="112" name="Google Shape;112;p18"/>
          <p:cNvSpPr txBox="1"/>
          <p:nvPr/>
        </p:nvSpPr>
        <p:spPr>
          <a:xfrm>
            <a:off x="311700" y="1685375"/>
            <a:ext cx="4571400" cy="1519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u="sng">
                <a:solidFill>
                  <a:schemeClr val="dk2"/>
                </a:solidFill>
              </a:rPr>
              <a:t>Canada is trying to solve the issue by </a:t>
            </a:r>
            <a:endParaRPr b="1" sz="1500" u="sng">
              <a:solidFill>
                <a:schemeClr val="dk2"/>
              </a:solidFill>
            </a:endParaRPr>
          </a:p>
          <a:p>
            <a:pPr indent="0" lvl="0" marL="0" rtl="0" algn="l">
              <a:spcBef>
                <a:spcPts val="0"/>
              </a:spcBef>
              <a:spcAft>
                <a:spcPts val="0"/>
              </a:spcAft>
              <a:buNone/>
            </a:pPr>
            <a:r>
              <a:t/>
            </a:r>
            <a:endParaRPr sz="1500">
              <a:solidFill>
                <a:schemeClr val="dk2"/>
              </a:solidFill>
            </a:endParaRPr>
          </a:p>
          <a:p>
            <a:pPr indent="0" lvl="0" marL="0" rtl="0" algn="l">
              <a:spcBef>
                <a:spcPts val="0"/>
              </a:spcBef>
              <a:spcAft>
                <a:spcPts val="0"/>
              </a:spcAft>
              <a:buNone/>
            </a:pPr>
            <a:r>
              <a:rPr b="1" lang="en" sz="1500">
                <a:solidFill>
                  <a:schemeClr val="dk2"/>
                </a:solidFill>
              </a:rPr>
              <a:t>Massive Immigration:</a:t>
            </a:r>
            <a:r>
              <a:rPr lang="en" sz="1300">
                <a:solidFill>
                  <a:schemeClr val="dk2"/>
                </a:solidFill>
              </a:rPr>
              <a:t> Welcoming skilled newcomers to keep the population and workforce growing</a:t>
            </a:r>
            <a:endParaRPr sz="1300">
              <a:solidFill>
                <a:schemeClr val="dk2"/>
              </a:solidFill>
            </a:endParaRPr>
          </a:p>
          <a:p>
            <a:pPr indent="0" lvl="0" marL="0" rtl="0" algn="l">
              <a:spcBef>
                <a:spcPts val="0"/>
              </a:spcBef>
              <a:spcAft>
                <a:spcPts val="0"/>
              </a:spcAft>
              <a:buNone/>
            </a:pPr>
            <a:r>
              <a:rPr b="1" lang="en" sz="1500">
                <a:solidFill>
                  <a:schemeClr val="dk2"/>
                </a:solidFill>
              </a:rPr>
              <a:t>Flexible Pension:</a:t>
            </a:r>
            <a:r>
              <a:rPr lang="en" sz="1500">
                <a:solidFill>
                  <a:schemeClr val="dk2"/>
                </a:solidFill>
              </a:rPr>
              <a:t> </a:t>
            </a:r>
            <a:r>
              <a:rPr lang="en" sz="1300">
                <a:solidFill>
                  <a:schemeClr val="dk2"/>
                </a:solidFill>
              </a:rPr>
              <a:t>Citizens can start claiming the Canada Pension Plan (CPP) at 60 years old</a:t>
            </a:r>
            <a:endParaRPr sz="1300">
              <a:solidFill>
                <a:schemeClr val="dk2"/>
              </a:solidFill>
            </a:endParaRPr>
          </a:p>
        </p:txBody>
      </p:sp>
      <p:sp>
        <p:nvSpPr>
          <p:cNvPr id="113" name="Google Shape;113;p18"/>
          <p:cNvSpPr txBox="1"/>
          <p:nvPr/>
        </p:nvSpPr>
        <p:spPr>
          <a:xfrm>
            <a:off x="311700" y="3204875"/>
            <a:ext cx="4571400" cy="1663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u="sng">
                <a:solidFill>
                  <a:schemeClr val="dk2"/>
                </a:solidFill>
              </a:rPr>
              <a:t>Japan is trying to solve the issue by</a:t>
            </a:r>
            <a:endParaRPr b="1" sz="1500" u="sng">
              <a:solidFill>
                <a:schemeClr val="dk2"/>
              </a:solidFill>
            </a:endParaRPr>
          </a:p>
          <a:p>
            <a:pPr indent="0" lvl="0" marL="0" rtl="0" algn="l">
              <a:spcBef>
                <a:spcPts val="0"/>
              </a:spcBef>
              <a:spcAft>
                <a:spcPts val="0"/>
              </a:spcAft>
              <a:buNone/>
            </a:pPr>
            <a:r>
              <a:t/>
            </a:r>
            <a:endParaRPr b="1" sz="1500" u="sng">
              <a:solidFill>
                <a:schemeClr val="dk2"/>
              </a:solidFill>
            </a:endParaRPr>
          </a:p>
          <a:p>
            <a:pPr indent="0" lvl="0" marL="0" rtl="0" algn="l">
              <a:spcBef>
                <a:spcPts val="0"/>
              </a:spcBef>
              <a:spcAft>
                <a:spcPts val="0"/>
              </a:spcAft>
              <a:buNone/>
            </a:pPr>
            <a:r>
              <a:rPr b="1" lang="en">
                <a:solidFill>
                  <a:schemeClr val="dk2"/>
                </a:solidFill>
              </a:rPr>
              <a:t>Automation &amp; Senior Labor:</a:t>
            </a:r>
            <a:r>
              <a:rPr lang="en">
                <a:solidFill>
                  <a:schemeClr val="dk2"/>
                </a:solidFill>
              </a:rPr>
              <a:t> </a:t>
            </a:r>
            <a:r>
              <a:rPr lang="en" sz="1200">
                <a:solidFill>
                  <a:schemeClr val="dk2"/>
                </a:solidFill>
              </a:rPr>
              <a:t>Relying on robotics and keeping their own elderly citizens in the workforce instead of opening borders</a:t>
            </a:r>
            <a:endParaRPr sz="1200">
              <a:solidFill>
                <a:schemeClr val="dk2"/>
              </a:solidFill>
            </a:endParaRPr>
          </a:p>
          <a:p>
            <a:pPr indent="0" lvl="0" marL="0" rtl="0" algn="l">
              <a:spcBef>
                <a:spcPts val="0"/>
              </a:spcBef>
              <a:spcAft>
                <a:spcPts val="0"/>
              </a:spcAft>
              <a:buNone/>
            </a:pPr>
            <a:r>
              <a:rPr b="1" lang="en">
                <a:solidFill>
                  <a:schemeClr val="dk2"/>
                </a:solidFill>
              </a:rPr>
              <a:t>Extended Work</a:t>
            </a:r>
            <a:r>
              <a:rPr lang="en" sz="1200">
                <a:solidFill>
                  <a:schemeClr val="dk2"/>
                </a:solidFill>
              </a:rPr>
              <a:t>: Encouraging citizens to work until 70 years old due to a shrinking tax base</a:t>
            </a:r>
            <a:endParaRPr sz="1200">
              <a:solidFill>
                <a:schemeClr val="dk2"/>
              </a:solidFill>
            </a:endParaRPr>
          </a:p>
        </p:txBody>
      </p:sp>
      <p:sp>
        <p:nvSpPr>
          <p:cNvPr id="114" name="Google Shape;114;p18"/>
          <p:cNvSpPr txBox="1"/>
          <p:nvPr/>
        </p:nvSpPr>
        <p:spPr>
          <a:xfrm>
            <a:off x="5254125" y="2043463"/>
            <a:ext cx="3968400" cy="6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2"/>
                </a:solidFill>
              </a:rPr>
              <a:t>Key Difference </a:t>
            </a:r>
            <a:endParaRPr b="1" sz="2000">
              <a:solidFill>
                <a:schemeClr val="dk2"/>
              </a:solidFill>
            </a:endParaRPr>
          </a:p>
        </p:txBody>
      </p:sp>
      <p:sp>
        <p:nvSpPr>
          <p:cNvPr id="115" name="Google Shape;115;p18"/>
          <p:cNvSpPr txBox="1"/>
          <p:nvPr/>
        </p:nvSpPr>
        <p:spPr>
          <a:xfrm>
            <a:off x="5254125" y="2725425"/>
            <a:ext cx="2827200" cy="9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Canada relies on migrator to maintain </a:t>
            </a:r>
            <a:r>
              <a:rPr lang="en" sz="1800">
                <a:solidFill>
                  <a:schemeClr val="dk2"/>
                </a:solidFill>
              </a:rPr>
              <a:t>the</a:t>
            </a:r>
            <a:r>
              <a:rPr lang="en" sz="1800">
                <a:solidFill>
                  <a:schemeClr val="dk2"/>
                </a:solidFill>
              </a:rPr>
              <a:t> </a:t>
            </a:r>
            <a:r>
              <a:rPr lang="en" sz="1800">
                <a:solidFill>
                  <a:schemeClr val="dk2"/>
                </a:solidFill>
              </a:rPr>
              <a:t>average</a:t>
            </a:r>
            <a:r>
              <a:rPr lang="en" sz="1800">
                <a:solidFill>
                  <a:schemeClr val="dk2"/>
                </a:solidFill>
              </a:rPr>
              <a:t> </a:t>
            </a:r>
            <a:r>
              <a:rPr lang="en" sz="1800">
                <a:solidFill>
                  <a:schemeClr val="dk2"/>
                </a:solidFill>
              </a:rPr>
              <a:t>age</a:t>
            </a:r>
            <a:r>
              <a:rPr lang="en" sz="1800">
                <a:solidFill>
                  <a:schemeClr val="dk2"/>
                </a:solidFill>
              </a:rPr>
              <a:t> of Canada population but Japan relies on robot and senior. </a:t>
            </a:r>
            <a:endParaRPr sz="1800">
              <a:solidFill>
                <a:schemeClr val="dk2"/>
              </a:solidFill>
            </a:endParaRPr>
          </a:p>
        </p:txBody>
      </p:sp>
      <p:sp>
        <p:nvSpPr>
          <p:cNvPr id="116" name="Google Shape;116;p18"/>
          <p:cNvSpPr txBox="1"/>
          <p:nvPr/>
        </p:nvSpPr>
        <p:spPr>
          <a:xfrm>
            <a:off x="9593550" y="2214275"/>
            <a:ext cx="3306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17" name="Google Shape;117;p18"/>
          <p:cNvSpPr txBox="1"/>
          <p:nvPr/>
        </p:nvSpPr>
        <p:spPr>
          <a:xfrm>
            <a:off x="-766550" y="1495150"/>
            <a:ext cx="58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18" name="Google Shape;118;p18"/>
          <p:cNvSpPr txBox="1"/>
          <p:nvPr/>
        </p:nvSpPr>
        <p:spPr>
          <a:xfrm>
            <a:off x="-5602700" y="2340900"/>
            <a:ext cx="520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19" name="Google Shape;119;p18"/>
          <p:cNvSpPr txBox="1"/>
          <p:nvPr/>
        </p:nvSpPr>
        <p:spPr>
          <a:xfrm>
            <a:off x="-5449025" y="2232350"/>
            <a:ext cx="520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20" name="Google Shape;120;p18"/>
          <p:cNvSpPr txBox="1"/>
          <p:nvPr/>
        </p:nvSpPr>
        <p:spPr>
          <a:xfrm>
            <a:off x="-5548475" y="2019388"/>
            <a:ext cx="520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121" name="Google Shape;121;p18" title="e992a812-78ee-4464-96c2-6d88be53aa43_removalai_preview.png"/>
          <p:cNvPicPr preferRelativeResize="0"/>
          <p:nvPr/>
        </p:nvPicPr>
        <p:blipFill>
          <a:blip r:embed="rId3">
            <a:alphaModFix/>
          </a:blip>
          <a:stretch>
            <a:fillRect/>
          </a:stretch>
        </p:blipFill>
        <p:spPr>
          <a:xfrm>
            <a:off x="7370650" y="1884875"/>
            <a:ext cx="663850" cy="663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125" name="Shape 125"/>
        <p:cNvGrpSpPr/>
        <p:nvPr/>
      </p:nvGrpSpPr>
      <p:grpSpPr>
        <a:xfrm>
          <a:off x="0" y="0"/>
          <a:ext cx="0" cy="0"/>
          <a:chOff x="0" y="0"/>
          <a:chExt cx="0" cy="0"/>
        </a:xfrm>
      </p:grpSpPr>
      <p:sp>
        <p:nvSpPr>
          <p:cNvPr id="126" name="Google Shape;126;p19"/>
          <p:cNvSpPr txBox="1"/>
          <p:nvPr>
            <p:ph type="title"/>
          </p:nvPr>
        </p:nvSpPr>
        <p:spPr>
          <a:xfrm>
            <a:off x="347875"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Roadmap for Our Future </a:t>
            </a:r>
            <a:endParaRPr/>
          </a:p>
        </p:txBody>
      </p:sp>
      <p:sp>
        <p:nvSpPr>
          <p:cNvPr id="127" name="Google Shape;127;p19"/>
          <p:cNvSpPr txBox="1"/>
          <p:nvPr>
            <p:ph idx="1" type="body"/>
          </p:nvPr>
        </p:nvSpPr>
        <p:spPr>
          <a:xfrm>
            <a:off x="347875" y="1148325"/>
            <a:ext cx="5005500" cy="1994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a:t>We should care about Japan’s aging issue because unfortunately Canada is also aging. Aging issue is not very problem in Canada right now because the </a:t>
            </a:r>
            <a:r>
              <a:rPr lang="en"/>
              <a:t>population</a:t>
            </a:r>
            <a:r>
              <a:rPr lang="en"/>
              <a:t> is not decreasing. But the fact is that population is also not growing. Soon, Canada will also get in to trouble with aging issue as Japan. Japan is the roadmap for our </a:t>
            </a:r>
            <a:r>
              <a:rPr lang="en"/>
              <a:t>future</a:t>
            </a:r>
            <a:r>
              <a:rPr lang="en"/>
              <a:t>. </a:t>
            </a:r>
            <a:endParaRPr/>
          </a:p>
        </p:txBody>
      </p:sp>
      <p:pic>
        <p:nvPicPr>
          <p:cNvPr id="128" name="Google Shape;128;p19"/>
          <p:cNvPicPr preferRelativeResize="0"/>
          <p:nvPr/>
        </p:nvPicPr>
        <p:blipFill>
          <a:blip r:embed="rId3">
            <a:alphaModFix/>
          </a:blip>
          <a:stretch>
            <a:fillRect/>
          </a:stretch>
        </p:blipFill>
        <p:spPr>
          <a:xfrm>
            <a:off x="5769050" y="1148325"/>
            <a:ext cx="2749901" cy="1823325"/>
          </a:xfrm>
          <a:prstGeom prst="rect">
            <a:avLst/>
          </a:prstGeom>
          <a:noFill/>
          <a:ln>
            <a:noFill/>
          </a:ln>
        </p:spPr>
      </p:pic>
      <p:sp>
        <p:nvSpPr>
          <p:cNvPr id="129" name="Google Shape;129;p19"/>
          <p:cNvSpPr txBox="1"/>
          <p:nvPr/>
        </p:nvSpPr>
        <p:spPr>
          <a:xfrm>
            <a:off x="311700" y="3142425"/>
            <a:ext cx="8423700" cy="1943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650">
                <a:solidFill>
                  <a:schemeClr val="dk2"/>
                </a:solidFill>
              </a:rPr>
              <a:t>If </a:t>
            </a:r>
            <a:r>
              <a:rPr lang="en" sz="1650">
                <a:solidFill>
                  <a:schemeClr val="dk2"/>
                </a:solidFill>
              </a:rPr>
              <a:t>they successfully solve this problem, we can copy the solution but if they fails some how, we can at least avoid the option what Japan chose right now. Japan is a crystal ball showing the future challenges that Canada must prepare for today </a:t>
            </a:r>
            <a:endParaRPr sz="1650">
              <a:solidFill>
                <a:schemeClr val="dk2"/>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133" name="Shape 133"/>
        <p:cNvGrpSpPr/>
        <p:nvPr/>
      </p:nvGrpSpPr>
      <p:grpSpPr>
        <a:xfrm>
          <a:off x="0" y="0"/>
          <a:ext cx="0" cy="0"/>
          <a:chOff x="0" y="0"/>
          <a:chExt cx="0" cy="0"/>
        </a:xfrm>
      </p:grpSpPr>
      <p:sp>
        <p:nvSpPr>
          <p:cNvPr id="134" name="Google Shape;134;p20"/>
          <p:cNvSpPr txBox="1"/>
          <p:nvPr>
            <p:ph type="title"/>
          </p:nvPr>
        </p:nvSpPr>
        <p:spPr>
          <a:xfrm>
            <a:off x="6404350" y="44857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720"/>
              <a:t>Thank</a:t>
            </a:r>
            <a:r>
              <a:rPr lang="en" sz="1720"/>
              <a:t> you for your time </a:t>
            </a:r>
            <a:endParaRPr sz="1720"/>
          </a:p>
        </p:txBody>
      </p:sp>
      <p:sp>
        <p:nvSpPr>
          <p:cNvPr id="135" name="Google Shape;135;p20"/>
          <p:cNvSpPr txBox="1"/>
          <p:nvPr>
            <p:ph idx="1" type="body"/>
          </p:nvPr>
        </p:nvSpPr>
        <p:spPr>
          <a:xfrm>
            <a:off x="1328100" y="1437750"/>
            <a:ext cx="6487800" cy="226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2500"/>
              <a:t>Japan is showing us the future challenges that Canada must prepare for today </a:t>
            </a:r>
            <a:endParaRPr b="1" sz="2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139" name="Shape 139"/>
        <p:cNvGrpSpPr/>
        <p:nvPr/>
      </p:nvGrpSpPr>
      <p:grpSpPr>
        <a:xfrm>
          <a:off x="0" y="0"/>
          <a:ext cx="0" cy="0"/>
          <a:chOff x="0" y="0"/>
          <a:chExt cx="0" cy="0"/>
        </a:xfrm>
      </p:grpSpPr>
      <p:sp>
        <p:nvSpPr>
          <p:cNvPr id="140" name="Google Shape;140;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en" sz="2520">
                <a:solidFill>
                  <a:schemeClr val="dk2"/>
                </a:solidFill>
              </a:rPr>
              <a:t>Resource:</a:t>
            </a:r>
            <a:endParaRPr b="1" sz="2520">
              <a:solidFill>
                <a:schemeClr val="dk2"/>
              </a:solidFill>
            </a:endParaRPr>
          </a:p>
          <a:p>
            <a:pPr indent="0" lvl="0" marL="0" rtl="0" algn="l">
              <a:spcBef>
                <a:spcPts val="1200"/>
              </a:spcBef>
              <a:spcAft>
                <a:spcPts val="0"/>
              </a:spcAft>
              <a:buSzPts val="990"/>
              <a:buNone/>
            </a:pPr>
            <a:r>
              <a:t/>
            </a:r>
            <a:endParaRPr sz="2520"/>
          </a:p>
        </p:txBody>
      </p:sp>
      <p:sp>
        <p:nvSpPr>
          <p:cNvPr id="141" name="Google Shape;141;p21"/>
          <p:cNvSpPr txBox="1"/>
          <p:nvPr>
            <p:ph idx="1" type="body"/>
          </p:nvPr>
        </p:nvSpPr>
        <p:spPr>
          <a:xfrm>
            <a:off x="311700" y="1152475"/>
            <a:ext cx="4933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a:t>
            </a:r>
            <a:r>
              <a:rPr lang="en" u="sng">
                <a:solidFill>
                  <a:schemeClr val="hlink"/>
                </a:solidFill>
                <a:hlinkClick r:id="rId3"/>
              </a:rPr>
              <a:t>http://brunch.co.kr/@kid008/378</a:t>
            </a:r>
            <a:endParaRPr/>
          </a:p>
          <a:p>
            <a:pPr indent="0" lvl="0" marL="0" rtl="0" algn="l">
              <a:spcBef>
                <a:spcPts val="1200"/>
              </a:spcBef>
              <a:spcAft>
                <a:spcPts val="0"/>
              </a:spcAft>
              <a:buNone/>
            </a:pPr>
            <a:r>
              <a:rPr lang="en" u="sng">
                <a:solidFill>
                  <a:schemeClr val="hlink"/>
                </a:solidFill>
                <a:hlinkClick r:id="rId4"/>
              </a:rPr>
              <a:t>https://ko.wikipedia.org/wiki/%EC%9D%BC%EB%B3%B8%EC%9D%98_%EA%B3%A0%EB%A0%B9%ED%99%94</a:t>
            </a:r>
            <a:endParaRPr/>
          </a:p>
          <a:p>
            <a:pPr indent="0" lvl="0" marL="0" rtl="0" algn="l">
              <a:spcBef>
                <a:spcPts val="1200"/>
              </a:spcBef>
              <a:spcAft>
                <a:spcPts val="0"/>
              </a:spcAft>
              <a:buNone/>
            </a:pPr>
            <a:r>
              <a:rPr lang="en" u="sng">
                <a:solidFill>
                  <a:schemeClr val="hlink"/>
                </a:solidFill>
                <a:hlinkClick r:id="rId5"/>
              </a:rPr>
              <a:t>https://en.wikipedia.org/wiki/Aging_of_Canada</a:t>
            </a:r>
            <a:endParaRPr/>
          </a:p>
          <a:p>
            <a:pPr indent="0" lvl="0" marL="0" rtl="0" algn="l">
              <a:spcBef>
                <a:spcPts val="1200"/>
              </a:spcBef>
              <a:spcAft>
                <a:spcPts val="1200"/>
              </a:spcAft>
              <a:buNone/>
            </a:pPr>
            <a:r>
              <a:t/>
            </a:r>
            <a:endParaRPr/>
          </a:p>
        </p:txBody>
      </p:sp>
      <p:pic>
        <p:nvPicPr>
          <p:cNvPr id="142" name="Google Shape;142;p21" title="59cf2da2-d43a-4193-93ff-d51eb8b72fc1.png"/>
          <p:cNvPicPr preferRelativeResize="0"/>
          <p:nvPr/>
        </p:nvPicPr>
        <p:blipFill>
          <a:blip r:embed="rId6">
            <a:alphaModFix/>
          </a:blip>
          <a:stretch>
            <a:fillRect/>
          </a:stretch>
        </p:blipFill>
        <p:spPr>
          <a:xfrm>
            <a:off x="5414700" y="1299325"/>
            <a:ext cx="3269551" cy="32695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