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Plus Jakarta Sans"/>
      <p:regular r:id="rId17"/>
      <p:bold r:id="rId18"/>
      <p:italic r:id="rId19"/>
      <p:boldItalic r:id="rId20"/>
    </p:embeddedFont>
    <p:embeddedFont>
      <p:font typeface="Urbanist"/>
      <p:regular r:id="rId21"/>
      <p:bold r:id="rId22"/>
      <p:italic r:id="rId23"/>
      <p:boldItalic r:id="rId24"/>
    </p:embeddedFont>
    <p:embeddedFont>
      <p:font typeface="PT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usJakartaSans-boldItalic.fntdata"/><Relationship Id="rId22" Type="http://schemas.openxmlformats.org/officeDocument/2006/relationships/font" Target="fonts/Urbanist-bold.fntdata"/><Relationship Id="rId21" Type="http://schemas.openxmlformats.org/officeDocument/2006/relationships/font" Target="fonts/Urbanist-regular.fntdata"/><Relationship Id="rId24" Type="http://schemas.openxmlformats.org/officeDocument/2006/relationships/font" Target="fonts/Urbanist-boldItalic.fntdata"/><Relationship Id="rId23" Type="http://schemas.openxmlformats.org/officeDocument/2006/relationships/font" Target="fonts/Urbanis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bold.fntdata"/><Relationship Id="rId25" Type="http://schemas.openxmlformats.org/officeDocument/2006/relationships/font" Target="fonts/PTSans-regular.fntdata"/><Relationship Id="rId28" Type="http://schemas.openxmlformats.org/officeDocument/2006/relationships/font" Target="fonts/PTSans-boldItalic.fntdata"/><Relationship Id="rId27" Type="http://schemas.openxmlformats.org/officeDocument/2006/relationships/font" Target="fonts/PT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usJakartaSans-regular.fntdata"/><Relationship Id="rId16" Type="http://schemas.openxmlformats.org/officeDocument/2006/relationships/slide" Target="slides/slide12.xml"/><Relationship Id="rId19" Type="http://schemas.openxmlformats.org/officeDocument/2006/relationships/font" Target="fonts/PlusJakartaSans-italic.fntdata"/><Relationship Id="rId18" Type="http://schemas.openxmlformats.org/officeDocument/2006/relationships/font" Target="fonts/PlusJakarta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bafd0f3d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bafd0f3d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8bd745f4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8bd745f4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ad8745c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ad8745c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c407ea7b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c407ea7b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ad8745ca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ad8745ca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c407ea7b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ec407ea7b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ad8745ca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ad8745ca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c407ea7b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ec407ea7b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ad8745ca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ad8745ca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c407ea7b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c407ea7b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bbcb35b5ae_0_22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bbcb35b5ae_0_22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71200" y="1134374"/>
            <a:ext cx="6201600" cy="2330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rot="200015">
            <a:off x="-70637" y="-83394"/>
            <a:ext cx="1744380" cy="1608161"/>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14300" y="92800"/>
            <a:ext cx="1490666" cy="1481334"/>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146825" y="3467101"/>
            <a:ext cx="3145770" cy="1713123"/>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798944" y="3959785"/>
            <a:ext cx="2351370" cy="11857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597750" y="3608024"/>
            <a:ext cx="2606353" cy="1592859"/>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rot="10376807">
            <a:off x="7263583" y="-355382"/>
            <a:ext cx="2215930" cy="159928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4023300" y="1267688"/>
            <a:ext cx="1097400" cy="1097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 name="Google Shape;21;p3"/>
          <p:cNvSpPr/>
          <p:nvPr/>
        </p:nvSpPr>
        <p:spPr>
          <a:xfrm rot="-10177876">
            <a:off x="-412039" y="4032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89571">
            <a:off x="6924660" y="-34314"/>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0406059">
            <a:off x="-164783" y="-247591"/>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5981654" y="3432417"/>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312361">
            <a:off x="-457450" y="4194502"/>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425596">
            <a:off x="6971866" y="-20391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4"/>
          <p:cNvSpPr txBox="1"/>
          <p:nvPr>
            <p:ph idx="1" type="body"/>
          </p:nvPr>
        </p:nvSpPr>
        <p:spPr>
          <a:xfrm>
            <a:off x="720000" y="1135564"/>
            <a:ext cx="7704000" cy="3750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rgbClr val="434343"/>
              </a:buClr>
              <a:buSzPts val="1200"/>
              <a:buAutoNum type="arabicPeriod"/>
              <a:defRPr sz="1200"/>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30" name="Google Shape;30;p4"/>
          <p:cNvSpPr/>
          <p:nvPr/>
        </p:nvSpPr>
        <p:spPr>
          <a:xfrm flipH="1" rot="-371371">
            <a:off x="7667218" y="4470208"/>
            <a:ext cx="1974472" cy="740945"/>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rot="-371406">
            <a:off x="7456462" y="4289730"/>
            <a:ext cx="2395980" cy="899149"/>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rot="10800000">
            <a:off x="-78109" y="-54440"/>
            <a:ext cx="1877832" cy="94696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108243" y="-82113"/>
            <a:ext cx="2190686" cy="1152237"/>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5"/>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 name="Google Shape;37;p5"/>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p:nvPr/>
        </p:nvSpPr>
        <p:spPr>
          <a:xfrm flipH="1" rot="2978961">
            <a:off x="-1168688" y="-238557"/>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2473911">
            <a:off x="7539227" y="2987272"/>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flipH="1" rot="2473911">
            <a:off x="7682102" y="3070509"/>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flipH="1" rot="2978961">
            <a:off x="-1297086" y="-313570"/>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6"/>
          <p:cNvSpPr/>
          <p:nvPr/>
        </p:nvSpPr>
        <p:spPr>
          <a:xfrm rot="169350">
            <a:off x="7168154" y="-102276"/>
            <a:ext cx="2100675" cy="987345"/>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rot="5400000">
            <a:off x="261255" y="3697985"/>
            <a:ext cx="903930" cy="1987110"/>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360783" y="3966076"/>
            <a:ext cx="704893" cy="17643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10509608">
            <a:off x="7796912" y="3885338"/>
            <a:ext cx="1441468" cy="1328903"/>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rot="169366">
            <a:off x="7473294" y="-111128"/>
            <a:ext cx="1737364" cy="81657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179525" y="-47649"/>
            <a:ext cx="1615996" cy="1297974"/>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idx="1" type="body"/>
          </p:nvPr>
        </p:nvSpPr>
        <p:spPr>
          <a:xfrm>
            <a:off x="4186800" y="1593575"/>
            <a:ext cx="3966300" cy="250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a:solidFill>
                  <a:srgbClr val="434343"/>
                </a:solidFill>
              </a:defRPr>
            </a:lvl1pPr>
            <a:lvl2pPr indent="-317500" lvl="1" marL="914400" rtl="0">
              <a:lnSpc>
                <a:spcPct val="115000"/>
              </a:lnSpc>
              <a:spcBef>
                <a:spcPts val="1600"/>
              </a:spcBef>
              <a:spcAft>
                <a:spcPts val="0"/>
              </a:spcAft>
              <a:buSzPts val="1400"/>
              <a:buAutoNum type="alphaLcPeriod"/>
              <a:defRPr>
                <a:solidFill>
                  <a:srgbClr val="434343"/>
                </a:solidFill>
              </a:defRPr>
            </a:lvl2pPr>
            <a:lvl3pPr indent="-317500" lvl="2" marL="1371600" rtl="0">
              <a:lnSpc>
                <a:spcPct val="115000"/>
              </a:lnSpc>
              <a:spcBef>
                <a:spcPts val="1600"/>
              </a:spcBef>
              <a:spcAft>
                <a:spcPts val="0"/>
              </a:spcAft>
              <a:buSzPts val="1400"/>
              <a:buAutoNum type="romanLcPeriod"/>
              <a:defRPr>
                <a:solidFill>
                  <a:srgbClr val="434343"/>
                </a:solidFill>
              </a:defRPr>
            </a:lvl3pPr>
            <a:lvl4pPr indent="-317500" lvl="3" marL="1828800" rtl="0">
              <a:lnSpc>
                <a:spcPct val="115000"/>
              </a:lnSpc>
              <a:spcBef>
                <a:spcPts val="1600"/>
              </a:spcBef>
              <a:spcAft>
                <a:spcPts val="0"/>
              </a:spcAft>
              <a:buSzPts val="1400"/>
              <a:buAutoNum type="arabicPeriod"/>
              <a:defRPr>
                <a:solidFill>
                  <a:srgbClr val="434343"/>
                </a:solidFill>
              </a:defRPr>
            </a:lvl4pPr>
            <a:lvl5pPr indent="-317500" lvl="4" marL="2286000" rtl="0">
              <a:lnSpc>
                <a:spcPct val="115000"/>
              </a:lnSpc>
              <a:spcBef>
                <a:spcPts val="1600"/>
              </a:spcBef>
              <a:spcAft>
                <a:spcPts val="0"/>
              </a:spcAft>
              <a:buSzPts val="1400"/>
              <a:buAutoNum type="alphaLcPeriod"/>
              <a:defRPr>
                <a:solidFill>
                  <a:srgbClr val="434343"/>
                </a:solidFill>
              </a:defRPr>
            </a:lvl5pPr>
            <a:lvl6pPr indent="-317500" lvl="5" marL="2743200" rtl="0">
              <a:lnSpc>
                <a:spcPct val="115000"/>
              </a:lnSpc>
              <a:spcBef>
                <a:spcPts val="1600"/>
              </a:spcBef>
              <a:spcAft>
                <a:spcPts val="0"/>
              </a:spcAft>
              <a:buSzPts val="1400"/>
              <a:buAutoNum type="romanLcPeriod"/>
              <a:defRPr>
                <a:solidFill>
                  <a:srgbClr val="434343"/>
                </a:solidFill>
              </a:defRPr>
            </a:lvl6pPr>
            <a:lvl7pPr indent="-317500" lvl="6" marL="3200400" rtl="0">
              <a:lnSpc>
                <a:spcPct val="115000"/>
              </a:lnSpc>
              <a:spcBef>
                <a:spcPts val="1600"/>
              </a:spcBef>
              <a:spcAft>
                <a:spcPts val="0"/>
              </a:spcAft>
              <a:buSzPts val="1400"/>
              <a:buAutoNum type="arabicPeriod"/>
              <a:defRPr>
                <a:solidFill>
                  <a:srgbClr val="434343"/>
                </a:solidFill>
              </a:defRPr>
            </a:lvl7pPr>
            <a:lvl8pPr indent="-317500" lvl="7" marL="3657600" rtl="0">
              <a:lnSpc>
                <a:spcPct val="115000"/>
              </a:lnSpc>
              <a:spcBef>
                <a:spcPts val="1600"/>
              </a:spcBef>
              <a:spcAft>
                <a:spcPts val="0"/>
              </a:spcAft>
              <a:buSzPts val="1400"/>
              <a:buAutoNum type="alphaLcPeriod"/>
              <a:defRPr>
                <a:solidFill>
                  <a:srgbClr val="434343"/>
                </a:solidFill>
              </a:defRPr>
            </a:lvl8pPr>
            <a:lvl9pPr indent="-317500" lvl="8" marL="4114800" rtl="0">
              <a:lnSpc>
                <a:spcPct val="115000"/>
              </a:lnSpc>
              <a:spcBef>
                <a:spcPts val="1600"/>
              </a:spcBef>
              <a:spcAft>
                <a:spcPts val="1600"/>
              </a:spcAft>
              <a:buSzPts val="1400"/>
              <a:buAutoNum type="romanLcPeriod"/>
              <a:defRPr>
                <a:solidFill>
                  <a:srgbClr val="434343"/>
                </a:solidFill>
              </a:defRPr>
            </a:lvl9pPr>
          </a:lstStyle>
          <a:p/>
        </p:txBody>
      </p:sp>
      <p:sp>
        <p:nvSpPr>
          <p:cNvPr id="54" name="Google Shape;54;p7"/>
          <p:cNvSpPr txBox="1"/>
          <p:nvPr>
            <p:ph type="title"/>
          </p:nvPr>
        </p:nvSpPr>
        <p:spPr>
          <a:xfrm>
            <a:off x="720000" y="48235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p:nvPr>
            <p:ph idx="2" type="pic"/>
          </p:nvPr>
        </p:nvSpPr>
        <p:spPr>
          <a:xfrm>
            <a:off x="990900" y="1475407"/>
            <a:ext cx="2796600" cy="2741400"/>
          </a:xfrm>
          <a:prstGeom prst="rect">
            <a:avLst/>
          </a:prstGeom>
          <a:noFill/>
          <a:ln cap="flat" cmpd="sng" w="9525">
            <a:solidFill>
              <a:schemeClr val="dk1"/>
            </a:solidFill>
            <a:prstDash val="solid"/>
            <a:round/>
            <a:headEnd len="sm" w="sm" type="none"/>
            <a:tailEnd len="sm" w="sm" type="none"/>
          </a:ln>
        </p:spPr>
      </p:sp>
      <p:sp>
        <p:nvSpPr>
          <p:cNvPr id="56" name="Google Shape;56;p7"/>
          <p:cNvSpPr/>
          <p:nvPr/>
        </p:nvSpPr>
        <p:spPr>
          <a:xfrm rot="10800000">
            <a:off x="-583494" y="4052891"/>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flipH="1" rot="2919970">
            <a:off x="7411560" y="2953759"/>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rot="10800000">
            <a:off x="-659670" y="4121590"/>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flipH="1" rot="2919970">
            <a:off x="7561528" y="3039456"/>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flipH="1" rot="10800000">
            <a:off x="-845300" y="-462323"/>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rot="10800000">
            <a:off x="7032500" y="-509948"/>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 name="Shape 62"/>
        <p:cNvGrpSpPr/>
        <p:nvPr/>
      </p:nvGrpSpPr>
      <p:grpSpPr>
        <a:xfrm>
          <a:off x="0" y="0"/>
          <a:ext cx="0" cy="0"/>
          <a:chOff x="0" y="0"/>
          <a:chExt cx="0" cy="0"/>
        </a:xfrm>
      </p:grpSpPr>
      <p:sp>
        <p:nvSpPr>
          <p:cNvPr id="63" name="Google Shape;63;p8"/>
          <p:cNvSpPr/>
          <p:nvPr/>
        </p:nvSpPr>
        <p:spPr>
          <a:xfrm flipH="1" rot="10800000">
            <a:off x="-142350" y="80963"/>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flipH="1">
            <a:off x="7014368" y="330889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flipH="1" rot="10800000">
            <a:off x="-142349" y="3502823"/>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flipH="1" rot="10800000">
            <a:off x="-301525" y="-52387"/>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flipH="1">
            <a:off x="5944126" y="-176177"/>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a:off x="7173543" y="344224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9"/>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2" name="Google Shape;72;p9"/>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 name="Google Shape;73;p9"/>
          <p:cNvSpPr/>
          <p:nvPr/>
        </p:nvSpPr>
        <p:spPr>
          <a:xfrm>
            <a:off x="6446701" y="3638550"/>
            <a:ext cx="2773455" cy="150762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rot="22194">
            <a:off x="-353040" y="-265393"/>
            <a:ext cx="3463722" cy="18709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a:off x="-200025" y="4125013"/>
            <a:ext cx="1638143" cy="1243377"/>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rot="22221">
            <a:off x="-194185" y="-141951"/>
            <a:ext cx="3348426" cy="1824691"/>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rot="3908686">
            <a:off x="8242948" y="-144513"/>
            <a:ext cx="1638128" cy="1243366"/>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a:off x="6654894" y="3887374"/>
            <a:ext cx="2565240" cy="128596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10"/>
          <p:cNvSpPr txBox="1"/>
          <p:nvPr>
            <p:ph type="title"/>
          </p:nvPr>
        </p:nvSpPr>
        <p:spPr>
          <a:xfrm>
            <a:off x="713225" y="3460475"/>
            <a:ext cx="4611300" cy="1148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0"/>
          <p:cNvSpPr/>
          <p:nvPr/>
        </p:nvSpPr>
        <p:spPr>
          <a:xfrm rot="-219531">
            <a:off x="7193308" y="3486413"/>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rot="-219531">
            <a:off x="7297708" y="3572138"/>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flipH="1" rot="-5543251">
            <a:off x="-298935" y="-318264"/>
            <a:ext cx="2161186" cy="1992366"/>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11"/>
          <p:cNvSpPr txBox="1"/>
          <p:nvPr>
            <p:ph hasCustomPrompt="1" type="title"/>
          </p:nvPr>
        </p:nvSpPr>
        <p:spPr>
          <a:xfrm>
            <a:off x="1188300" y="1356488"/>
            <a:ext cx="6767400" cy="18858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4000">
                <a:solidFill>
                  <a:srgbClr val="10112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7" name="Google Shape;87;p11"/>
          <p:cNvSpPr/>
          <p:nvPr/>
        </p:nvSpPr>
        <p:spPr>
          <a:xfrm rot="10800000">
            <a:off x="-733809" y="-289591"/>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10635829">
            <a:off x="-889271" y="-356276"/>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flipH="1" rot="10800000">
            <a:off x="8210550" y="-398797"/>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flipH="1">
            <a:off x="-381" y="2963528"/>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a:off x="6982488" y="3344384"/>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rot="-164171">
            <a:off x="7137929" y="3411054"/>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3" name="Shape 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 name="Shape 94"/>
        <p:cNvGrpSpPr/>
        <p:nvPr/>
      </p:nvGrpSpPr>
      <p:grpSpPr>
        <a:xfrm>
          <a:off x="0" y="0"/>
          <a:ext cx="0" cy="0"/>
          <a:chOff x="0" y="0"/>
          <a:chExt cx="0" cy="0"/>
        </a:xfrm>
      </p:grpSpPr>
      <p:sp>
        <p:nvSpPr>
          <p:cNvPr id="95" name="Google Shape;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 name="Google Shape;96;p13"/>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 name="Google Shape;97;p13"/>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8" name="Google Shape;98;p13"/>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 name="Google Shape;99;p13"/>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 name="Google Shape;101;p13"/>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 name="Google Shape;102;p13"/>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 name="Google Shape;103;p13"/>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4" name="Google Shape;104;p13"/>
          <p:cNvSpPr txBox="1"/>
          <p:nvPr>
            <p:ph hasCustomPrompt="1" idx="9" type="title"/>
          </p:nvPr>
        </p:nvSpPr>
        <p:spPr>
          <a:xfrm>
            <a:off x="4749503" y="1627829"/>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5" name="Google Shape;105;p13"/>
          <p:cNvSpPr txBox="1"/>
          <p:nvPr>
            <p:ph hasCustomPrompt="1" idx="13" type="title"/>
          </p:nvPr>
        </p:nvSpPr>
        <p:spPr>
          <a:xfrm>
            <a:off x="4749503" y="3292037"/>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3"/>
          <p:cNvSpPr txBox="1"/>
          <p:nvPr>
            <p:ph hasCustomPrompt="1" idx="14" type="title"/>
          </p:nvPr>
        </p:nvSpPr>
        <p:spPr>
          <a:xfrm>
            <a:off x="776803" y="1628802"/>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7" name="Google Shape;107;p13"/>
          <p:cNvSpPr txBox="1"/>
          <p:nvPr>
            <p:ph hasCustomPrompt="1" idx="15" type="title"/>
          </p:nvPr>
        </p:nvSpPr>
        <p:spPr>
          <a:xfrm>
            <a:off x="776803" y="3291053"/>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8" name="Google Shape;108;p13"/>
          <p:cNvSpPr/>
          <p:nvPr/>
        </p:nvSpPr>
        <p:spPr>
          <a:xfrm flipH="1" rot="-4417560">
            <a:off x="-491850" y="3940772"/>
            <a:ext cx="1758370" cy="1660495"/>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flipH="1" rot="-4417555">
            <a:off x="-453576" y="4111131"/>
            <a:ext cx="1557874" cy="1471167"/>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rot="-151101">
            <a:off x="7229070" y="4059960"/>
            <a:ext cx="2403424" cy="1227601"/>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rot="10800000">
            <a:off x="-72875" y="-19689"/>
            <a:ext cx="1806450" cy="90551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rot="432445">
            <a:off x="7139565" y="-62157"/>
            <a:ext cx="2076015" cy="99042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rot="432385">
            <a:off x="7319513" y="-130495"/>
            <a:ext cx="1975419" cy="942437"/>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14" name="Shape 114"/>
        <p:cNvGrpSpPr/>
        <p:nvPr/>
      </p:nvGrpSpPr>
      <p:grpSpPr>
        <a:xfrm>
          <a:off x="0" y="0"/>
          <a:ext cx="0" cy="0"/>
          <a:chOff x="0" y="0"/>
          <a:chExt cx="0" cy="0"/>
        </a:xfrm>
      </p:grpSpPr>
      <p:sp>
        <p:nvSpPr>
          <p:cNvPr id="115" name="Google Shape;115;p14"/>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4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6" name="Google Shape;116;p14"/>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7" name="Google Shape;117;p14"/>
          <p:cNvSpPr/>
          <p:nvPr/>
        </p:nvSpPr>
        <p:spPr>
          <a:xfrm flipH="1" rot="-5260772">
            <a:off x="7345280" y="35357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flipH="1" rot="-5125085">
            <a:off x="-1303001" y="855254"/>
            <a:ext cx="3174892" cy="964198"/>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flipH="1" rot="10800000">
            <a:off x="7022550" y="-31944"/>
            <a:ext cx="2121461" cy="106341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flipH="1" rot="-5400000">
            <a:off x="7503631" y="35031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flipH="1" rot="-5071491">
            <a:off x="-1394969" y="842944"/>
            <a:ext cx="3174976" cy="964224"/>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flipH="1">
            <a:off x="-15" y="4183619"/>
            <a:ext cx="1914914" cy="95988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3" name="Shape 123"/>
        <p:cNvGrpSpPr/>
        <p:nvPr/>
      </p:nvGrpSpPr>
      <p:grpSpPr>
        <a:xfrm>
          <a:off x="0" y="0"/>
          <a:ext cx="0" cy="0"/>
          <a:chOff x="0" y="0"/>
          <a:chExt cx="0" cy="0"/>
        </a:xfrm>
      </p:grpSpPr>
      <p:sp>
        <p:nvSpPr>
          <p:cNvPr id="124" name="Google Shape;124;p15"/>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5" name="Google Shape;125;p15"/>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
        <p:nvSpPr>
          <p:cNvPr id="126" name="Google Shape;126;p15"/>
          <p:cNvSpPr/>
          <p:nvPr/>
        </p:nvSpPr>
        <p:spPr>
          <a:xfrm flipH="1" rot="10800000">
            <a:off x="52225" y="3125777"/>
            <a:ext cx="3409984" cy="1849223"/>
          </a:xfrm>
          <a:custGeom>
            <a:rect b="b" l="l" r="r" t="t"/>
            <a:pathLst>
              <a:path extrusionOk="0" fill="none" h="22546" w="41031">
                <a:moveTo>
                  <a:pt x="1522" y="20961"/>
                </a:moveTo>
                <a:cubicBezTo>
                  <a:pt x="3156" y="22293"/>
                  <a:pt x="5591" y="22545"/>
                  <a:pt x="7464" y="21577"/>
                </a:cubicBezTo>
                <a:cubicBezTo>
                  <a:pt x="9336" y="20609"/>
                  <a:pt x="10540" y="18476"/>
                  <a:pt x="10399" y="16373"/>
                </a:cubicBezTo>
                <a:cubicBezTo>
                  <a:pt x="10306" y="14998"/>
                  <a:pt x="9703" y="13719"/>
                  <a:pt x="9278" y="12408"/>
                </a:cubicBezTo>
                <a:cubicBezTo>
                  <a:pt x="8854" y="11096"/>
                  <a:pt x="8620" y="9611"/>
                  <a:pt x="9239" y="8379"/>
                </a:cubicBezTo>
                <a:cubicBezTo>
                  <a:pt x="10077" y="6715"/>
                  <a:pt x="12219" y="6101"/>
                  <a:pt x="14068" y="6342"/>
                </a:cubicBezTo>
                <a:cubicBezTo>
                  <a:pt x="15919" y="6585"/>
                  <a:pt x="17608" y="7475"/>
                  <a:pt x="19369" y="8088"/>
                </a:cubicBezTo>
                <a:cubicBezTo>
                  <a:pt x="21130" y="8702"/>
                  <a:pt x="23156" y="9018"/>
                  <a:pt x="24802" y="8142"/>
                </a:cubicBezTo>
                <a:cubicBezTo>
                  <a:pt x="26425" y="7281"/>
                  <a:pt x="27390" y="5408"/>
                  <a:pt x="29111" y="4761"/>
                </a:cubicBezTo>
                <a:cubicBezTo>
                  <a:pt x="31986" y="3678"/>
                  <a:pt x="35239" y="6563"/>
                  <a:pt x="38119" y="5498"/>
                </a:cubicBezTo>
                <a:cubicBezTo>
                  <a:pt x="40200" y="4730"/>
                  <a:pt x="41030" y="1731"/>
                  <a:pt x="39642" y="1"/>
                </a:cubicBezTo>
                <a:lnTo>
                  <a:pt x="1" y="1"/>
                </a:lnTo>
                <a:close/>
              </a:path>
            </a:pathLst>
          </a:custGeom>
          <a:noFill/>
          <a:ln cap="flat" cmpd="sng" w="9525">
            <a:solidFill>
              <a:srgbClr val="000000"/>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flipH="1" rot="10800000">
            <a:off x="6315075" y="-363453"/>
            <a:ext cx="2847986" cy="2295503"/>
          </a:xfrm>
          <a:custGeom>
            <a:rect b="b" l="l" r="r" t="t"/>
            <a:pathLst>
              <a:path extrusionOk="0" fill="none" h="22411" w="31568">
                <a:moveTo>
                  <a:pt x="2049" y="20154"/>
                </a:moveTo>
                <a:cubicBezTo>
                  <a:pt x="662" y="19435"/>
                  <a:pt x="1" y="17677"/>
                  <a:pt x="319" y="16148"/>
                </a:cubicBezTo>
                <a:cubicBezTo>
                  <a:pt x="635" y="14618"/>
                  <a:pt x="1787" y="13351"/>
                  <a:pt x="3166" y="12616"/>
                </a:cubicBezTo>
                <a:cubicBezTo>
                  <a:pt x="4546" y="11883"/>
                  <a:pt x="6132" y="11627"/>
                  <a:pt x="7694" y="11574"/>
                </a:cubicBezTo>
                <a:cubicBezTo>
                  <a:pt x="9995" y="11499"/>
                  <a:pt x="12289" y="11837"/>
                  <a:pt x="14470" y="12575"/>
                </a:cubicBezTo>
                <a:cubicBezTo>
                  <a:pt x="17147" y="13484"/>
                  <a:pt x="19932" y="15009"/>
                  <a:pt x="22633" y="14173"/>
                </a:cubicBezTo>
                <a:cubicBezTo>
                  <a:pt x="25092" y="13413"/>
                  <a:pt x="26665" y="10527"/>
                  <a:pt x="25971" y="8050"/>
                </a:cubicBezTo>
                <a:cubicBezTo>
                  <a:pt x="25469" y="6257"/>
                  <a:pt x="23965" y="4623"/>
                  <a:pt x="24358" y="2804"/>
                </a:cubicBezTo>
                <a:cubicBezTo>
                  <a:pt x="24655" y="1431"/>
                  <a:pt x="26013" y="493"/>
                  <a:pt x="27397" y="247"/>
                </a:cubicBezTo>
                <a:cubicBezTo>
                  <a:pt x="28780" y="1"/>
                  <a:pt x="30197" y="308"/>
                  <a:pt x="31568" y="612"/>
                </a:cubicBezTo>
                <a:lnTo>
                  <a:pt x="31568" y="21141"/>
                </a:lnTo>
                <a:cubicBezTo>
                  <a:pt x="31568" y="21141"/>
                  <a:pt x="1055" y="22411"/>
                  <a:pt x="1153" y="22020"/>
                </a:cubicBezTo>
                <a:cubicBezTo>
                  <a:pt x="1250" y="21629"/>
                  <a:pt x="2049" y="20154"/>
                  <a:pt x="2049" y="20154"/>
                </a:cubicBezTo>
                <a:close/>
              </a:path>
            </a:pathLst>
          </a:custGeom>
          <a:no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flipH="1" rot="-10612389">
            <a:off x="6391285" y="-342952"/>
            <a:ext cx="2902342" cy="2016966"/>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flipH="1" rot="10800000">
            <a:off x="-163450" y="3125775"/>
            <a:ext cx="3841331" cy="207486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30" name="Shape 130"/>
        <p:cNvGrpSpPr/>
        <p:nvPr/>
      </p:nvGrpSpPr>
      <p:grpSpPr>
        <a:xfrm>
          <a:off x="0" y="0"/>
          <a:ext cx="0" cy="0"/>
          <a:chOff x="0" y="0"/>
          <a:chExt cx="0" cy="0"/>
        </a:xfrm>
      </p:grpSpPr>
      <p:sp>
        <p:nvSpPr>
          <p:cNvPr id="131" name="Google Shape;1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6"/>
          <p:cNvSpPr/>
          <p:nvPr/>
        </p:nvSpPr>
        <p:spPr>
          <a:xfrm>
            <a:off x="-98300" y="-38100"/>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flipH="1" rot="10800000">
            <a:off x="-71049" y="3879708"/>
            <a:ext cx="1615073" cy="1289067"/>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flipH="1">
            <a:off x="7646475" y="0"/>
            <a:ext cx="1568585" cy="1251963"/>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rot="10800000">
            <a:off x="7124525" y="4013575"/>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flipH="1" rot="10800000">
            <a:off x="32390" y="3979361"/>
            <a:ext cx="1442543" cy="1084958"/>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flipH="1">
            <a:off x="7681975" y="99117"/>
            <a:ext cx="1401039" cy="1053745"/>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38" name="Shape 138"/>
        <p:cNvGrpSpPr/>
        <p:nvPr/>
      </p:nvGrpSpPr>
      <p:grpSpPr>
        <a:xfrm>
          <a:off x="0" y="0"/>
          <a:ext cx="0" cy="0"/>
          <a:chOff x="0" y="0"/>
          <a:chExt cx="0" cy="0"/>
        </a:xfrm>
      </p:grpSpPr>
      <p:sp>
        <p:nvSpPr>
          <p:cNvPr id="139" name="Google Shape;139;p17"/>
          <p:cNvSpPr txBox="1"/>
          <p:nvPr>
            <p:ph type="title"/>
          </p:nvPr>
        </p:nvSpPr>
        <p:spPr>
          <a:xfrm>
            <a:off x="1237676" y="1191713"/>
            <a:ext cx="3166200" cy="174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0" name="Google Shape;140;p17"/>
          <p:cNvSpPr txBox="1"/>
          <p:nvPr>
            <p:ph idx="1" type="subTitle"/>
          </p:nvPr>
        </p:nvSpPr>
        <p:spPr>
          <a:xfrm>
            <a:off x="1237676" y="3088688"/>
            <a:ext cx="3166200" cy="863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1" name="Google Shape;141;p17"/>
          <p:cNvSpPr/>
          <p:nvPr>
            <p:ph idx="2" type="pic"/>
          </p:nvPr>
        </p:nvSpPr>
        <p:spPr>
          <a:xfrm>
            <a:off x="5048826" y="693613"/>
            <a:ext cx="2857500" cy="3756300"/>
          </a:xfrm>
          <a:prstGeom prst="rect">
            <a:avLst/>
          </a:prstGeom>
          <a:noFill/>
          <a:ln cap="flat" cmpd="sng" w="9525">
            <a:solidFill>
              <a:schemeClr val="dk1"/>
            </a:solidFill>
            <a:prstDash val="solid"/>
            <a:round/>
            <a:headEnd len="sm" w="sm" type="none"/>
            <a:tailEnd len="sm" w="sm" type="none"/>
          </a:ln>
        </p:spPr>
      </p:sp>
      <p:sp>
        <p:nvSpPr>
          <p:cNvPr id="142" name="Google Shape;142;p17"/>
          <p:cNvSpPr/>
          <p:nvPr/>
        </p:nvSpPr>
        <p:spPr>
          <a:xfrm rot="5260772">
            <a:off x="-382382" y="35756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rot="5396840">
            <a:off x="6967876" y="1935319"/>
            <a:ext cx="4207479" cy="1277789"/>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rot="10800000">
            <a:off x="-42" y="-1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rot="5400000">
            <a:off x="-557681" y="35430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rot="5343115">
            <a:off x="7090702" y="1928657"/>
            <a:ext cx="4207473" cy="1277787"/>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47" name="Shape 147"/>
        <p:cNvGrpSpPr/>
        <p:nvPr/>
      </p:nvGrpSpPr>
      <p:grpSpPr>
        <a:xfrm>
          <a:off x="0" y="0"/>
          <a:ext cx="0" cy="0"/>
          <a:chOff x="0" y="0"/>
          <a:chExt cx="0" cy="0"/>
        </a:xfrm>
      </p:grpSpPr>
      <p:sp>
        <p:nvSpPr>
          <p:cNvPr id="148" name="Google Shape;148;p18"/>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6933615"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flipH="1">
            <a:off x="-33937"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txBox="1"/>
          <p:nvPr>
            <p:ph type="title"/>
          </p:nvPr>
        </p:nvSpPr>
        <p:spPr>
          <a:xfrm>
            <a:off x="1181513" y="1586488"/>
            <a:ext cx="2441400" cy="65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5" name="Google Shape;155;p18"/>
          <p:cNvSpPr txBox="1"/>
          <p:nvPr>
            <p:ph idx="1" type="subTitle"/>
          </p:nvPr>
        </p:nvSpPr>
        <p:spPr>
          <a:xfrm>
            <a:off x="1181513" y="2314713"/>
            <a:ext cx="2440800" cy="124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56" name="Shape 156"/>
        <p:cNvGrpSpPr/>
        <p:nvPr/>
      </p:nvGrpSpPr>
      <p:grpSpPr>
        <a:xfrm>
          <a:off x="0" y="0"/>
          <a:ext cx="0" cy="0"/>
          <a:chOff x="0" y="0"/>
          <a:chExt cx="0" cy="0"/>
        </a:xfrm>
      </p:grpSpPr>
      <p:sp>
        <p:nvSpPr>
          <p:cNvPr id="157" name="Google Shape;157;p19"/>
          <p:cNvSpPr/>
          <p:nvPr/>
        </p:nvSpPr>
        <p:spPr>
          <a:xfrm flipH="1" rot="10800000">
            <a:off x="7095225" y="1131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flipH="1" rot="10800000">
            <a:off x="0" y="3521908"/>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rot="10800000">
            <a:off x="7064263"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87810"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10800000">
            <a:off x="6933615"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41937"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64" name="Google Shape;16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65" name="Shape 165"/>
        <p:cNvGrpSpPr/>
        <p:nvPr/>
      </p:nvGrpSpPr>
      <p:grpSpPr>
        <a:xfrm>
          <a:off x="0" y="0"/>
          <a:ext cx="0" cy="0"/>
          <a:chOff x="0" y="0"/>
          <a:chExt cx="0" cy="0"/>
        </a:xfrm>
      </p:grpSpPr>
      <p:sp>
        <p:nvSpPr>
          <p:cNvPr id="166" name="Google Shape;166;p20"/>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200"/>
              <a:buChar char="■"/>
              <a:defRPr/>
            </a:lvl1pPr>
            <a:lvl2pPr lvl="1" rtl="0" algn="ctr">
              <a:lnSpc>
                <a:spcPct val="100000"/>
              </a:lnSpc>
              <a:spcBef>
                <a:spcPts val="0"/>
              </a:spcBef>
              <a:spcAft>
                <a:spcPts val="0"/>
              </a:spcAft>
              <a:buClr>
                <a:srgbClr val="434343"/>
              </a:buClr>
              <a:buSzPts val="1200"/>
              <a:buFont typeface="Roboto Condensed Light"/>
              <a:buChar char="○"/>
              <a:defRPr/>
            </a:lvl2pPr>
            <a:lvl3pPr lvl="2" rtl="0" algn="ctr">
              <a:lnSpc>
                <a:spcPct val="100000"/>
              </a:lnSpc>
              <a:spcBef>
                <a:spcPts val="1600"/>
              </a:spcBef>
              <a:spcAft>
                <a:spcPts val="0"/>
              </a:spcAft>
              <a:buClr>
                <a:srgbClr val="434343"/>
              </a:buClr>
              <a:buSzPts val="1200"/>
              <a:buFont typeface="Roboto Condensed Light"/>
              <a:buChar char="■"/>
              <a:defRPr/>
            </a:lvl3pPr>
            <a:lvl4pPr lvl="3" rtl="0" algn="ctr">
              <a:lnSpc>
                <a:spcPct val="100000"/>
              </a:lnSpc>
              <a:spcBef>
                <a:spcPts val="1600"/>
              </a:spcBef>
              <a:spcAft>
                <a:spcPts val="0"/>
              </a:spcAft>
              <a:buClr>
                <a:srgbClr val="434343"/>
              </a:buClr>
              <a:buSzPts val="1200"/>
              <a:buFont typeface="Roboto Condensed Light"/>
              <a:buChar char="●"/>
              <a:defRPr/>
            </a:lvl4pPr>
            <a:lvl5pPr lvl="4" rtl="0" algn="ctr">
              <a:lnSpc>
                <a:spcPct val="100000"/>
              </a:lnSpc>
              <a:spcBef>
                <a:spcPts val="1600"/>
              </a:spcBef>
              <a:spcAft>
                <a:spcPts val="0"/>
              </a:spcAft>
              <a:buClr>
                <a:srgbClr val="434343"/>
              </a:buClr>
              <a:buSzPts val="1200"/>
              <a:buFont typeface="Roboto Condensed Light"/>
              <a:buChar char="○"/>
              <a:defRPr/>
            </a:lvl5pPr>
            <a:lvl6pPr lvl="5" rtl="0" algn="ctr">
              <a:lnSpc>
                <a:spcPct val="100000"/>
              </a:lnSpc>
              <a:spcBef>
                <a:spcPts val="1600"/>
              </a:spcBef>
              <a:spcAft>
                <a:spcPts val="0"/>
              </a:spcAft>
              <a:buClr>
                <a:srgbClr val="434343"/>
              </a:buClr>
              <a:buSzPts val="1200"/>
              <a:buFont typeface="Roboto Condensed Light"/>
              <a:buChar char="■"/>
              <a:defRPr/>
            </a:lvl6pPr>
            <a:lvl7pPr lvl="6" rtl="0" algn="ctr">
              <a:lnSpc>
                <a:spcPct val="100000"/>
              </a:lnSpc>
              <a:spcBef>
                <a:spcPts val="1600"/>
              </a:spcBef>
              <a:spcAft>
                <a:spcPts val="0"/>
              </a:spcAft>
              <a:buClr>
                <a:srgbClr val="434343"/>
              </a:buClr>
              <a:buSzPts val="1200"/>
              <a:buFont typeface="Roboto Condensed Light"/>
              <a:buChar char="●"/>
              <a:defRPr/>
            </a:lvl7pPr>
            <a:lvl8pPr lvl="7" rtl="0" algn="ctr">
              <a:lnSpc>
                <a:spcPct val="100000"/>
              </a:lnSpc>
              <a:spcBef>
                <a:spcPts val="1600"/>
              </a:spcBef>
              <a:spcAft>
                <a:spcPts val="0"/>
              </a:spcAft>
              <a:buClr>
                <a:srgbClr val="434343"/>
              </a:buClr>
              <a:buSzPts val="1200"/>
              <a:buFont typeface="Roboto Condensed Light"/>
              <a:buChar char="○"/>
              <a:defRPr/>
            </a:lvl8pPr>
            <a:lvl9pPr lvl="8" rtl="0" algn="ctr">
              <a:lnSpc>
                <a:spcPct val="100000"/>
              </a:lnSpc>
              <a:spcBef>
                <a:spcPts val="1600"/>
              </a:spcBef>
              <a:spcAft>
                <a:spcPts val="1600"/>
              </a:spcAft>
              <a:buClr>
                <a:srgbClr val="434343"/>
              </a:buClr>
              <a:buSzPts val="1200"/>
              <a:buFont typeface="Roboto Condensed Light"/>
              <a:buChar char="■"/>
              <a:defRPr/>
            </a:lvl9pPr>
          </a:lstStyle>
          <a:p/>
        </p:txBody>
      </p:sp>
      <p:sp>
        <p:nvSpPr>
          <p:cNvPr id="171" name="Google Shape;171;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2" name="Shape 172"/>
        <p:cNvGrpSpPr/>
        <p:nvPr/>
      </p:nvGrpSpPr>
      <p:grpSpPr>
        <a:xfrm>
          <a:off x="0" y="0"/>
          <a:ext cx="0" cy="0"/>
          <a:chOff x="0" y="0"/>
          <a:chExt cx="0" cy="0"/>
        </a:xfrm>
      </p:grpSpPr>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21"/>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1"/>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6" name="Google Shape;176;p21"/>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7" name="Google Shape;177;p21"/>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1"/>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9" name="Google Shape;179;p21"/>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0" name="Google Shape;180;p21"/>
          <p:cNvSpPr/>
          <p:nvPr/>
        </p:nvSpPr>
        <p:spPr>
          <a:xfrm flipH="1" rot="-5400000">
            <a:off x="-420649" y="33694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flipH="1" rot="-5400000">
            <a:off x="-681950" y="283425"/>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rot="-5191632">
            <a:off x="7126284" y="3909003"/>
            <a:ext cx="2837559" cy="144928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3" name="Shape 183"/>
        <p:cNvGrpSpPr/>
        <p:nvPr/>
      </p:nvGrpSpPr>
      <p:grpSpPr>
        <a:xfrm>
          <a:off x="0" y="0"/>
          <a:ext cx="0" cy="0"/>
          <a:chOff x="0" y="0"/>
          <a:chExt cx="0" cy="0"/>
        </a:xfrm>
      </p:grpSpPr>
      <p:sp>
        <p:nvSpPr>
          <p:cNvPr id="184" name="Google Shape;184;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2"/>
          <p:cNvSpPr txBox="1"/>
          <p:nvPr>
            <p:ph idx="2" type="title"/>
          </p:nvPr>
        </p:nvSpPr>
        <p:spPr>
          <a:xfrm>
            <a:off x="937700"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6" name="Google Shape;186;p22"/>
          <p:cNvSpPr txBox="1"/>
          <p:nvPr>
            <p:ph idx="1" type="subTitle"/>
          </p:nvPr>
        </p:nvSpPr>
        <p:spPr>
          <a:xfrm>
            <a:off x="93770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7" name="Google Shape;187;p22"/>
          <p:cNvSpPr txBox="1"/>
          <p:nvPr>
            <p:ph idx="3" type="title"/>
          </p:nvPr>
        </p:nvSpPr>
        <p:spPr>
          <a:xfrm>
            <a:off x="3484421"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2"/>
          <p:cNvSpPr txBox="1"/>
          <p:nvPr>
            <p:ph idx="4" type="subTitle"/>
          </p:nvPr>
        </p:nvSpPr>
        <p:spPr>
          <a:xfrm>
            <a:off x="3484422"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2"/>
          <p:cNvSpPr txBox="1"/>
          <p:nvPr>
            <p:ph idx="5" type="title"/>
          </p:nvPr>
        </p:nvSpPr>
        <p:spPr>
          <a:xfrm>
            <a:off x="6031149"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2"/>
          <p:cNvSpPr txBox="1"/>
          <p:nvPr>
            <p:ph idx="6" type="subTitle"/>
          </p:nvPr>
        </p:nvSpPr>
        <p:spPr>
          <a:xfrm>
            <a:off x="603115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2"/>
          <p:cNvSpPr/>
          <p:nvPr/>
        </p:nvSpPr>
        <p:spPr>
          <a:xfrm rot="5621492">
            <a:off x="570643" y="3463388"/>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rot="10302847">
            <a:off x="6503240" y="4492486"/>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p:nvPr/>
        </p:nvSpPr>
        <p:spPr>
          <a:xfrm rot="-7154837">
            <a:off x="2812562" y="-2346136"/>
            <a:ext cx="3027667" cy="392692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rot="5400000">
            <a:off x="570639" y="3639491"/>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rot="10302847">
            <a:off x="6547615" y="4598961"/>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96" name="Shape 196"/>
        <p:cNvGrpSpPr/>
        <p:nvPr/>
      </p:nvGrpSpPr>
      <p:grpSpPr>
        <a:xfrm>
          <a:off x="0" y="0"/>
          <a:ext cx="0" cy="0"/>
          <a:chOff x="0" y="0"/>
          <a:chExt cx="0" cy="0"/>
        </a:xfrm>
      </p:grpSpPr>
      <p:sp>
        <p:nvSpPr>
          <p:cNvPr id="197" name="Google Shape;197;p23"/>
          <p:cNvSpPr/>
          <p:nvPr/>
        </p:nvSpPr>
        <p:spPr>
          <a:xfrm rot="8568211">
            <a:off x="-1213648" y="115517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9360838">
            <a:off x="8004434" y="-80124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rot="9360838">
            <a:off x="8158514" y="-83675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rot="8568211">
            <a:off x="-1355201" y="120073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3"/>
          <p:cNvSpPr txBox="1"/>
          <p:nvPr>
            <p:ph idx="2" type="title"/>
          </p:nvPr>
        </p:nvSpPr>
        <p:spPr>
          <a:xfrm>
            <a:off x="937700" y="2303594"/>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3" name="Google Shape;203;p23"/>
          <p:cNvSpPr txBox="1"/>
          <p:nvPr>
            <p:ph idx="1" type="subTitle"/>
          </p:nvPr>
        </p:nvSpPr>
        <p:spPr>
          <a:xfrm>
            <a:off x="937700" y="2637278"/>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23"/>
          <p:cNvSpPr txBox="1"/>
          <p:nvPr>
            <p:ph idx="3" type="title"/>
          </p:nvPr>
        </p:nvSpPr>
        <p:spPr>
          <a:xfrm>
            <a:off x="3534150" y="2760796"/>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5" name="Google Shape;205;p23"/>
          <p:cNvSpPr txBox="1"/>
          <p:nvPr>
            <p:ph idx="4" type="subTitle"/>
          </p:nvPr>
        </p:nvSpPr>
        <p:spPr>
          <a:xfrm>
            <a:off x="3534150" y="3094477"/>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6" name="Google Shape;206;p23"/>
          <p:cNvSpPr txBox="1"/>
          <p:nvPr>
            <p:ph idx="5" type="title"/>
          </p:nvPr>
        </p:nvSpPr>
        <p:spPr>
          <a:xfrm>
            <a:off x="6131045" y="3217417"/>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7" name="Google Shape;207;p23"/>
          <p:cNvSpPr txBox="1"/>
          <p:nvPr>
            <p:ph idx="6" type="subTitle"/>
          </p:nvPr>
        </p:nvSpPr>
        <p:spPr>
          <a:xfrm>
            <a:off x="6131047" y="3551101"/>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23"/>
          <p:cNvSpPr txBox="1"/>
          <p:nvPr>
            <p:ph hasCustomPrompt="1" idx="7" type="title"/>
          </p:nvPr>
        </p:nvSpPr>
        <p:spPr>
          <a:xfrm>
            <a:off x="4206300" y="18402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9" name="Google Shape;209;p23"/>
          <p:cNvSpPr txBox="1"/>
          <p:nvPr>
            <p:ph hasCustomPrompt="1" idx="8" type="title"/>
          </p:nvPr>
        </p:nvSpPr>
        <p:spPr>
          <a:xfrm>
            <a:off x="1609404" y="13830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0" name="Google Shape;210;p23"/>
          <p:cNvSpPr txBox="1"/>
          <p:nvPr>
            <p:ph hasCustomPrompt="1" idx="9" type="title"/>
          </p:nvPr>
        </p:nvSpPr>
        <p:spPr>
          <a:xfrm>
            <a:off x="6803196" y="22974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1" name="Google Shape;211;p23"/>
          <p:cNvSpPr/>
          <p:nvPr/>
        </p:nvSpPr>
        <p:spPr>
          <a:xfrm flipH="1" rot="-8714582">
            <a:off x="8348112" y="4307438"/>
            <a:ext cx="2011487" cy="1526751"/>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2" name="Shape 212"/>
        <p:cNvGrpSpPr/>
        <p:nvPr/>
      </p:nvGrpSpPr>
      <p:grpSpPr>
        <a:xfrm>
          <a:off x="0" y="0"/>
          <a:ext cx="0" cy="0"/>
          <a:chOff x="0" y="0"/>
          <a:chExt cx="0" cy="0"/>
        </a:xfrm>
      </p:grpSpPr>
      <p:sp>
        <p:nvSpPr>
          <p:cNvPr id="213" name="Google Shape;21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4"/>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 name="Google Shape;215;p24"/>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6" name="Google Shape;216;p24"/>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7" name="Google Shape;217;p24"/>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8" name="Google Shape;218;p24"/>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 name="Google Shape;219;p24"/>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4"/>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 name="Google Shape;221;p24"/>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2" name="Google Shape;222;p24"/>
          <p:cNvSpPr/>
          <p:nvPr/>
        </p:nvSpPr>
        <p:spPr>
          <a:xfrm flipH="1" rot="2141257">
            <a:off x="-1002536" y="1129456"/>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flipH="1" rot="2141257">
            <a:off x="-1154792" y="1136089"/>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flipH="1" rot="10800000">
            <a:off x="7145155" y="4296005"/>
            <a:ext cx="2040904" cy="973678"/>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rot="-3756494">
            <a:off x="7924244" y="-778526"/>
            <a:ext cx="1504447" cy="1903366"/>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6" name="Shape 226"/>
        <p:cNvGrpSpPr/>
        <p:nvPr/>
      </p:nvGrpSpPr>
      <p:grpSpPr>
        <a:xfrm>
          <a:off x="0" y="0"/>
          <a:ext cx="0" cy="0"/>
          <a:chOff x="0" y="0"/>
          <a:chExt cx="0" cy="0"/>
        </a:xfrm>
      </p:grpSpPr>
      <p:sp>
        <p:nvSpPr>
          <p:cNvPr id="227" name="Google Shape;22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8" name="Google Shape;228;p25"/>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 name="Google Shape;229;p25"/>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5"/>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1" name="Google Shape;231;p25"/>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2" name="Google Shape;232;p25"/>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 name="Google Shape;233;p25"/>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 name="Google Shape;234;p25"/>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 name="Google Shape;235;p25"/>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25"/>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7" name="Google Shape;237;p25"/>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25"/>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 name="Google Shape;239;p25"/>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0" name="Google Shape;240;p25"/>
          <p:cNvSpPr/>
          <p:nvPr/>
        </p:nvSpPr>
        <p:spPr>
          <a:xfrm flipH="1" rot="5400000">
            <a:off x="341743" y="-725452"/>
            <a:ext cx="838203" cy="219383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flipH="1" rot="419070">
            <a:off x="7601986" y="4529899"/>
            <a:ext cx="2617957" cy="1021462"/>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5400000">
            <a:off x="355282" y="-720584"/>
            <a:ext cx="715896" cy="198211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7516470" y="-196247"/>
            <a:ext cx="1828619" cy="933445"/>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flipH="1" rot="503382">
            <a:off x="7744536" y="4667224"/>
            <a:ext cx="2332854" cy="933450"/>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rot="-100">
            <a:off x="-1170862" y="4608599"/>
            <a:ext cx="2332892" cy="933447"/>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6" name="Shape 246"/>
        <p:cNvGrpSpPr/>
        <p:nvPr/>
      </p:nvGrpSpPr>
      <p:grpSpPr>
        <a:xfrm>
          <a:off x="0" y="0"/>
          <a:ext cx="0" cy="0"/>
          <a:chOff x="0" y="0"/>
          <a:chExt cx="0" cy="0"/>
        </a:xfrm>
      </p:grpSpPr>
      <p:sp>
        <p:nvSpPr>
          <p:cNvPr id="247" name="Google Shape;247;p26"/>
          <p:cNvSpPr txBox="1"/>
          <p:nvPr>
            <p:ph hasCustomPrompt="1" type="title"/>
          </p:nvPr>
        </p:nvSpPr>
        <p:spPr>
          <a:xfrm>
            <a:off x="12892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 name="Google Shape;248;p26"/>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9" name="Google Shape;249;p26"/>
          <p:cNvSpPr txBox="1"/>
          <p:nvPr>
            <p:ph hasCustomPrompt="1" idx="2" type="title"/>
          </p:nvPr>
        </p:nvSpPr>
        <p:spPr>
          <a:xfrm>
            <a:off x="388620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0" name="Google Shape;250;p26"/>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1" name="Google Shape;251;p26"/>
          <p:cNvSpPr txBox="1"/>
          <p:nvPr>
            <p:ph hasCustomPrompt="1" idx="4" type="title"/>
          </p:nvPr>
        </p:nvSpPr>
        <p:spPr>
          <a:xfrm>
            <a:off x="64831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2" name="Google Shape;252;p26"/>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 name="Google Shape;253;p2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p:nvPr/>
        </p:nvSpPr>
        <p:spPr>
          <a:xfrm rot="-5400000">
            <a:off x="-420649" y="327450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rot="-5400000">
            <a:off x="-681950" y="3354351"/>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rot="5400000">
            <a:off x="6998014" y="335491"/>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rot="5400000">
            <a:off x="7034265" y="281967"/>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9" name="Google Shape;259;p26"/>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0" name="Google Shape;260;p26"/>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61" name="Shape 261"/>
        <p:cNvGrpSpPr/>
        <p:nvPr/>
      </p:nvGrpSpPr>
      <p:grpSpPr>
        <a:xfrm>
          <a:off x="0" y="0"/>
          <a:ext cx="0" cy="0"/>
          <a:chOff x="0" y="0"/>
          <a:chExt cx="0" cy="0"/>
        </a:xfrm>
      </p:grpSpPr>
      <p:sp>
        <p:nvSpPr>
          <p:cNvPr id="262" name="Google Shape;262;p27"/>
          <p:cNvSpPr txBox="1"/>
          <p:nvPr>
            <p:ph type="title"/>
          </p:nvPr>
        </p:nvSpPr>
        <p:spPr>
          <a:xfrm>
            <a:off x="2698350" y="539500"/>
            <a:ext cx="3747300" cy="85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 name="Google Shape;263;p27"/>
          <p:cNvSpPr txBox="1"/>
          <p:nvPr>
            <p:ph idx="1" type="subTitle"/>
          </p:nvPr>
        </p:nvSpPr>
        <p:spPr>
          <a:xfrm>
            <a:off x="2698350" y="1452625"/>
            <a:ext cx="3747300" cy="142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4" name="Google Shape;264;p27"/>
          <p:cNvSpPr/>
          <p:nvPr/>
        </p:nvSpPr>
        <p:spPr>
          <a:xfrm flipH="1" rot="5242374">
            <a:off x="652848" y="-692073"/>
            <a:ext cx="836452" cy="23158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flipH="1" rot="-5644322">
            <a:off x="7652303" y="3508168"/>
            <a:ext cx="882984" cy="220081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5400000">
            <a:off x="7188298" y="275133"/>
            <a:ext cx="2484954" cy="1726959"/>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5400000">
            <a:off x="-452892" y="3156906"/>
            <a:ext cx="2400273" cy="16681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rot="5400000">
            <a:off x="652850" y="-826337"/>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rot="-5400000">
            <a:off x="7675575" y="3564088"/>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txBox="1"/>
          <p:nvPr/>
        </p:nvSpPr>
        <p:spPr>
          <a:xfrm>
            <a:off x="2018775" y="3886200"/>
            <a:ext cx="5099700" cy="484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b="1" lang="en" sz="1200">
                <a:solidFill>
                  <a:schemeClr val="dk1"/>
                </a:solidFill>
                <a:latin typeface="Plus Jakarta Sans"/>
                <a:ea typeface="Plus Jakarta Sans"/>
                <a:cs typeface="Plus Jakarta Sans"/>
                <a:sym typeface="Plus Jakarta Sans"/>
              </a:rPr>
              <a:t>CREDITS:</a:t>
            </a:r>
            <a:r>
              <a:rPr lang="en" sz="1200">
                <a:solidFill>
                  <a:schemeClr val="dk1"/>
                </a:solidFill>
                <a:latin typeface="Plus Jakarta Sans"/>
                <a:ea typeface="Plus Jakarta Sans"/>
                <a:cs typeface="Plus Jakarta Sans"/>
                <a:sym typeface="Plus Jakarta Sans"/>
              </a:rPr>
              <a:t> Diese Präsentationsvorlage wurde von </a:t>
            </a:r>
            <a:r>
              <a:rPr b="1" lang="en" sz="1200">
                <a:solidFill>
                  <a:schemeClr val="dk1"/>
                </a:solidFill>
                <a:uFill>
                  <a:noFill/>
                </a:uFill>
                <a:latin typeface="Plus Jakarta Sans"/>
                <a:ea typeface="Plus Jakarta Sans"/>
                <a:cs typeface="Plus Jakarta Sans"/>
                <a:sym typeface="Plus Jakarta Sans"/>
                <a:hlinkClick r:id="rId2">
                  <a:extLst>
                    <a:ext uri="{A12FA001-AC4F-418D-AE19-62706E023703}">
                      <ahyp:hlinkClr val="tx"/>
                    </a:ext>
                  </a:extLst>
                </a:hlinkClick>
              </a:rPr>
              <a:t>Slidesgo</a:t>
            </a:r>
            <a:r>
              <a:rPr lang="en" sz="12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 </a:t>
            </a:r>
            <a:r>
              <a:rPr lang="en" sz="1200">
                <a:solidFill>
                  <a:schemeClr val="dk1"/>
                </a:solidFill>
                <a:latin typeface="Plus Jakarta Sans"/>
                <a:ea typeface="Plus Jakarta Sans"/>
                <a:cs typeface="Plus Jakarta Sans"/>
                <a:sym typeface="Plus Jakarta Sans"/>
              </a:rPr>
              <a:t>erstellt, inklusive Icons von </a:t>
            </a:r>
            <a:r>
              <a:rPr b="1" lang="en" sz="1200">
                <a:solidFill>
                  <a:schemeClr val="dk1"/>
                </a:solidFill>
                <a:uFill>
                  <a:noFill/>
                </a:uFill>
                <a:latin typeface="Plus Jakarta Sans"/>
                <a:ea typeface="Plus Jakarta Sans"/>
                <a:cs typeface="Plus Jakarta Sans"/>
                <a:sym typeface="Plus Jakarta Sans"/>
                <a:hlinkClick r:id="rId4">
                  <a:extLst>
                    <a:ext uri="{A12FA001-AC4F-418D-AE19-62706E023703}">
                      <ahyp:hlinkClr val="tx"/>
                    </a:ext>
                  </a:extLst>
                </a:hlinkClick>
              </a:rPr>
              <a:t>Flaticon</a:t>
            </a:r>
            <a:r>
              <a:rPr lang="en" sz="1200">
                <a:solidFill>
                  <a:schemeClr val="dk1"/>
                </a:solidFill>
                <a:latin typeface="Plus Jakarta Sans"/>
                <a:ea typeface="Plus Jakarta Sans"/>
                <a:cs typeface="Plus Jakarta Sans"/>
                <a:sym typeface="Plus Jakarta Sans"/>
              </a:rPr>
              <a:t> und Infografiken &amp; Bilder von</a:t>
            </a:r>
            <a:r>
              <a:rPr b="1" lang="en" sz="1200">
                <a:solidFill>
                  <a:schemeClr val="dk1"/>
                </a:solidFill>
                <a:latin typeface="Plus Jakarta Sans"/>
                <a:ea typeface="Plus Jakarta Sans"/>
                <a:cs typeface="Plus Jakarta Sans"/>
                <a:sym typeface="Plus Jakarta Sans"/>
              </a:rPr>
              <a:t> </a:t>
            </a:r>
            <a:r>
              <a:rPr b="1" lang="en" sz="1200">
                <a:solidFill>
                  <a:schemeClr val="dk1"/>
                </a:solidFill>
                <a:uFill>
                  <a:noFill/>
                </a:uFill>
                <a:latin typeface="Plus Jakarta Sans"/>
                <a:ea typeface="Plus Jakarta Sans"/>
                <a:cs typeface="Plus Jakarta Sans"/>
                <a:sym typeface="Plus Jakarta Sans"/>
                <a:hlinkClick r:id="rId5">
                  <a:extLst>
                    <a:ext uri="{A12FA001-AC4F-418D-AE19-62706E023703}">
                      <ahyp:hlinkClr val="tx"/>
                    </a:ext>
                  </a:extLst>
                </a:hlinkClick>
              </a:rPr>
              <a:t>Freepik </a:t>
            </a:r>
            <a:endParaRPr b="1" sz="1200">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1" name="Shape 271"/>
        <p:cNvGrpSpPr/>
        <p:nvPr/>
      </p:nvGrpSpPr>
      <p:grpSpPr>
        <a:xfrm>
          <a:off x="0" y="0"/>
          <a:ext cx="0" cy="0"/>
          <a:chOff x="0" y="0"/>
          <a:chExt cx="0" cy="0"/>
        </a:xfrm>
      </p:grpSpPr>
      <p:sp>
        <p:nvSpPr>
          <p:cNvPr id="272" name="Google Shape;272;p28"/>
          <p:cNvSpPr/>
          <p:nvPr/>
        </p:nvSpPr>
        <p:spPr>
          <a:xfrm flipH="1" rot="-622124">
            <a:off x="-412039" y="-63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flipH="1" rot="10210429">
            <a:off x="6924660" y="4029655"/>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flipH="1" rot="393941">
            <a:off x="-164783" y="3395217"/>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flipH="1">
            <a:off x="5981654" y="-119188"/>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flipH="1" rot="-487639">
            <a:off x="-457450" y="-225507"/>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flipH="1" rot="10374404">
            <a:off x="6971866" y="419927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8" name="Shape 278"/>
        <p:cNvGrpSpPr/>
        <p:nvPr/>
      </p:nvGrpSpPr>
      <p:grpSpPr>
        <a:xfrm>
          <a:off x="0" y="0"/>
          <a:ext cx="0" cy="0"/>
          <a:chOff x="0" y="0"/>
          <a:chExt cx="0" cy="0"/>
        </a:xfrm>
      </p:grpSpPr>
      <p:sp>
        <p:nvSpPr>
          <p:cNvPr id="279" name="Google Shape;279;p29"/>
          <p:cNvSpPr/>
          <p:nvPr/>
        </p:nvSpPr>
        <p:spPr>
          <a:xfrm flipH="1" rot="5178508">
            <a:off x="570643" y="-585071"/>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flipH="1" rot="497153">
            <a:off x="6503240" y="-305953"/>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flipH="1" rot="-3475803">
            <a:off x="2812578" y="3441281"/>
            <a:ext cx="3027622" cy="392686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flipH="1" rot="5400000">
            <a:off x="570639" y="-761182"/>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flipH="1" rot="497153">
            <a:off x="6547615" y="-412428"/>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1pPr>
            <a:lvl2pPr lvl="1"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2pPr>
            <a:lvl3pPr lvl="2"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3pPr>
            <a:lvl4pPr lvl="3"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4pPr>
            <a:lvl5pPr lvl="4"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5pPr>
            <a:lvl6pPr lvl="5"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6pPr>
            <a:lvl7pPr lvl="6"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7pPr>
            <a:lvl8pPr lvl="7"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8pPr>
            <a:lvl9pPr lvl="8"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1pPr>
            <a:lvl2pPr indent="-317500" lvl="1" marL="914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2pPr>
            <a:lvl3pPr indent="-317500" lvl="2" marL="1371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3pPr>
            <a:lvl4pPr indent="-317500" lvl="3" marL="18288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4pPr>
            <a:lvl5pPr indent="-317500" lvl="4" marL="22860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5pPr>
            <a:lvl6pPr indent="-317500" lvl="5" marL="27432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6pPr>
            <a:lvl7pPr indent="-317500" lvl="6" marL="3200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7pPr>
            <a:lvl8pPr indent="-317500" lvl="7" marL="3657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8pPr>
            <a:lvl9pPr indent="-317500" lvl="8" marL="4114800">
              <a:lnSpc>
                <a:spcPct val="115000"/>
              </a:lnSpc>
              <a:spcBef>
                <a:spcPts val="1600"/>
              </a:spcBef>
              <a:spcAft>
                <a:spcPts val="160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5.jpg"/><Relationship Id="rId7"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3.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1.jpg"/><Relationship Id="rId5"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hyperlink" Target="https://en.wikipedia.org/wiki/Bundestag" TargetMode="External"/><Relationship Id="rId4" Type="http://schemas.openxmlformats.org/officeDocument/2006/relationships/hyperlink" Target="https://www.cleanenergywire.org/germanys-energiewende-brief" TargetMode="External"/><Relationship Id="rId5" Type="http://schemas.openxmlformats.org/officeDocument/2006/relationships/hyperlink" Target="https://www.brookings.edu/articles/europes-messy-russian-gas-divorce/" TargetMode="External"/><Relationship Id="rId6" Type="http://schemas.openxmlformats.org/officeDocument/2006/relationships/hyperlink" Target="https://www.cleanenergywire.org/factsheets/what-happens-if-russias-gas-supplies-germany-are-cu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7" name="Shape 287"/>
        <p:cNvGrpSpPr/>
        <p:nvPr/>
      </p:nvGrpSpPr>
      <p:grpSpPr>
        <a:xfrm>
          <a:off x="0" y="0"/>
          <a:ext cx="0" cy="0"/>
          <a:chOff x="0" y="0"/>
          <a:chExt cx="0" cy="0"/>
        </a:xfrm>
      </p:grpSpPr>
      <p:sp>
        <p:nvSpPr>
          <p:cNvPr id="288" name="Google Shape;288;p30"/>
          <p:cNvSpPr txBox="1"/>
          <p:nvPr>
            <p:ph type="ctrTitle"/>
          </p:nvPr>
        </p:nvSpPr>
        <p:spPr>
          <a:xfrm>
            <a:off x="1206675" y="1134375"/>
            <a:ext cx="6750000" cy="233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000">
                <a:solidFill>
                  <a:schemeClr val="dk1"/>
                </a:solidFill>
              </a:rPr>
              <a:t>Germany</a:t>
            </a:r>
            <a:endParaRPr sz="9000">
              <a:solidFill>
                <a:schemeClr val="dk1"/>
              </a:solidFill>
            </a:endParaRPr>
          </a:p>
          <a:p>
            <a:pPr indent="0" lvl="0" marL="0" rtl="0" algn="ctr">
              <a:spcBef>
                <a:spcPts val="0"/>
              </a:spcBef>
              <a:spcAft>
                <a:spcPts val="0"/>
              </a:spcAft>
              <a:buNone/>
            </a:pPr>
            <a:r>
              <a:rPr lang="en" sz="4500">
                <a:solidFill>
                  <a:schemeClr val="dk1"/>
                </a:solidFill>
              </a:rPr>
              <a:t>Climate &amp; </a:t>
            </a:r>
            <a:r>
              <a:rPr lang="en" sz="4500">
                <a:solidFill>
                  <a:schemeClr val="dk1"/>
                </a:solidFill>
              </a:rPr>
              <a:t>Environment</a:t>
            </a:r>
            <a:endParaRPr sz="4500">
              <a:solidFill>
                <a:schemeClr val="dk1"/>
              </a:solidFill>
            </a:endParaRPr>
          </a:p>
        </p:txBody>
      </p:sp>
      <p:sp>
        <p:nvSpPr>
          <p:cNvPr id="289" name="Google Shape;289;p30"/>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 Delisha</a:t>
            </a:r>
            <a:endParaRPr/>
          </a:p>
        </p:txBody>
      </p:sp>
      <p:cxnSp>
        <p:nvCxnSpPr>
          <p:cNvPr id="290" name="Google Shape;290;p30"/>
          <p:cNvCxnSpPr/>
          <p:nvPr/>
        </p:nvCxnSpPr>
        <p:spPr>
          <a:xfrm>
            <a:off x="1676250" y="3468425"/>
            <a:ext cx="5791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Germany Background</a:t>
            </a:r>
            <a:endParaRPr/>
          </a:p>
        </p:txBody>
      </p:sp>
      <p:sp>
        <p:nvSpPr>
          <p:cNvPr id="296" name="Google Shape;296;p31"/>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97" name="Google Shape;297;p31"/>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Geography, Culture/Language, Brief economic context</a:t>
            </a:r>
            <a:endParaRPr/>
          </a:p>
        </p:txBody>
      </p:sp>
      <p:cxnSp>
        <p:nvCxnSpPr>
          <p:cNvPr id="298" name="Google Shape;298;p31"/>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2"/>
          <p:cNvSpPr txBox="1"/>
          <p:nvPr>
            <p:ph idx="2" type="title"/>
          </p:nvPr>
        </p:nvSpPr>
        <p:spPr>
          <a:xfrm>
            <a:off x="442050" y="1227000"/>
            <a:ext cx="28197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t>Germany is located in Europe, specifically in the central-western region of the continent. </a:t>
            </a:r>
            <a:r>
              <a:rPr lang="en" sz="1200"/>
              <a:t>Germany</a:t>
            </a:r>
            <a:r>
              <a:rPr lang="en" sz="1200"/>
              <a:t> has nine </a:t>
            </a:r>
            <a:r>
              <a:rPr lang="en" sz="1200"/>
              <a:t>neighbouring</a:t>
            </a:r>
            <a:r>
              <a:rPr lang="en" sz="1200"/>
              <a:t> </a:t>
            </a:r>
            <a:r>
              <a:rPr lang="en" sz="1200"/>
              <a:t>countries which are, Denmark, Poland, Czech Republic, Austria, Switzerland, France, Luxembourg, Belgium, and the Netherlands. Germany is bounded by the North Sea  to the northwest and the Baltic Sea to the northeast. Germany experiences a predominantly temperate climate, characterized by warm summers, cool to cold winters, and moderate, year-round rainfall. Germany’s capital is Berlin. </a:t>
            </a:r>
            <a:endParaRPr sz="1200"/>
          </a:p>
        </p:txBody>
      </p:sp>
      <p:sp>
        <p:nvSpPr>
          <p:cNvPr id="304" name="Google Shape;304;p32"/>
          <p:cNvSpPr txBox="1"/>
          <p:nvPr>
            <p:ph idx="2" type="title"/>
          </p:nvPr>
        </p:nvSpPr>
        <p:spPr>
          <a:xfrm>
            <a:off x="3334850" y="1160275"/>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Germany’s </a:t>
            </a:r>
            <a:r>
              <a:rPr lang="en" sz="1200"/>
              <a:t>official</a:t>
            </a:r>
            <a:r>
              <a:rPr lang="en" sz="1200"/>
              <a:t> </a:t>
            </a:r>
            <a:r>
              <a:rPr lang="en" sz="1200"/>
              <a:t>language</a:t>
            </a:r>
            <a:r>
              <a:rPr lang="en" sz="1200"/>
              <a:t> is standard german (</a:t>
            </a:r>
            <a:r>
              <a:rPr lang="en" sz="1200"/>
              <a:t>Hochdeutsch</a:t>
            </a:r>
            <a:r>
              <a:rPr lang="en" sz="1200"/>
              <a:t>) and is spoken by the vast majority of the population. </a:t>
            </a:r>
            <a:r>
              <a:rPr lang="en" sz="1200"/>
              <a:t>It's</a:t>
            </a:r>
            <a:r>
              <a:rPr lang="en" sz="1200"/>
              <a:t> language </a:t>
            </a:r>
            <a:r>
              <a:rPr lang="en" sz="1200"/>
              <a:t>emphasized</a:t>
            </a:r>
            <a:r>
              <a:rPr lang="en" sz="1200"/>
              <a:t> </a:t>
            </a:r>
            <a:r>
              <a:rPr lang="en" sz="1200"/>
              <a:t>structure, oresision, and punctuation. Germany has a love for rich tradition, including world-renowned bread, beer, and festivals. Germany has a population of around 84 million people. The country is known for its Oktoberfest celebrations in Munich, its carnival culture, and their Christmas, also known as, Weihnachten. </a:t>
            </a:r>
            <a:endParaRPr sz="2300"/>
          </a:p>
        </p:txBody>
      </p:sp>
      <p:sp>
        <p:nvSpPr>
          <p:cNvPr id="305" name="Google Shape;305;p32"/>
          <p:cNvSpPr txBox="1"/>
          <p:nvPr>
            <p:ph idx="2" type="title"/>
          </p:nvPr>
        </p:nvSpPr>
        <p:spPr>
          <a:xfrm>
            <a:off x="5949650" y="1204800"/>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The Federal Republic of </a:t>
            </a:r>
            <a:r>
              <a:rPr lang="en" sz="1200"/>
              <a:t>Germany</a:t>
            </a:r>
            <a:r>
              <a:rPr lang="en" sz="1200"/>
              <a:t> is made up of 16 federal states, the Lander. The Bundestag is the federal parliament of </a:t>
            </a:r>
            <a:r>
              <a:rPr lang="en" sz="1200"/>
              <a:t>Germany</a:t>
            </a:r>
            <a:r>
              <a:rPr lang="en" sz="1200"/>
              <a:t>. It is the only  constitutional party in the </a:t>
            </a:r>
            <a:r>
              <a:rPr lang="en" sz="1200"/>
              <a:t>country</a:t>
            </a:r>
            <a:r>
              <a:rPr lang="en" sz="1200"/>
              <a:t> directly elected </a:t>
            </a:r>
            <a:r>
              <a:rPr lang="en" sz="1200"/>
              <a:t>by</a:t>
            </a:r>
            <a:r>
              <a:rPr lang="en" sz="1200"/>
              <a:t> </a:t>
            </a:r>
            <a:r>
              <a:rPr lang="en" sz="1200"/>
              <a:t>the</a:t>
            </a:r>
            <a:r>
              <a:rPr lang="en" sz="1200"/>
              <a:t> people of </a:t>
            </a:r>
            <a:r>
              <a:rPr lang="en" sz="1200"/>
              <a:t>Germany. The Bundestag was established by Tite III of the Basic Law of the Federal Republic of Germany in 1949. The members of the Bundestag represent all of the German people as a whole, are not forced by any orders or instructions, and are only responsible for their conscience. The Bundestag is elected every four years by the Germans aged 18 and older. </a:t>
            </a:r>
            <a:endParaRPr sz="1200"/>
          </a:p>
        </p:txBody>
      </p:sp>
      <p:sp>
        <p:nvSpPr>
          <p:cNvPr id="306" name="Google Shape;306;p32"/>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Geography</a:t>
            </a:r>
            <a:endParaRPr b="1" sz="1700"/>
          </a:p>
        </p:txBody>
      </p:sp>
      <p:sp>
        <p:nvSpPr>
          <p:cNvPr id="307" name="Google Shape;307;p32"/>
          <p:cNvSpPr txBox="1"/>
          <p:nvPr>
            <p:ph idx="2" type="title"/>
          </p:nvPr>
        </p:nvSpPr>
        <p:spPr>
          <a:xfrm>
            <a:off x="333482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Culture/Language </a:t>
            </a:r>
            <a:endParaRPr sz="1600"/>
          </a:p>
        </p:txBody>
      </p:sp>
      <p:sp>
        <p:nvSpPr>
          <p:cNvPr id="308" name="Google Shape;308;p32"/>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Economic Co</a:t>
            </a:r>
            <a:r>
              <a:rPr b="1" lang="en" sz="1700"/>
              <a:t>ntext</a:t>
            </a:r>
            <a:r>
              <a:rPr b="1" lang="en" sz="1700"/>
              <a:t> </a:t>
            </a:r>
            <a:endParaRPr sz="1600"/>
          </a:p>
        </p:txBody>
      </p:sp>
      <p:pic>
        <p:nvPicPr>
          <p:cNvPr id="309" name="Google Shape;309;p32" title="download.jpg"/>
          <p:cNvPicPr preferRelativeResize="0"/>
          <p:nvPr/>
        </p:nvPicPr>
        <p:blipFill>
          <a:blip r:embed="rId3">
            <a:alphaModFix/>
          </a:blip>
          <a:stretch>
            <a:fillRect/>
          </a:stretch>
        </p:blipFill>
        <p:spPr>
          <a:xfrm>
            <a:off x="2391225" y="4304175"/>
            <a:ext cx="795125" cy="763900"/>
          </a:xfrm>
          <a:prstGeom prst="rect">
            <a:avLst/>
          </a:prstGeom>
          <a:noFill/>
          <a:ln>
            <a:noFill/>
          </a:ln>
        </p:spPr>
      </p:pic>
      <p:pic>
        <p:nvPicPr>
          <p:cNvPr id="310" name="Google Shape;310;p32" title="download.jpg"/>
          <p:cNvPicPr preferRelativeResize="0"/>
          <p:nvPr/>
        </p:nvPicPr>
        <p:blipFill>
          <a:blip r:embed="rId4">
            <a:alphaModFix/>
          </a:blip>
          <a:stretch>
            <a:fillRect/>
          </a:stretch>
        </p:blipFill>
        <p:spPr>
          <a:xfrm>
            <a:off x="3334850" y="4004700"/>
            <a:ext cx="924625" cy="636950"/>
          </a:xfrm>
          <a:prstGeom prst="rect">
            <a:avLst/>
          </a:prstGeom>
          <a:noFill/>
          <a:ln>
            <a:noFill/>
          </a:ln>
        </p:spPr>
      </p:pic>
      <p:pic>
        <p:nvPicPr>
          <p:cNvPr id="311" name="Google Shape;311;p32" title="download.jpg"/>
          <p:cNvPicPr preferRelativeResize="0"/>
          <p:nvPr/>
        </p:nvPicPr>
        <p:blipFill>
          <a:blip r:embed="rId5">
            <a:alphaModFix/>
          </a:blip>
          <a:stretch>
            <a:fillRect/>
          </a:stretch>
        </p:blipFill>
        <p:spPr>
          <a:xfrm>
            <a:off x="4407975" y="3877750"/>
            <a:ext cx="1023784" cy="763900"/>
          </a:xfrm>
          <a:prstGeom prst="rect">
            <a:avLst/>
          </a:prstGeom>
          <a:noFill/>
          <a:ln>
            <a:noFill/>
          </a:ln>
        </p:spPr>
      </p:pic>
      <p:pic>
        <p:nvPicPr>
          <p:cNvPr id="312" name="Google Shape;312;p32" title="download.jpg"/>
          <p:cNvPicPr preferRelativeResize="0"/>
          <p:nvPr/>
        </p:nvPicPr>
        <p:blipFill>
          <a:blip r:embed="rId6">
            <a:alphaModFix/>
          </a:blip>
          <a:stretch>
            <a:fillRect/>
          </a:stretch>
        </p:blipFill>
        <p:spPr>
          <a:xfrm>
            <a:off x="2431497" y="100125"/>
            <a:ext cx="1137423" cy="636950"/>
          </a:xfrm>
          <a:prstGeom prst="rect">
            <a:avLst/>
          </a:prstGeom>
          <a:noFill/>
          <a:ln>
            <a:noFill/>
          </a:ln>
        </p:spPr>
      </p:pic>
      <p:pic>
        <p:nvPicPr>
          <p:cNvPr id="313" name="Google Shape;313;p32" title="download.jpg"/>
          <p:cNvPicPr preferRelativeResize="0"/>
          <p:nvPr/>
        </p:nvPicPr>
        <p:blipFill>
          <a:blip r:embed="rId7">
            <a:alphaModFix/>
          </a:blip>
          <a:stretch>
            <a:fillRect/>
          </a:stretch>
        </p:blipFill>
        <p:spPr>
          <a:xfrm>
            <a:off x="7460650" y="4963"/>
            <a:ext cx="1400975" cy="732125"/>
          </a:xfrm>
          <a:prstGeom prst="rect">
            <a:avLst/>
          </a:prstGeom>
          <a:noFill/>
          <a:ln>
            <a:noFill/>
          </a:ln>
        </p:spPr>
      </p:pic>
      <p:sp>
        <p:nvSpPr>
          <p:cNvPr id="314" name="Google Shape;314;p32"/>
          <p:cNvSpPr txBox="1"/>
          <p:nvPr/>
        </p:nvSpPr>
        <p:spPr>
          <a:xfrm>
            <a:off x="8077275" y="621625"/>
            <a:ext cx="1101000" cy="301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Urbanist"/>
                <a:ea typeface="Urbanist"/>
                <a:cs typeface="Urbanist"/>
                <a:sym typeface="Urbanist"/>
              </a:rPr>
              <a:t>Joachim-Friedrich Martin Josef Merz is the </a:t>
            </a:r>
            <a:r>
              <a:rPr lang="en" sz="900">
                <a:solidFill>
                  <a:schemeClr val="dk1"/>
                </a:solidFill>
                <a:latin typeface="Urbanist"/>
                <a:ea typeface="Urbanist"/>
                <a:cs typeface="Urbanist"/>
                <a:sym typeface="Urbanist"/>
              </a:rPr>
              <a:t>Chancellor</a:t>
            </a:r>
            <a:r>
              <a:rPr lang="en" sz="900">
                <a:solidFill>
                  <a:schemeClr val="dk1"/>
                </a:solidFill>
                <a:latin typeface="Urbanist"/>
                <a:ea typeface="Urbanist"/>
                <a:cs typeface="Urbanist"/>
                <a:sym typeface="Urbanist"/>
              </a:rPr>
              <a:t> of German. </a:t>
            </a:r>
            <a:endParaRPr sz="11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Global </a:t>
            </a:r>
            <a:r>
              <a:rPr lang="en"/>
              <a:t>Issue</a:t>
            </a:r>
            <a:r>
              <a:rPr lang="en"/>
              <a:t> </a:t>
            </a:r>
            <a:endParaRPr/>
          </a:p>
        </p:txBody>
      </p:sp>
      <p:sp>
        <p:nvSpPr>
          <p:cNvPr id="320" name="Google Shape;320;p33"/>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21" name="Google Shape;321;p3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Defining issue, Explaining global importance, Key facts </a:t>
            </a:r>
            <a:endParaRPr/>
          </a:p>
        </p:txBody>
      </p:sp>
      <p:cxnSp>
        <p:nvCxnSpPr>
          <p:cNvPr id="322" name="Google Shape;322;p33"/>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ph idx="2" type="title"/>
          </p:nvPr>
        </p:nvSpPr>
        <p:spPr>
          <a:xfrm>
            <a:off x="396275" y="1006825"/>
            <a:ext cx="25680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t>Germany is facing several major crises directly tied to Russia og going war with </a:t>
            </a:r>
            <a:r>
              <a:rPr lang="en" sz="1200"/>
              <a:t>Ukraine</a:t>
            </a:r>
            <a:r>
              <a:rPr lang="en" sz="1200"/>
              <a:t>. The war has disrupted the major energy supplies from Russia to </a:t>
            </a:r>
            <a:r>
              <a:rPr lang="en" sz="1200"/>
              <a:t>Germany</a:t>
            </a:r>
            <a:r>
              <a:rPr lang="en" sz="1200"/>
              <a:t> and </a:t>
            </a:r>
            <a:r>
              <a:rPr lang="en" sz="1200"/>
              <a:t>impacted</a:t>
            </a:r>
            <a:r>
              <a:rPr lang="en" sz="1200"/>
              <a:t> </a:t>
            </a:r>
            <a:r>
              <a:rPr lang="en" sz="1200"/>
              <a:t>shipping</a:t>
            </a:r>
            <a:r>
              <a:rPr lang="en" sz="1200"/>
              <a:t> to </a:t>
            </a:r>
            <a:r>
              <a:rPr lang="en" sz="1200"/>
              <a:t>and</a:t>
            </a:r>
            <a:r>
              <a:rPr lang="en" sz="1200"/>
              <a:t> </a:t>
            </a:r>
            <a:r>
              <a:rPr lang="en" sz="1200"/>
              <a:t>from</a:t>
            </a:r>
            <a:r>
              <a:rPr lang="en" sz="1200"/>
              <a:t> G</a:t>
            </a:r>
            <a:r>
              <a:rPr lang="en" sz="1200"/>
              <a:t>erman ports. Science Russie historically supplied over half of Germany's natural gas, when Russia cut ties, the industrial strain on Germany grew massive. This pressure caused higher prices and expensive production as many factories couldn’t depend on natural gas anymore. </a:t>
            </a:r>
            <a:endParaRPr sz="1200"/>
          </a:p>
        </p:txBody>
      </p:sp>
      <p:sp>
        <p:nvSpPr>
          <p:cNvPr id="328" name="Google Shape;328;p34"/>
          <p:cNvSpPr txBox="1"/>
          <p:nvPr>
            <p:ph idx="2" type="title"/>
          </p:nvPr>
        </p:nvSpPr>
        <p:spPr>
          <a:xfrm>
            <a:off x="2945800" y="958625"/>
            <a:ext cx="3122400" cy="3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Germany</a:t>
            </a:r>
            <a:r>
              <a:rPr lang="en" sz="1200"/>
              <a:t>’s energy challenges matter globally because they affect </a:t>
            </a:r>
            <a:r>
              <a:rPr lang="en" sz="1200"/>
              <a:t>energy</a:t>
            </a:r>
            <a:r>
              <a:rPr lang="en" sz="1200"/>
              <a:t> prices, internations trades, climate change </a:t>
            </a:r>
            <a:r>
              <a:rPr lang="en" sz="1200"/>
              <a:t>efforts</a:t>
            </a:r>
            <a:r>
              <a:rPr lang="en" sz="1200"/>
              <a:t>, and the </a:t>
            </a:r>
            <a:r>
              <a:rPr lang="en" sz="1200"/>
              <a:t>security</a:t>
            </a:r>
            <a:r>
              <a:rPr lang="en" sz="1200"/>
              <a:t> of </a:t>
            </a:r>
            <a:r>
              <a:rPr lang="en" sz="1200"/>
              <a:t>energy</a:t>
            </a:r>
            <a:r>
              <a:rPr lang="en" sz="1200"/>
              <a:t> </a:t>
            </a:r>
            <a:r>
              <a:rPr lang="en" sz="1200"/>
              <a:t>supplies</a:t>
            </a:r>
            <a:r>
              <a:rPr lang="en" sz="1200"/>
              <a:t> </a:t>
            </a:r>
            <a:r>
              <a:rPr lang="en" sz="1200"/>
              <a:t>about</a:t>
            </a:r>
            <a:r>
              <a:rPr lang="en" sz="1200"/>
              <a:t> the </a:t>
            </a:r>
            <a:r>
              <a:rPr lang="en" sz="1200"/>
              <a:t>world. When Germany needs to replace lost energy supplies quickly, demand and prices for oil and natural gas rise international, affecting many other countries and economies. Germany is also a major manufacturer and exporter. Higher energy costs can increase the prices for products sold around the world. Germany’s energy issue can also impact positively on other countries. Germany’s investments in renewable energy, energy efficiency, and new technologies can influence policies and innovation in other countries. </a:t>
            </a:r>
            <a:endParaRPr sz="1200"/>
          </a:p>
        </p:txBody>
      </p:sp>
      <p:sp>
        <p:nvSpPr>
          <p:cNvPr id="329" name="Google Shape;329;p34"/>
          <p:cNvSpPr txBox="1"/>
          <p:nvPr>
            <p:ph idx="2" type="title"/>
          </p:nvPr>
        </p:nvSpPr>
        <p:spPr>
          <a:xfrm>
            <a:off x="6068200" y="984625"/>
            <a:ext cx="29757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50"/>
              <a:t>The war significantly impacted Germany </a:t>
            </a:r>
            <a:r>
              <a:rPr lang="en" sz="1150"/>
              <a:t>because</a:t>
            </a:r>
            <a:r>
              <a:rPr lang="en" sz="1150"/>
              <a:t> the country has depended on Russian </a:t>
            </a:r>
            <a:r>
              <a:rPr lang="en" sz="1150"/>
              <a:t>natural</a:t>
            </a:r>
            <a:r>
              <a:rPr lang="en" sz="1150"/>
              <a:t> gas for most of its energy. Many German families had to pay </a:t>
            </a:r>
            <a:r>
              <a:rPr lang="en" sz="1150"/>
              <a:t>higher </a:t>
            </a:r>
            <a:r>
              <a:rPr lang="en" sz="1150"/>
              <a:t>bills for </a:t>
            </a:r>
            <a:r>
              <a:rPr lang="en" sz="1150"/>
              <a:t>heating</a:t>
            </a:r>
            <a:r>
              <a:rPr lang="en" sz="1150"/>
              <a:t> and electricity, and the overall cost of living </a:t>
            </a:r>
            <a:r>
              <a:rPr lang="en" sz="1150"/>
              <a:t>increased as many goods and services were getting affected by the energy crisis. Many businesses and factories also faced higher costs, more expensive production, and reduced profits. The economic pressure encouraged the government to prompt energy efficiency and cleaner technologies as part of the Energiewende. The Energiewende literally means “energy transition”, it's Germany strategy to transition to a low-carbon, nuclear-free, highly efficient energy economy. </a:t>
            </a:r>
            <a:endParaRPr sz="1150"/>
          </a:p>
        </p:txBody>
      </p:sp>
      <p:sp>
        <p:nvSpPr>
          <p:cNvPr id="330" name="Google Shape;330;p34"/>
          <p:cNvSpPr txBox="1"/>
          <p:nvPr>
            <p:ph idx="2" type="title"/>
          </p:nvPr>
        </p:nvSpPr>
        <p:spPr>
          <a:xfrm>
            <a:off x="39807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What </a:t>
            </a:r>
            <a:r>
              <a:rPr b="1" lang="en" sz="1500"/>
              <a:t>exactly</a:t>
            </a:r>
            <a:r>
              <a:rPr b="1" lang="en" sz="1500"/>
              <a:t> is the Issue?</a:t>
            </a:r>
            <a:endParaRPr b="1" sz="1500"/>
          </a:p>
        </p:txBody>
      </p:sp>
      <p:sp>
        <p:nvSpPr>
          <p:cNvPr id="331" name="Google Shape;331;p34"/>
          <p:cNvSpPr txBox="1"/>
          <p:nvPr>
            <p:ph idx="2" type="title"/>
          </p:nvPr>
        </p:nvSpPr>
        <p:spPr>
          <a:xfrm>
            <a:off x="3066500" y="621625"/>
            <a:ext cx="25680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t>Why does it matter Globally?</a:t>
            </a:r>
            <a:endParaRPr sz="1300"/>
          </a:p>
        </p:txBody>
      </p:sp>
      <p:sp>
        <p:nvSpPr>
          <p:cNvPr id="332" name="Google Shape;332;p34"/>
          <p:cNvSpPr txBox="1"/>
          <p:nvPr>
            <p:ph idx="2" type="title"/>
          </p:nvPr>
        </p:nvSpPr>
        <p:spPr>
          <a:xfrm>
            <a:off x="6194100" y="5734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How does it </a:t>
            </a:r>
            <a:r>
              <a:rPr b="1" lang="en" sz="1200"/>
              <a:t>specifically affected</a:t>
            </a:r>
            <a:r>
              <a:rPr b="1" lang="en" sz="1200"/>
              <a:t> </a:t>
            </a:r>
            <a:r>
              <a:rPr b="1" lang="en" sz="1200"/>
              <a:t>Germany</a:t>
            </a:r>
            <a:r>
              <a:rPr b="1" lang="en" sz="1200"/>
              <a:t>?</a:t>
            </a:r>
            <a:endParaRPr sz="1200"/>
          </a:p>
        </p:txBody>
      </p:sp>
      <p:pic>
        <p:nvPicPr>
          <p:cNvPr id="333" name="Google Shape;333;p34" title="download.jpg"/>
          <p:cNvPicPr preferRelativeResize="0"/>
          <p:nvPr/>
        </p:nvPicPr>
        <p:blipFill>
          <a:blip r:embed="rId3">
            <a:alphaModFix/>
          </a:blip>
          <a:stretch>
            <a:fillRect/>
          </a:stretch>
        </p:blipFill>
        <p:spPr>
          <a:xfrm>
            <a:off x="2046825" y="4088675"/>
            <a:ext cx="965925" cy="965925"/>
          </a:xfrm>
          <a:prstGeom prst="rect">
            <a:avLst/>
          </a:prstGeom>
          <a:noFill/>
          <a:ln>
            <a:noFill/>
          </a:ln>
        </p:spPr>
      </p:pic>
      <p:pic>
        <p:nvPicPr>
          <p:cNvPr id="334" name="Google Shape;334;p34" title="download.jpg"/>
          <p:cNvPicPr preferRelativeResize="0"/>
          <p:nvPr/>
        </p:nvPicPr>
        <p:blipFill>
          <a:blip r:embed="rId4">
            <a:alphaModFix/>
          </a:blip>
          <a:stretch>
            <a:fillRect/>
          </a:stretch>
        </p:blipFill>
        <p:spPr>
          <a:xfrm>
            <a:off x="2563100" y="86592"/>
            <a:ext cx="1070050" cy="535025"/>
          </a:xfrm>
          <a:prstGeom prst="rect">
            <a:avLst/>
          </a:prstGeom>
          <a:noFill/>
          <a:ln>
            <a:noFill/>
          </a:ln>
        </p:spPr>
      </p:pic>
      <p:pic>
        <p:nvPicPr>
          <p:cNvPr id="335" name="Google Shape;335;p34" title="download.jpg"/>
          <p:cNvPicPr preferRelativeResize="0"/>
          <p:nvPr/>
        </p:nvPicPr>
        <p:blipFill>
          <a:blip r:embed="rId5">
            <a:alphaModFix/>
          </a:blip>
          <a:stretch>
            <a:fillRect/>
          </a:stretch>
        </p:blipFill>
        <p:spPr>
          <a:xfrm>
            <a:off x="7336525" y="4088675"/>
            <a:ext cx="853850" cy="604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Germany's</a:t>
            </a:r>
            <a:r>
              <a:rPr lang="en"/>
              <a:t> Response</a:t>
            </a:r>
            <a:endParaRPr/>
          </a:p>
        </p:txBody>
      </p:sp>
      <p:sp>
        <p:nvSpPr>
          <p:cNvPr id="341" name="Google Shape;341;p35"/>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42" name="Google Shape;342;p35"/>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Germany’s actions, Evidence, International efforts  </a:t>
            </a:r>
            <a:endParaRPr/>
          </a:p>
        </p:txBody>
      </p:sp>
      <p:cxnSp>
        <p:nvCxnSpPr>
          <p:cNvPr id="343" name="Google Shape;343;p35"/>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6"/>
          <p:cNvSpPr txBox="1"/>
          <p:nvPr>
            <p:ph idx="2" type="title"/>
          </p:nvPr>
        </p:nvSpPr>
        <p:spPr>
          <a:xfrm>
            <a:off x="222000" y="1117925"/>
            <a:ext cx="29643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100"/>
              <a:t>The </a:t>
            </a:r>
            <a:r>
              <a:rPr lang="en" sz="1100"/>
              <a:t>German</a:t>
            </a:r>
            <a:r>
              <a:rPr lang="en" sz="1100"/>
              <a:t> government has taken several measures to respond to the energy crisis. The </a:t>
            </a:r>
            <a:r>
              <a:rPr lang="en" sz="1100"/>
              <a:t>government has given a relief package of 1.7 billion euros for almost all households on January 28 in 2022. Germany built new LNG (liquefied natural gas) terminals so they could import natural gas from other countries such as the United States and Qatar. Germany even requested household and businesses to reduce energy use and promoted financial support to help families and business to cope with the high energy prices. Germany also began to increase its investments in wind and solar power, and continues to work toward long-term goals to make Germany’s energy system cleaner, more secure, and more sustainable. </a:t>
            </a:r>
            <a:endParaRPr sz="1100"/>
          </a:p>
        </p:txBody>
      </p:sp>
      <p:sp>
        <p:nvSpPr>
          <p:cNvPr id="349" name="Google Shape;349;p36"/>
          <p:cNvSpPr txBox="1"/>
          <p:nvPr>
            <p:ph idx="2" type="title"/>
          </p:nvPr>
        </p:nvSpPr>
        <p:spPr>
          <a:xfrm>
            <a:off x="3186300" y="1095725"/>
            <a:ext cx="2763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Even through Germany is </a:t>
            </a:r>
            <a:r>
              <a:rPr lang="en" sz="1200"/>
              <a:t>trying</a:t>
            </a:r>
            <a:r>
              <a:rPr lang="en" sz="1200"/>
              <a:t> really hard to only rely on green energy, it has not completely stopped using fossil fuels. </a:t>
            </a:r>
            <a:r>
              <a:rPr lang="en" sz="1200"/>
              <a:t>Germany</a:t>
            </a:r>
            <a:r>
              <a:rPr lang="en" sz="1200"/>
              <a:t> still needs a reliable energy </a:t>
            </a:r>
            <a:r>
              <a:rPr lang="en" sz="1200"/>
              <a:t>source</a:t>
            </a:r>
            <a:r>
              <a:rPr lang="en" sz="1200"/>
              <a:t> for homes, schools, hospitals, and factories. Renewable </a:t>
            </a:r>
            <a:r>
              <a:rPr lang="en" sz="1200"/>
              <a:t>energy</a:t>
            </a:r>
            <a:r>
              <a:rPr lang="en" sz="1200"/>
              <a:t> like solar and wind, </a:t>
            </a:r>
            <a:r>
              <a:rPr lang="en" sz="1200"/>
              <a:t>cannot</a:t>
            </a:r>
            <a:r>
              <a:rPr lang="en" sz="1200"/>
              <a:t> </a:t>
            </a:r>
            <a:r>
              <a:rPr lang="en" sz="1200"/>
              <a:t>produce</a:t>
            </a:r>
            <a:r>
              <a:rPr lang="en" sz="1200"/>
              <a:t> </a:t>
            </a:r>
            <a:r>
              <a:rPr lang="en" sz="1200"/>
              <a:t>energy</a:t>
            </a:r>
            <a:r>
              <a:rPr lang="en" sz="1200"/>
              <a:t> when there to no wing or sunlight. Building </a:t>
            </a:r>
            <a:r>
              <a:rPr lang="en" sz="1200"/>
              <a:t>these</a:t>
            </a:r>
            <a:r>
              <a:rPr lang="en" sz="1200"/>
              <a:t> also takes time and money so the country is still lacking backup. </a:t>
            </a:r>
            <a:r>
              <a:rPr lang="en" sz="1200"/>
              <a:t>Germany</a:t>
            </a:r>
            <a:r>
              <a:rPr lang="en" sz="1200"/>
              <a:t> has also not stopped concumming Russian LNG. Though it does not directly accept </a:t>
            </a:r>
            <a:r>
              <a:rPr lang="en" sz="1200"/>
              <a:t>Russian</a:t>
            </a:r>
            <a:r>
              <a:rPr lang="en" sz="1200"/>
              <a:t> LNG at its own domestic ports, it is still indirectly </a:t>
            </a:r>
            <a:r>
              <a:rPr lang="en" sz="1200"/>
              <a:t>consuming</a:t>
            </a:r>
            <a:r>
              <a:rPr lang="en" sz="1200"/>
              <a:t> it through its </a:t>
            </a:r>
            <a:r>
              <a:rPr lang="en" sz="1200"/>
              <a:t>European</a:t>
            </a:r>
            <a:r>
              <a:rPr lang="en" sz="1200"/>
              <a:t> Union neighbours and other </a:t>
            </a:r>
            <a:r>
              <a:rPr lang="en" sz="1200"/>
              <a:t>government-owned entities</a:t>
            </a:r>
            <a:endParaRPr sz="1200"/>
          </a:p>
        </p:txBody>
      </p:sp>
      <p:sp>
        <p:nvSpPr>
          <p:cNvPr id="350" name="Google Shape;350;p36"/>
          <p:cNvSpPr txBox="1"/>
          <p:nvPr>
            <p:ph idx="2" type="title"/>
          </p:nvPr>
        </p:nvSpPr>
        <p:spPr>
          <a:xfrm>
            <a:off x="5949600" y="1006825"/>
            <a:ext cx="3060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50"/>
              <a:t>Germany</a:t>
            </a:r>
            <a:r>
              <a:rPr lang="en" sz="1150"/>
              <a:t>’s ongoing </a:t>
            </a:r>
            <a:r>
              <a:rPr lang="en" sz="1150"/>
              <a:t>energy</a:t>
            </a:r>
            <a:r>
              <a:rPr lang="en" sz="1150"/>
              <a:t> </a:t>
            </a:r>
            <a:r>
              <a:rPr lang="en" sz="1150"/>
              <a:t>crisis</a:t>
            </a:r>
            <a:r>
              <a:rPr lang="en" sz="1150"/>
              <a:t> </a:t>
            </a:r>
            <a:r>
              <a:rPr lang="en" sz="1150"/>
              <a:t>directly</a:t>
            </a:r>
            <a:r>
              <a:rPr lang="en" sz="1150"/>
              <a:t> affects the rest of </a:t>
            </a:r>
            <a:r>
              <a:rPr lang="en" sz="1150"/>
              <a:t>Europe and major energy exporting countries. Because the Europeans Union relies of a connected energy market, Germany’s crisis has forced the European Commission to disturb with emergency funding and to quickly increase it REPowerEU energy independence. The U.S and Norway became major suppliers, but Norway has essentially reached maximum capacity limits for pumping pipeline gas into Europe. Since fuel is the largest expense for airlines, the energy crisis has caused European jet fuel prices to hit all-time high. Major airlines, like the Lufthansa Group, have been forced to temporarily grounding aircraft and greatly cut seating capacity. </a:t>
            </a:r>
            <a:endParaRPr sz="1150"/>
          </a:p>
        </p:txBody>
      </p:sp>
      <p:sp>
        <p:nvSpPr>
          <p:cNvPr id="351" name="Google Shape;351;p36"/>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What has the Government </a:t>
            </a:r>
            <a:r>
              <a:rPr b="1" lang="en" sz="1200"/>
              <a:t>actually</a:t>
            </a:r>
            <a:r>
              <a:rPr b="1" lang="en" sz="1200"/>
              <a:t> done?</a:t>
            </a:r>
            <a:endParaRPr b="1" sz="1200"/>
          </a:p>
        </p:txBody>
      </p:sp>
      <p:sp>
        <p:nvSpPr>
          <p:cNvPr id="352" name="Google Shape;352;p36"/>
          <p:cNvSpPr txBox="1"/>
          <p:nvPr>
            <p:ph idx="2" type="title"/>
          </p:nvPr>
        </p:nvSpPr>
        <p:spPr>
          <a:xfrm>
            <a:off x="329037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t>What has it not done?Why? </a:t>
            </a:r>
            <a:endParaRPr sz="1400"/>
          </a:p>
        </p:txBody>
      </p:sp>
      <p:sp>
        <p:nvSpPr>
          <p:cNvPr id="353" name="Google Shape;353;p36"/>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t>Who else is affected by this?</a:t>
            </a:r>
            <a:endParaRPr sz="1200"/>
          </a:p>
        </p:txBody>
      </p:sp>
      <p:pic>
        <p:nvPicPr>
          <p:cNvPr id="354" name="Google Shape;354;p36" title="download.jpg"/>
          <p:cNvPicPr preferRelativeResize="0"/>
          <p:nvPr/>
        </p:nvPicPr>
        <p:blipFill>
          <a:blip r:embed="rId3">
            <a:alphaModFix/>
          </a:blip>
          <a:stretch>
            <a:fillRect/>
          </a:stretch>
        </p:blipFill>
        <p:spPr>
          <a:xfrm>
            <a:off x="1384343" y="4305093"/>
            <a:ext cx="1210025" cy="770825"/>
          </a:xfrm>
          <a:prstGeom prst="rect">
            <a:avLst/>
          </a:prstGeom>
          <a:noFill/>
          <a:ln>
            <a:noFill/>
          </a:ln>
        </p:spPr>
      </p:pic>
      <p:pic>
        <p:nvPicPr>
          <p:cNvPr id="355" name="Google Shape;355;p36" title="download.jpg"/>
          <p:cNvPicPr preferRelativeResize="0"/>
          <p:nvPr/>
        </p:nvPicPr>
        <p:blipFill>
          <a:blip r:embed="rId4">
            <a:alphaModFix/>
          </a:blip>
          <a:stretch>
            <a:fillRect/>
          </a:stretch>
        </p:blipFill>
        <p:spPr>
          <a:xfrm>
            <a:off x="5225625" y="4260752"/>
            <a:ext cx="1029038" cy="770825"/>
          </a:xfrm>
          <a:prstGeom prst="rect">
            <a:avLst/>
          </a:prstGeom>
          <a:noFill/>
          <a:ln>
            <a:noFill/>
          </a:ln>
        </p:spPr>
      </p:pic>
      <p:pic>
        <p:nvPicPr>
          <p:cNvPr id="356" name="Google Shape;356;p36" title="download.jpg"/>
          <p:cNvPicPr preferRelativeResize="0"/>
          <p:nvPr/>
        </p:nvPicPr>
        <p:blipFill>
          <a:blip r:embed="rId5">
            <a:alphaModFix/>
          </a:blip>
          <a:stretch>
            <a:fillRect/>
          </a:stretch>
        </p:blipFill>
        <p:spPr>
          <a:xfrm>
            <a:off x="7363025" y="0"/>
            <a:ext cx="1428075" cy="621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Consequences</a:t>
            </a:r>
            <a:r>
              <a:rPr lang="en"/>
              <a:t> </a:t>
            </a:r>
            <a:endParaRPr/>
          </a:p>
        </p:txBody>
      </p:sp>
      <p:sp>
        <p:nvSpPr>
          <p:cNvPr id="362" name="Google Shape;362;p37"/>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63" name="Google Shape;363;p37"/>
          <p:cNvSpPr txBox="1"/>
          <p:nvPr>
            <p:ph idx="1" type="subTitle"/>
          </p:nvPr>
        </p:nvSpPr>
        <p:spPr>
          <a:xfrm>
            <a:off x="1991025" y="3510125"/>
            <a:ext cx="51360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Intended vs unintended, Short vs long-term, Who affected  </a:t>
            </a:r>
            <a:endParaRPr/>
          </a:p>
        </p:txBody>
      </p:sp>
      <p:cxnSp>
        <p:nvCxnSpPr>
          <p:cNvPr id="364" name="Google Shape;364;p37"/>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8"/>
          <p:cNvSpPr txBox="1"/>
          <p:nvPr>
            <p:ph idx="2" type="title"/>
          </p:nvPr>
        </p:nvSpPr>
        <p:spPr>
          <a:xfrm>
            <a:off x="422850" y="1204675"/>
            <a:ext cx="27633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t>Intended Consequences: The nuclear phase-out was the </a:t>
            </a:r>
            <a:r>
              <a:rPr lang="en" sz="1100"/>
              <a:t>government's</a:t>
            </a:r>
            <a:r>
              <a:rPr lang="en" sz="1100"/>
              <a:t> primary goal to completely eliminate nuclear power to remove the risks of </a:t>
            </a:r>
            <a:r>
              <a:rPr lang="en" sz="1100"/>
              <a:t>radioactive</a:t>
            </a:r>
            <a:r>
              <a:rPr lang="en" sz="1100"/>
              <a:t> waste. Germany also aimed to drastically cut </a:t>
            </a:r>
            <a:r>
              <a:rPr lang="en" sz="1100"/>
              <a:t>greenhouse</a:t>
            </a:r>
            <a:r>
              <a:rPr lang="en" sz="1100"/>
              <a:t> gas </a:t>
            </a:r>
            <a:r>
              <a:rPr lang="en" sz="1100"/>
              <a:t>emission</a:t>
            </a:r>
            <a:r>
              <a:rPr lang="en" sz="1100"/>
              <a:t> by replacing fossil fuels with </a:t>
            </a:r>
            <a:r>
              <a:rPr lang="en" sz="1100"/>
              <a:t>wind</a:t>
            </a:r>
            <a:r>
              <a:rPr lang="en" sz="1100"/>
              <a:t> and solar power This caused renewable energy </a:t>
            </a:r>
            <a:r>
              <a:rPr lang="en" sz="1100"/>
              <a:t>growth</a:t>
            </a:r>
            <a:r>
              <a:rPr lang="en" sz="1100"/>
              <a:t> and the policy intended to spark massive green </a:t>
            </a:r>
            <a:r>
              <a:rPr lang="en" sz="1100"/>
              <a:t>tech</a:t>
            </a:r>
            <a:r>
              <a:rPr lang="en" sz="1100"/>
              <a:t> </a:t>
            </a:r>
            <a:r>
              <a:rPr lang="en" sz="1100"/>
              <a:t>innovations</a:t>
            </a:r>
            <a:r>
              <a:rPr lang="en" sz="1100"/>
              <a:t> and make wind and </a:t>
            </a:r>
            <a:r>
              <a:rPr lang="en" sz="1100"/>
              <a:t>collar</a:t>
            </a:r>
            <a:r>
              <a:rPr lang="en" sz="1100"/>
              <a:t> become the main </a:t>
            </a:r>
            <a:r>
              <a:rPr lang="en" sz="1100"/>
              <a:t>course</a:t>
            </a:r>
            <a:r>
              <a:rPr lang="en" sz="1100"/>
              <a:t> of electricity. Developing local power was also meant to stop </a:t>
            </a:r>
            <a:r>
              <a:rPr lang="en" sz="1100"/>
              <a:t>Germany's</a:t>
            </a:r>
            <a:r>
              <a:rPr lang="en" sz="1100"/>
              <a:t> reliance on buying </a:t>
            </a:r>
            <a:r>
              <a:rPr lang="en" sz="1100"/>
              <a:t>expensive</a:t>
            </a:r>
            <a:r>
              <a:rPr lang="en" sz="1100"/>
              <a:t> </a:t>
            </a:r>
            <a:r>
              <a:rPr lang="en" sz="1100"/>
              <a:t>foreign</a:t>
            </a:r>
            <a:r>
              <a:rPr lang="en" sz="1100"/>
              <a:t> </a:t>
            </a:r>
            <a:r>
              <a:rPr lang="en" sz="1100"/>
              <a:t>oil</a:t>
            </a:r>
            <a:r>
              <a:rPr lang="en" sz="1100"/>
              <a:t> and gas. The government wanted to create thousand of new, stable jobs in clean </a:t>
            </a:r>
            <a:r>
              <a:rPr lang="en" sz="1100"/>
              <a:t>energy</a:t>
            </a:r>
            <a:r>
              <a:rPr lang="en" sz="1100"/>
              <a:t> and </a:t>
            </a:r>
            <a:r>
              <a:rPr lang="en" sz="1100"/>
              <a:t>manufacturing</a:t>
            </a:r>
            <a:r>
              <a:rPr lang="en" sz="1100"/>
              <a:t> sectors. </a:t>
            </a:r>
            <a:endParaRPr sz="1100"/>
          </a:p>
          <a:p>
            <a:pPr indent="0" lvl="0" marL="0" rtl="0" algn="l">
              <a:lnSpc>
                <a:spcPct val="115000"/>
              </a:lnSpc>
              <a:spcBef>
                <a:spcPts val="1200"/>
              </a:spcBef>
              <a:spcAft>
                <a:spcPts val="1200"/>
              </a:spcAft>
              <a:buNone/>
            </a:pPr>
            <a:r>
              <a:t/>
            </a:r>
            <a:endParaRPr sz="1100"/>
          </a:p>
        </p:txBody>
      </p:sp>
      <p:sp>
        <p:nvSpPr>
          <p:cNvPr id="370" name="Google Shape;370;p38"/>
          <p:cNvSpPr txBox="1"/>
          <p:nvPr>
            <p:ph idx="2" type="title"/>
          </p:nvPr>
        </p:nvSpPr>
        <p:spPr>
          <a:xfrm>
            <a:off x="3186238" y="1182475"/>
            <a:ext cx="2763300" cy="3387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t>Unintended Consequences: Te government decision to phase out nuclear power forces the energy gri to rely on fossil fuels during the transition =, this caused an increase in coal and lignite consumption to fill up the energy gap. Elimination cheap, reliable baseload nuclear power resulted in the average electricity prices scoring 20-30% higher than they would have been otherwise. Germany’s manufacturing sector relies strongly on energy. Higher prices reduced purchasing power and led to a slump in economic growth, and triggered fears of economic change as big industries scaled back their production.  </a:t>
            </a:r>
            <a:endParaRPr sz="1100"/>
          </a:p>
          <a:p>
            <a:pPr indent="0" lvl="0" marL="0" rtl="0" algn="l">
              <a:spcBef>
                <a:spcPts val="1200"/>
              </a:spcBef>
              <a:spcAft>
                <a:spcPts val="0"/>
              </a:spcAft>
              <a:buClr>
                <a:schemeClr val="dk1"/>
              </a:buClr>
              <a:buSzPts val="1100"/>
              <a:buFont typeface="Arial"/>
              <a:buNone/>
            </a:pPr>
            <a:r>
              <a:t/>
            </a:r>
            <a:endParaRPr sz="1300"/>
          </a:p>
        </p:txBody>
      </p:sp>
      <p:sp>
        <p:nvSpPr>
          <p:cNvPr id="371" name="Google Shape;371;p38"/>
          <p:cNvSpPr txBox="1"/>
          <p:nvPr>
            <p:ph idx="2" type="title"/>
          </p:nvPr>
        </p:nvSpPr>
        <p:spPr>
          <a:xfrm>
            <a:off x="5949650" y="1204800"/>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Short Term: </a:t>
            </a:r>
            <a:endParaRPr sz="1300"/>
          </a:p>
          <a:p>
            <a:pPr indent="-311150" lvl="0" marL="457200" rtl="0" algn="l">
              <a:spcBef>
                <a:spcPts val="0"/>
              </a:spcBef>
              <a:spcAft>
                <a:spcPts val="0"/>
              </a:spcAft>
              <a:buSzPts val="1300"/>
              <a:buChar char="-"/>
            </a:pPr>
            <a:r>
              <a:rPr lang="en" sz="1300"/>
              <a:t>Higher electricity and heating bills. </a:t>
            </a:r>
            <a:endParaRPr sz="1300"/>
          </a:p>
          <a:p>
            <a:pPr indent="-311150" lvl="0" marL="457200" rtl="0" algn="l">
              <a:spcBef>
                <a:spcPts val="0"/>
              </a:spcBef>
              <a:spcAft>
                <a:spcPts val="0"/>
              </a:spcAft>
              <a:buSzPts val="1300"/>
              <a:buChar char="-"/>
            </a:pPr>
            <a:r>
              <a:rPr lang="en" sz="1300"/>
              <a:t>Increased costs for businesses and factories.</a:t>
            </a:r>
            <a:endParaRPr sz="1300"/>
          </a:p>
          <a:p>
            <a:pPr indent="-311150" lvl="0" marL="457200" rtl="0" algn="l">
              <a:spcBef>
                <a:spcPts val="0"/>
              </a:spcBef>
              <a:spcAft>
                <a:spcPts val="0"/>
              </a:spcAft>
              <a:buSzPts val="1300"/>
              <a:buChar char="-"/>
            </a:pPr>
            <a:r>
              <a:rPr lang="en" sz="1300"/>
              <a:t>Government spending increased.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Long Term: </a:t>
            </a:r>
            <a:endParaRPr sz="1300"/>
          </a:p>
          <a:p>
            <a:pPr indent="-311150" lvl="0" marL="457200" rtl="0" algn="l">
              <a:spcBef>
                <a:spcPts val="0"/>
              </a:spcBef>
              <a:spcAft>
                <a:spcPts val="0"/>
              </a:spcAft>
              <a:buSzPts val="1300"/>
              <a:buChar char="-"/>
            </a:pPr>
            <a:r>
              <a:rPr lang="en" sz="1300"/>
              <a:t>More </a:t>
            </a:r>
            <a:r>
              <a:rPr lang="en" sz="1300"/>
              <a:t>investments</a:t>
            </a:r>
            <a:r>
              <a:rPr lang="en" sz="1300"/>
              <a:t> in renewable energy. </a:t>
            </a:r>
            <a:endParaRPr sz="1300"/>
          </a:p>
          <a:p>
            <a:pPr indent="-311150" lvl="0" marL="457200" rtl="0" algn="l">
              <a:spcBef>
                <a:spcPts val="0"/>
              </a:spcBef>
              <a:spcAft>
                <a:spcPts val="0"/>
              </a:spcAft>
              <a:buSzPts val="1300"/>
              <a:buChar char="-"/>
            </a:pPr>
            <a:r>
              <a:rPr lang="en" sz="1300"/>
              <a:t>Less </a:t>
            </a:r>
            <a:r>
              <a:rPr lang="en" sz="1300"/>
              <a:t>dependence</a:t>
            </a:r>
            <a:r>
              <a:rPr lang="en" sz="1300"/>
              <a:t> in Russian gas. </a:t>
            </a:r>
            <a:endParaRPr sz="1300"/>
          </a:p>
          <a:p>
            <a:pPr indent="-311150" lvl="0" marL="457200" rtl="0" algn="l">
              <a:spcBef>
                <a:spcPts val="0"/>
              </a:spcBef>
              <a:spcAft>
                <a:spcPts val="0"/>
              </a:spcAft>
              <a:buSzPts val="1300"/>
              <a:buChar char="-"/>
            </a:pPr>
            <a:r>
              <a:rPr lang="en" sz="1300"/>
              <a:t>Development of new technologies and jobs. </a:t>
            </a:r>
            <a:endParaRPr sz="1300"/>
          </a:p>
          <a:p>
            <a:pPr indent="-311150" lvl="0" marL="457200" rtl="0" algn="l">
              <a:spcBef>
                <a:spcPts val="0"/>
              </a:spcBef>
              <a:spcAft>
                <a:spcPts val="0"/>
              </a:spcAft>
              <a:buSzPts val="1300"/>
              <a:buChar char="-"/>
            </a:pPr>
            <a:r>
              <a:rPr lang="en" sz="1300"/>
              <a:t>More sustainable energy system. </a:t>
            </a:r>
            <a:endParaRPr sz="1300"/>
          </a:p>
        </p:txBody>
      </p:sp>
      <p:sp>
        <p:nvSpPr>
          <p:cNvPr id="372" name="Google Shape;372;p38"/>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What were the Intended &amp; Unintended Consequences?</a:t>
            </a:r>
            <a:endParaRPr b="1" sz="1200"/>
          </a:p>
        </p:txBody>
      </p:sp>
      <p:sp>
        <p:nvSpPr>
          <p:cNvPr id="373" name="Google Shape;373;p38"/>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Short-term &amp; Long-</a:t>
            </a:r>
            <a:r>
              <a:rPr b="1" lang="en" sz="1200"/>
              <a:t>term</a:t>
            </a:r>
            <a:r>
              <a:rPr b="1" lang="en" sz="1200"/>
              <a:t> Effects?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9"/>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Canada &amp; Reflection</a:t>
            </a:r>
            <a:endParaRPr/>
          </a:p>
        </p:txBody>
      </p:sp>
      <p:sp>
        <p:nvSpPr>
          <p:cNvPr id="379" name="Google Shape;379;p39"/>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80" name="Google Shape;380;p39"/>
          <p:cNvSpPr txBox="1"/>
          <p:nvPr>
            <p:ph idx="1" type="subTitle"/>
          </p:nvPr>
        </p:nvSpPr>
        <p:spPr>
          <a:xfrm>
            <a:off x="1991025" y="3510125"/>
            <a:ext cx="51360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a:t>
            </a:r>
            <a:r>
              <a:rPr lang="en"/>
              <a:t>Canada comparison, Why Canadians should care  </a:t>
            </a:r>
            <a:endParaRPr/>
          </a:p>
        </p:txBody>
      </p:sp>
      <p:cxnSp>
        <p:nvCxnSpPr>
          <p:cNvPr id="381" name="Google Shape;381;p39"/>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0"/>
          <p:cNvSpPr txBox="1"/>
          <p:nvPr>
            <p:ph idx="1" type="subTitle"/>
          </p:nvPr>
        </p:nvSpPr>
        <p:spPr>
          <a:xfrm>
            <a:off x="4588750" y="586200"/>
            <a:ext cx="3935700" cy="397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700"/>
              <a:t>Why should Canadian Care? </a:t>
            </a:r>
            <a:endParaRPr sz="1500"/>
          </a:p>
          <a:p>
            <a:pPr indent="0" lvl="0" marL="0" rtl="0" algn="ctr">
              <a:spcBef>
                <a:spcPts val="0"/>
              </a:spcBef>
              <a:spcAft>
                <a:spcPts val="0"/>
              </a:spcAft>
              <a:buNone/>
            </a:pPr>
            <a:r>
              <a:t/>
            </a:r>
            <a:endParaRPr sz="1500"/>
          </a:p>
          <a:p>
            <a:pPr indent="0" lvl="0" marL="0" rtl="0" algn="l">
              <a:spcBef>
                <a:spcPts val="0"/>
              </a:spcBef>
              <a:spcAft>
                <a:spcPts val="0"/>
              </a:spcAft>
              <a:buNone/>
            </a:pPr>
            <a:r>
              <a:rPr lang="en" sz="1300"/>
              <a:t>Canadians should care because </a:t>
            </a:r>
            <a:r>
              <a:rPr lang="en" sz="1300"/>
              <a:t>Germany's energy</a:t>
            </a:r>
            <a:r>
              <a:rPr lang="en" sz="1300"/>
              <a:t> </a:t>
            </a:r>
            <a:r>
              <a:rPr lang="en" sz="1300"/>
              <a:t>transition</a:t>
            </a:r>
            <a:r>
              <a:rPr lang="en" sz="1300"/>
              <a:t> affects climate change, energy </a:t>
            </a:r>
            <a:r>
              <a:rPr lang="en" sz="1300"/>
              <a:t>markets</a:t>
            </a:r>
            <a:r>
              <a:rPr lang="en" sz="1300"/>
              <a:t>, and the </a:t>
            </a:r>
            <a:r>
              <a:rPr lang="en" sz="1300"/>
              <a:t>economy</a:t>
            </a:r>
            <a:r>
              <a:rPr lang="en" sz="1300"/>
              <a:t>, which also indirectly affects Canada. Both Canada and </a:t>
            </a:r>
            <a:r>
              <a:rPr lang="en" sz="1300"/>
              <a:t>Germany are a Group of Seven (G7)</a:t>
            </a:r>
            <a:r>
              <a:rPr lang="en" sz="1300"/>
              <a:t> </a:t>
            </a:r>
            <a:r>
              <a:rPr lang="en" sz="1300"/>
              <a:t>countries who are trying to keep energy affordable and reliable while reducing greenhouse gas emissions. They are major economies with influence on global  climate and energy policy. They face challenges of transitioning to cleaner energy while maintaining strong economies, reliable energy supplies, and affordable prices. Germany's expreserince provides lessons that Canada can learn from and built upon. </a:t>
            </a:r>
            <a:endParaRPr b="1" sz="1200"/>
          </a:p>
        </p:txBody>
      </p:sp>
      <p:sp>
        <p:nvSpPr>
          <p:cNvPr id="387" name="Google Shape;387;p40"/>
          <p:cNvSpPr txBox="1"/>
          <p:nvPr>
            <p:ph idx="1" type="subTitle"/>
          </p:nvPr>
        </p:nvSpPr>
        <p:spPr>
          <a:xfrm>
            <a:off x="633500" y="586200"/>
            <a:ext cx="3756000" cy="397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700"/>
              <a:t>Canada Comparison</a:t>
            </a:r>
            <a:endParaRPr sz="1500"/>
          </a:p>
          <a:p>
            <a:pPr indent="0" lvl="0" marL="0" rtl="0" algn="ctr">
              <a:spcBef>
                <a:spcPts val="0"/>
              </a:spcBef>
              <a:spcAft>
                <a:spcPts val="0"/>
              </a:spcAft>
              <a:buNone/>
            </a:pPr>
            <a:r>
              <a:t/>
            </a:r>
            <a:endParaRPr sz="1500"/>
          </a:p>
          <a:p>
            <a:pPr indent="0" lvl="0" marL="0" rtl="0" algn="l">
              <a:spcBef>
                <a:spcPts val="0"/>
              </a:spcBef>
              <a:spcAft>
                <a:spcPts val="0"/>
              </a:spcAft>
              <a:buNone/>
            </a:pPr>
            <a:r>
              <a:rPr lang="en" sz="1300"/>
              <a:t>Both Canada and </a:t>
            </a:r>
            <a:r>
              <a:rPr lang="en" sz="1300"/>
              <a:t>Germany</a:t>
            </a:r>
            <a:r>
              <a:rPr lang="en" sz="1300"/>
              <a:t> are trying to </a:t>
            </a:r>
            <a:r>
              <a:rPr lang="en" sz="1300"/>
              <a:t>reduce</a:t>
            </a:r>
            <a:r>
              <a:rPr lang="en" sz="1300"/>
              <a:t> greenhouse gas emissions, but that are facing </a:t>
            </a:r>
            <a:r>
              <a:rPr lang="en" sz="1300"/>
              <a:t>challenges</a:t>
            </a:r>
            <a:r>
              <a:rPr lang="en" sz="1300"/>
              <a:t> because they have </a:t>
            </a:r>
            <a:r>
              <a:rPr lang="en" sz="1300"/>
              <a:t>different</a:t>
            </a:r>
            <a:r>
              <a:rPr lang="en" sz="1300"/>
              <a:t> </a:t>
            </a:r>
            <a:r>
              <a:rPr lang="en" sz="1300"/>
              <a:t>energy</a:t>
            </a:r>
            <a:r>
              <a:rPr lang="en" sz="1300"/>
              <a:t> </a:t>
            </a:r>
            <a:r>
              <a:rPr lang="en" sz="1300"/>
              <a:t>resources. Germany wants to replace Russian gas and reduce emissions. Canada wants to also reduce emissions while remaining as a major oil and gas producer. In Germany, wind and solar are growing rapidly. In Canada, hydroelectric power is the major source. Germany imports LNG to replace Russian gas, while Canada exports LNG to other countries. Germany’s goal is to expand renewable energy through Energiewende. Canada’s goal is to balance economic benefits of energy exports with climate goals.  </a:t>
            </a:r>
            <a:endParaRPr b="1"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1"/>
          <p:cNvSpPr txBox="1"/>
          <p:nvPr>
            <p:ph idx="1" type="subTitle"/>
          </p:nvPr>
        </p:nvSpPr>
        <p:spPr>
          <a:xfrm>
            <a:off x="482675" y="1136500"/>
            <a:ext cx="8461800" cy="3472200"/>
          </a:xfrm>
          <a:prstGeom prst="rect">
            <a:avLst/>
          </a:prstGeom>
        </p:spPr>
        <p:txBody>
          <a:bodyPr anchorCtr="0" anchor="t" bIns="91425" lIns="91425" spcFirstLastPara="1" rIns="91425" wrap="square" tIns="91425">
            <a:noAutofit/>
          </a:bodyPr>
          <a:lstStyle/>
          <a:p>
            <a:pPr indent="-292100" lvl="0" marL="457200" rtl="0" algn="l">
              <a:lnSpc>
                <a:spcPct val="200000"/>
              </a:lnSpc>
              <a:spcBef>
                <a:spcPts val="0"/>
              </a:spcBef>
              <a:spcAft>
                <a:spcPts val="0"/>
              </a:spcAft>
              <a:buClr>
                <a:schemeClr val="dk1"/>
              </a:buClr>
              <a:buSzPts val="1000"/>
              <a:buChar char="■"/>
            </a:pPr>
            <a:r>
              <a:rPr lang="en" sz="1000">
                <a:latin typeface="Arial"/>
                <a:ea typeface="Arial"/>
                <a:cs typeface="Arial"/>
                <a:sym typeface="Arial"/>
              </a:rPr>
              <a:t>Wikipedia Contributors. (2019, May 24). </a:t>
            </a:r>
            <a:r>
              <a:rPr i="1" lang="en" sz="1000">
                <a:latin typeface="Arial"/>
                <a:ea typeface="Arial"/>
                <a:cs typeface="Arial"/>
                <a:sym typeface="Arial"/>
              </a:rPr>
              <a:t>Bundestag</a:t>
            </a:r>
            <a:r>
              <a:rPr lang="en" sz="1000">
                <a:latin typeface="Arial"/>
                <a:ea typeface="Arial"/>
                <a:cs typeface="Arial"/>
                <a:sym typeface="Arial"/>
              </a:rPr>
              <a:t>. Wikipedia; Wikimedia Foundation. </a:t>
            </a:r>
            <a:r>
              <a:rPr lang="en" sz="1000" u="sng">
                <a:solidFill>
                  <a:schemeClr val="hlink"/>
                </a:solidFill>
                <a:latin typeface="Arial"/>
                <a:ea typeface="Arial"/>
                <a:cs typeface="Arial"/>
                <a:sym typeface="Arial"/>
                <a:hlinkClick r:id="rId3"/>
              </a:rPr>
              <a:t>https://en.wikipedia.org/wiki/Bundestag</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Clean Energy Wire. (2018, November 29). </a:t>
            </a:r>
            <a:r>
              <a:rPr i="1" lang="en" sz="1000">
                <a:latin typeface="Arial"/>
                <a:ea typeface="Arial"/>
                <a:cs typeface="Arial"/>
                <a:sym typeface="Arial"/>
              </a:rPr>
              <a:t>Germany’s Energiewende in brief</a:t>
            </a:r>
            <a:r>
              <a:rPr lang="en" sz="1000">
                <a:latin typeface="Arial"/>
                <a:ea typeface="Arial"/>
                <a:cs typeface="Arial"/>
                <a:sym typeface="Arial"/>
              </a:rPr>
              <a:t>. Clean Energy Wire. </a:t>
            </a:r>
            <a:r>
              <a:rPr lang="en" sz="1000">
                <a:uFill>
                  <a:noFill/>
                </a:uFill>
                <a:latin typeface="Arial"/>
                <a:ea typeface="Arial"/>
                <a:cs typeface="Arial"/>
                <a:sym typeface="Arial"/>
                <a:hlinkClick r:id="rId4"/>
              </a:rPr>
              <a:t>https://www.cleanenergywire.org/germanys-energiewende-brief</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Gross, S., &amp; Stelzenmüller, C. (2024, June 18). Europe’s Messy Russian Gas Divorce. Brookings. </a:t>
            </a:r>
            <a:r>
              <a:rPr lang="en" sz="1000" u="sng">
                <a:solidFill>
                  <a:schemeClr val="hlink"/>
                </a:solidFill>
                <a:latin typeface="Arial"/>
                <a:ea typeface="Arial"/>
                <a:cs typeface="Arial"/>
                <a:sym typeface="Arial"/>
                <a:hlinkClick r:id="rId5"/>
              </a:rPr>
              <a:t>https://www.brookings.edu/articles/europes-messy-russian-gas-divorce/</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Wehrmann, B. (2022, June 14). What happens if Russia’s gas supplies to Germany are cut? Clean Energy Wire. </a:t>
            </a:r>
            <a:r>
              <a:rPr lang="en" sz="1000" u="sng">
                <a:solidFill>
                  <a:schemeClr val="hlink"/>
                </a:solidFill>
                <a:latin typeface="Arial"/>
                <a:ea typeface="Arial"/>
                <a:cs typeface="Arial"/>
                <a:sym typeface="Arial"/>
                <a:hlinkClick r:id="rId6"/>
              </a:rPr>
              <a:t>https://www.cleanenergywire.org/factsheets/what-happens-if-russias-gas-supplies-germany-are-cut</a:t>
            </a:r>
            <a:endParaRPr sz="1000">
              <a:latin typeface="Arial"/>
              <a:ea typeface="Arial"/>
              <a:cs typeface="Arial"/>
              <a:sym typeface="Arial"/>
            </a:endParaRPr>
          </a:p>
        </p:txBody>
      </p:sp>
      <p:sp>
        <p:nvSpPr>
          <p:cNvPr id="393" name="Google Shape;393;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t>RESOURCES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rman Language Academy by Slidesgo">
  <a:themeElements>
    <a:clrScheme name="Simple Light">
      <a:dk1>
        <a:srgbClr val="000000"/>
      </a:dk1>
      <a:lt1>
        <a:srgbClr val="D50C1A"/>
      </a:lt1>
      <a:dk2>
        <a:srgbClr val="DAAC18"/>
      </a:dk2>
      <a:lt2>
        <a:srgbClr val="E8E8E8"/>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