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Anton"/>
      <p:regular r:id="rId12"/>
    </p:embeddedFont>
    <p:embeddedFont>
      <p:font typeface="Average"/>
      <p:regular r:id="rId13"/>
    </p:embeddedFon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verage-regular.fntdata"/><Relationship Id="rId12" Type="http://schemas.openxmlformats.org/officeDocument/2006/relationships/font" Target="fonts/Anton-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a8ca10e1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a8ca10e1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abc034c4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abc034c4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b9adb5e6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b9adb5e6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adb5e6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b9adb5e6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bca2084f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bca2084f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176EE"/>
            </a:gs>
            <a:gs pos="100000">
              <a:srgbClr val="113D8A"/>
            </a:gs>
          </a:gsLst>
          <a:path path="circle">
            <a:fillToRect b="50%" l="50%" r="50%" t="50%"/>
          </a:path>
          <a:tileRect/>
        </a:gra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Taiwan</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Clark</a:t>
            </a:r>
            <a:endParaRPr>
              <a:solidFill>
                <a:schemeClr val="dk1"/>
              </a:solidFill>
            </a:endParaRPr>
          </a:p>
          <a:p>
            <a:pPr indent="0" lvl="0" marL="0" rtl="0" algn="ctr">
              <a:spcBef>
                <a:spcPts val="0"/>
              </a:spcBef>
              <a:spcAft>
                <a:spcPts val="0"/>
              </a:spcAft>
              <a:buNone/>
            </a:pPr>
            <a:r>
              <a:rPr lang="en">
                <a:solidFill>
                  <a:schemeClr val="dk1"/>
                </a:solidFill>
              </a:rPr>
              <a:t>Issue: </a:t>
            </a:r>
            <a:r>
              <a:rPr lang="en">
                <a:solidFill>
                  <a:schemeClr val="dk1"/>
                </a:solidFill>
              </a:rPr>
              <a:t>Geopolitical Tensions &amp; Semiconductor Industry</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88516"/>
            </a:gs>
            <a:gs pos="100000">
              <a:srgbClr val="203E13"/>
            </a:gs>
          </a:gsLst>
          <a:lin ang="5400012" scaled="0"/>
        </a:gra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00" u="sng"/>
              <a:t>Country Background </a:t>
            </a:r>
            <a:endParaRPr b="1" sz="3300" u="sng"/>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u="sng">
                <a:solidFill>
                  <a:schemeClr val="dk1"/>
                </a:solidFill>
              </a:rPr>
              <a:t>Language: Chinese (Mandarin) </a:t>
            </a:r>
            <a:endParaRPr b="1" sz="2100" u="sng">
              <a:solidFill>
                <a:schemeClr val="dk1"/>
              </a:solidFill>
            </a:endParaRPr>
          </a:p>
          <a:p>
            <a:pPr indent="0" lvl="0" marL="0" rtl="0" algn="l">
              <a:spcBef>
                <a:spcPts val="1200"/>
              </a:spcBef>
              <a:spcAft>
                <a:spcPts val="0"/>
              </a:spcAft>
              <a:buNone/>
            </a:pPr>
            <a:r>
              <a:rPr b="1" lang="en" sz="2100" u="sng">
                <a:solidFill>
                  <a:schemeClr val="dk1"/>
                </a:solidFill>
              </a:rPr>
              <a:t>Culture: The culture in Taiwan include Han Chinese, indigenous heritage, and Japanese </a:t>
            </a:r>
            <a:r>
              <a:rPr b="1" lang="en" sz="2100" u="sng">
                <a:solidFill>
                  <a:schemeClr val="dk1"/>
                </a:solidFill>
              </a:rPr>
              <a:t>influences, they have famous night markets for cuisine. </a:t>
            </a:r>
            <a:endParaRPr b="1" sz="2100" u="sng">
              <a:solidFill>
                <a:schemeClr val="dk1"/>
              </a:solidFill>
            </a:endParaRPr>
          </a:p>
          <a:p>
            <a:pPr indent="0" lvl="0" marL="0" rtl="0" algn="l">
              <a:spcBef>
                <a:spcPts val="1200"/>
              </a:spcBef>
              <a:spcAft>
                <a:spcPts val="0"/>
              </a:spcAft>
              <a:buNone/>
            </a:pPr>
            <a:r>
              <a:rPr b="1" lang="en" sz="2100" u="sng">
                <a:solidFill>
                  <a:schemeClr val="dk1"/>
                </a:solidFill>
              </a:rPr>
              <a:t>Brief economic context in Taiwan: </a:t>
            </a:r>
            <a:endParaRPr b="1" sz="2100" u="sng">
              <a:solidFill>
                <a:schemeClr val="dk1"/>
              </a:solidFill>
            </a:endParaRPr>
          </a:p>
          <a:p>
            <a:pPr indent="-361950" lvl="0" marL="457200" rtl="0" algn="l">
              <a:spcBef>
                <a:spcPts val="1200"/>
              </a:spcBef>
              <a:spcAft>
                <a:spcPts val="0"/>
              </a:spcAft>
              <a:buClr>
                <a:schemeClr val="dk1"/>
              </a:buClr>
              <a:buSzPts val="2100"/>
              <a:buAutoNum type="arabicPeriod"/>
            </a:pPr>
            <a:r>
              <a:rPr b="1" lang="en" sz="2100" u="sng">
                <a:solidFill>
                  <a:schemeClr val="dk1"/>
                </a:solidFill>
              </a:rPr>
              <a:t>Technology and Semiconductor Dominance </a:t>
            </a:r>
            <a:endParaRPr b="1" sz="2100" u="sng">
              <a:solidFill>
                <a:schemeClr val="dk1"/>
              </a:solidFill>
            </a:endParaRPr>
          </a:p>
          <a:p>
            <a:pPr indent="-361950" lvl="0" marL="457200" rtl="0" algn="l">
              <a:spcBef>
                <a:spcPts val="0"/>
              </a:spcBef>
              <a:spcAft>
                <a:spcPts val="0"/>
              </a:spcAft>
              <a:buClr>
                <a:schemeClr val="dk1"/>
              </a:buClr>
              <a:buSzPts val="2100"/>
              <a:buAutoNum type="arabicPeriod"/>
            </a:pPr>
            <a:r>
              <a:rPr b="1" lang="en" sz="2100" u="sng">
                <a:solidFill>
                  <a:schemeClr val="dk1"/>
                </a:solidFill>
              </a:rPr>
              <a:t>Robust Economics </a:t>
            </a:r>
            <a:endParaRPr b="1" sz="2100" u="sng">
              <a:solidFill>
                <a:schemeClr val="dk1"/>
              </a:solidFill>
            </a:endParaRPr>
          </a:p>
          <a:p>
            <a:pPr indent="-361950" lvl="0" marL="457200" rtl="0" algn="l">
              <a:spcBef>
                <a:spcPts val="0"/>
              </a:spcBef>
              <a:spcAft>
                <a:spcPts val="0"/>
              </a:spcAft>
              <a:buClr>
                <a:schemeClr val="dk1"/>
              </a:buClr>
              <a:buSzPts val="2100"/>
              <a:buAutoNum type="arabicPeriod"/>
            </a:pPr>
            <a:r>
              <a:rPr b="1" lang="en" sz="2100" u="sng">
                <a:solidFill>
                  <a:schemeClr val="dk1"/>
                </a:solidFill>
              </a:rPr>
              <a:t>Present security threats from China</a:t>
            </a:r>
            <a:endParaRPr b="1" sz="2100" u="sng">
              <a:solidFill>
                <a:schemeClr val="dk1"/>
              </a:solidFill>
            </a:endParaRPr>
          </a:p>
        </p:txBody>
      </p:sp>
      <p:pic>
        <p:nvPicPr>
          <p:cNvPr id="67" name="Google Shape;67;p14"/>
          <p:cNvPicPr preferRelativeResize="0"/>
          <p:nvPr/>
        </p:nvPicPr>
        <p:blipFill>
          <a:blip r:embed="rId3">
            <a:alphaModFix/>
          </a:blip>
          <a:stretch>
            <a:fillRect/>
          </a:stretch>
        </p:blipFill>
        <p:spPr>
          <a:xfrm>
            <a:off x="5831075" y="2661975"/>
            <a:ext cx="3312925" cy="2481525"/>
          </a:xfrm>
          <a:prstGeom prst="rect">
            <a:avLst/>
          </a:prstGeom>
          <a:noFill/>
          <a:ln>
            <a:noFill/>
          </a:ln>
        </p:spPr>
      </p:pic>
      <p:sp>
        <p:nvSpPr>
          <p:cNvPr id="68" name="Google Shape;68;p14"/>
          <p:cNvSpPr txBox="1"/>
          <p:nvPr/>
        </p:nvSpPr>
        <p:spPr>
          <a:xfrm>
            <a:off x="405975" y="4136200"/>
            <a:ext cx="85425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2100" u="sng">
                <a:solidFill>
                  <a:schemeClr val="dk1"/>
                </a:solidFill>
                <a:latin typeface="Average"/>
                <a:ea typeface="Average"/>
                <a:cs typeface="Average"/>
                <a:sym typeface="Average"/>
              </a:rPr>
              <a:t> when comes to economic </a:t>
            </a:r>
            <a:endParaRPr sz="1800">
              <a:solidFill>
                <a:schemeClr val="accent3"/>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8108"/>
            </a:gs>
            <a:gs pos="100000">
              <a:srgbClr val="703D08"/>
            </a:gs>
          </a:gsLst>
          <a:path path="circle">
            <a:fillToRect b="50%" l="50%" r="50%" t="50%"/>
          </a:path>
          <a:tileRect/>
        </a:gradFill>
      </p:bgPr>
    </p:bg>
    <p:spTree>
      <p:nvGrpSpPr>
        <p:cNvPr id="72" name="Shape 72"/>
        <p:cNvGrpSpPr/>
        <p:nvPr/>
      </p:nvGrpSpPr>
      <p:grpSpPr>
        <a:xfrm>
          <a:off x="0" y="0"/>
          <a:ext cx="0" cy="0"/>
          <a:chOff x="0" y="0"/>
          <a:chExt cx="0" cy="0"/>
        </a:xfrm>
      </p:grpSpPr>
      <p:sp>
        <p:nvSpPr>
          <p:cNvPr id="73" name="Google Shape;73;p15"/>
          <p:cNvSpPr txBox="1"/>
          <p:nvPr>
            <p:ph type="title"/>
          </p:nvPr>
        </p:nvSpPr>
        <p:spPr>
          <a:xfrm>
            <a:off x="311700" y="19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t>The Global Issue in Taiwan</a:t>
            </a:r>
            <a:endParaRPr b="1" u="sng"/>
          </a:p>
        </p:txBody>
      </p:sp>
      <p:sp>
        <p:nvSpPr>
          <p:cNvPr id="74" name="Google Shape;74;p15"/>
          <p:cNvSpPr txBox="1"/>
          <p:nvPr>
            <p:ph idx="1" type="body"/>
          </p:nvPr>
        </p:nvSpPr>
        <p:spPr>
          <a:xfrm>
            <a:off x="91025" y="1017725"/>
            <a:ext cx="3683100" cy="3416400"/>
          </a:xfrm>
          <a:prstGeom prst="rect">
            <a:avLst/>
          </a:prstGeom>
        </p:spPr>
        <p:txBody>
          <a:bodyPr anchorCtr="0" anchor="t" bIns="91425" lIns="91425" spcFirstLastPara="1" rIns="91425" wrap="square" tIns="91425">
            <a:normAutofit fontScale="77500"/>
          </a:bodyPr>
          <a:lstStyle/>
          <a:p>
            <a:pPr indent="0" lvl="0" marL="457200" rtl="0" algn="l">
              <a:spcBef>
                <a:spcPts val="0"/>
              </a:spcBef>
              <a:spcAft>
                <a:spcPts val="1200"/>
              </a:spcAft>
              <a:buNone/>
            </a:pPr>
            <a:r>
              <a:rPr b="1" lang="en" sz="2624">
                <a:solidFill>
                  <a:schemeClr val="dk1"/>
                </a:solidFill>
                <a:latin typeface="Anton"/>
                <a:ea typeface="Anton"/>
                <a:cs typeface="Anton"/>
                <a:sym typeface="Anton"/>
              </a:rPr>
              <a:t>The semiconductors and industry</a:t>
            </a:r>
            <a:r>
              <a:rPr b="1" lang="en">
                <a:solidFill>
                  <a:schemeClr val="dk1"/>
                </a:solidFill>
                <a:latin typeface="Arial"/>
                <a:ea typeface="Arial"/>
                <a:cs typeface="Arial"/>
                <a:sym typeface="Arial"/>
              </a:rPr>
              <a:t>. </a:t>
            </a:r>
            <a:r>
              <a:rPr b="1" lang="en" sz="1918">
                <a:solidFill>
                  <a:schemeClr val="dk1"/>
                </a:solidFill>
                <a:latin typeface="Arial"/>
                <a:ea typeface="Arial"/>
                <a:cs typeface="Arial"/>
                <a:sym typeface="Arial"/>
              </a:rPr>
              <a:t>The semiconductors are chips used in almost every </a:t>
            </a:r>
            <a:r>
              <a:rPr b="1" lang="en" sz="1918">
                <a:solidFill>
                  <a:schemeClr val="dk1"/>
                </a:solidFill>
                <a:latin typeface="Arial"/>
                <a:ea typeface="Arial"/>
                <a:cs typeface="Arial"/>
                <a:sym typeface="Arial"/>
              </a:rPr>
              <a:t>electronic</a:t>
            </a:r>
            <a:r>
              <a:rPr b="1" lang="en" sz="1918">
                <a:solidFill>
                  <a:schemeClr val="dk1"/>
                </a:solidFill>
                <a:latin typeface="Arial"/>
                <a:ea typeface="Arial"/>
                <a:cs typeface="Arial"/>
                <a:sym typeface="Arial"/>
              </a:rPr>
              <a:t> device, like cell phones, computers, video game consoles and many more. This is a problem because Taiwan is the only country in the world that produces a lot of those chips, at the same time its political status is disputed by China. </a:t>
            </a:r>
            <a:endParaRPr b="1" sz="1918">
              <a:solidFill>
                <a:schemeClr val="dk1"/>
              </a:solidFill>
              <a:latin typeface="Arial"/>
              <a:ea typeface="Arial"/>
              <a:cs typeface="Arial"/>
              <a:sym typeface="Arial"/>
            </a:endParaRPr>
          </a:p>
        </p:txBody>
      </p:sp>
      <p:sp>
        <p:nvSpPr>
          <p:cNvPr id="75" name="Google Shape;75;p15"/>
          <p:cNvSpPr txBox="1"/>
          <p:nvPr/>
        </p:nvSpPr>
        <p:spPr>
          <a:xfrm>
            <a:off x="4096700" y="539375"/>
            <a:ext cx="4283400" cy="4373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2200">
                <a:solidFill>
                  <a:schemeClr val="dk1"/>
                </a:solidFill>
                <a:latin typeface="Anton"/>
                <a:ea typeface="Anton"/>
                <a:cs typeface="Anton"/>
                <a:sym typeface="Anton"/>
              </a:rPr>
              <a:t>The geopolitical tensions</a:t>
            </a:r>
            <a:r>
              <a:rPr b="1" lang="en" sz="1600">
                <a:solidFill>
                  <a:schemeClr val="dk1"/>
                </a:solidFill>
              </a:rPr>
              <a:t>. The tensions between China, because of the Chinese government is considering Taiwan as just a province of theirs. But Taiwan has its own government, which means there are both confusion and arguments about Taiwan’s future status. If the conflict disrupted Taiwan’s semiconductor industry, then chip supplies could slow down, which also means the prices of electronics could rise. </a:t>
            </a:r>
            <a:endParaRPr b="1" sz="1600">
              <a:solidFill>
                <a:schemeClr val="dk1"/>
              </a:solidFill>
            </a:endParaRPr>
          </a:p>
          <a:p>
            <a:pPr indent="0" lvl="0" marL="0" rtl="0" algn="l">
              <a:lnSpc>
                <a:spcPct val="115000"/>
              </a:lnSpc>
              <a:spcBef>
                <a:spcPts val="1200"/>
              </a:spcBef>
              <a:spcAft>
                <a:spcPts val="1200"/>
              </a:spcAft>
              <a:buNone/>
            </a:pPr>
            <a:r>
              <a:t/>
            </a:r>
            <a:endParaRPr sz="16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4D4D"/>
            </a:gs>
            <a:gs pos="100000">
              <a:srgbClr val="000000"/>
            </a:gs>
          </a:gsLst>
          <a:path path="circle">
            <a:fillToRect b="50%" l="50%" r="50%" t="50%"/>
          </a:path>
          <a:tileRect/>
        </a:gradFill>
      </p:bgPr>
    </p:bg>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200"/>
              <a:t>Country’s response </a:t>
            </a:r>
            <a:endParaRPr b="1" sz="3200"/>
          </a:p>
        </p:txBody>
      </p:sp>
      <p:sp>
        <p:nvSpPr>
          <p:cNvPr id="81" name="Google Shape;81;p16"/>
          <p:cNvSpPr txBox="1"/>
          <p:nvPr>
            <p:ph idx="1" type="body"/>
          </p:nvPr>
        </p:nvSpPr>
        <p:spPr>
          <a:xfrm>
            <a:off x="311700" y="1152475"/>
            <a:ext cx="50580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chemeClr val="dk1"/>
                </a:solidFill>
                <a:latin typeface="Arial"/>
                <a:ea typeface="Arial"/>
                <a:cs typeface="Arial"/>
                <a:sym typeface="Arial"/>
              </a:rPr>
              <a:t>Taiwan’s response to the global issues they have are:</a:t>
            </a:r>
            <a:endParaRPr b="1">
              <a:solidFill>
                <a:schemeClr val="dk1"/>
              </a:solidFill>
              <a:latin typeface="Arial"/>
              <a:ea typeface="Arial"/>
              <a:cs typeface="Arial"/>
              <a:sym typeface="Arial"/>
            </a:endParaRPr>
          </a:p>
          <a:p>
            <a:pPr indent="-342900" lvl="0" marL="457200" rtl="0" algn="l">
              <a:spcBef>
                <a:spcPts val="1200"/>
              </a:spcBef>
              <a:spcAft>
                <a:spcPts val="0"/>
              </a:spcAft>
              <a:buClr>
                <a:schemeClr val="dk1"/>
              </a:buClr>
              <a:buSzPts val="1800"/>
              <a:buFont typeface="Arial"/>
              <a:buAutoNum type="arabicPeriod"/>
            </a:pPr>
            <a:r>
              <a:rPr b="1" lang="en">
                <a:solidFill>
                  <a:schemeClr val="dk1"/>
                </a:solidFill>
                <a:latin typeface="Arial"/>
                <a:ea typeface="Arial"/>
                <a:cs typeface="Arial"/>
                <a:sym typeface="Arial"/>
              </a:rPr>
              <a:t>Maintain and increase strong defense towards China</a:t>
            </a:r>
            <a:endParaRPr b="1">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AutoNum type="arabicPeriod"/>
            </a:pPr>
            <a:r>
              <a:rPr b="1" lang="en">
                <a:solidFill>
                  <a:schemeClr val="dk1"/>
                </a:solidFill>
                <a:latin typeface="Arial"/>
                <a:ea typeface="Arial"/>
                <a:cs typeface="Arial"/>
                <a:sym typeface="Arial"/>
              </a:rPr>
              <a:t>Protect and fight rights for those companies</a:t>
            </a:r>
            <a:endParaRPr b="1">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AutoNum type="arabicPeriod"/>
            </a:pPr>
            <a:r>
              <a:rPr b="1" lang="en">
                <a:solidFill>
                  <a:schemeClr val="dk1"/>
                </a:solidFill>
                <a:latin typeface="Arial"/>
                <a:ea typeface="Arial"/>
                <a:cs typeface="Arial"/>
                <a:sym typeface="Arial"/>
              </a:rPr>
              <a:t>Working/</a:t>
            </a:r>
            <a:r>
              <a:rPr b="1" lang="en">
                <a:solidFill>
                  <a:schemeClr val="dk1"/>
                </a:solidFill>
                <a:latin typeface="Arial"/>
                <a:ea typeface="Arial"/>
                <a:cs typeface="Arial"/>
                <a:sym typeface="Arial"/>
              </a:rPr>
              <a:t>allegiance</a:t>
            </a:r>
            <a:r>
              <a:rPr b="1" lang="en">
                <a:solidFill>
                  <a:schemeClr val="dk1"/>
                </a:solidFill>
                <a:latin typeface="Arial"/>
                <a:ea typeface="Arial"/>
                <a:cs typeface="Arial"/>
                <a:sym typeface="Arial"/>
              </a:rPr>
              <a:t> with other countries such as Japan and the US</a:t>
            </a:r>
            <a:endParaRPr b="1">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AutoNum type="arabicPeriod"/>
            </a:pPr>
            <a:r>
              <a:rPr b="1" lang="en">
                <a:solidFill>
                  <a:schemeClr val="dk1"/>
                </a:solidFill>
                <a:latin typeface="Arial"/>
                <a:ea typeface="Arial"/>
                <a:cs typeface="Arial"/>
                <a:sym typeface="Arial"/>
              </a:rPr>
              <a:t>Expand their</a:t>
            </a:r>
            <a:r>
              <a:rPr b="1" lang="en">
                <a:solidFill>
                  <a:schemeClr val="dk1"/>
                </a:solidFill>
                <a:latin typeface="Arial"/>
                <a:ea typeface="Arial"/>
                <a:cs typeface="Arial"/>
                <a:sym typeface="Arial"/>
              </a:rPr>
              <a:t> production outside of Taiwan</a:t>
            </a:r>
            <a:endParaRPr b="1">
              <a:solidFill>
                <a:schemeClr val="dk1"/>
              </a:solidFill>
              <a:latin typeface="Arial"/>
              <a:ea typeface="Arial"/>
              <a:cs typeface="Arial"/>
              <a:sym typeface="Arial"/>
            </a:endParaRPr>
          </a:p>
        </p:txBody>
      </p:sp>
      <p:pic>
        <p:nvPicPr>
          <p:cNvPr id="82" name="Google Shape;82;p16" title="download.jpg"/>
          <p:cNvPicPr preferRelativeResize="0"/>
          <p:nvPr/>
        </p:nvPicPr>
        <p:blipFill>
          <a:blip r:embed="rId3">
            <a:alphaModFix/>
          </a:blip>
          <a:stretch>
            <a:fillRect/>
          </a:stretch>
        </p:blipFill>
        <p:spPr>
          <a:xfrm>
            <a:off x="5211100" y="3596838"/>
            <a:ext cx="3790950" cy="1209675"/>
          </a:xfrm>
          <a:prstGeom prst="rect">
            <a:avLst/>
          </a:prstGeom>
          <a:noFill/>
          <a:ln>
            <a:noFill/>
          </a:ln>
        </p:spPr>
      </p:pic>
      <p:pic>
        <p:nvPicPr>
          <p:cNvPr id="83" name="Google Shape;83;p16" title="download.jpg"/>
          <p:cNvPicPr preferRelativeResize="0"/>
          <p:nvPr/>
        </p:nvPicPr>
        <p:blipFill>
          <a:blip r:embed="rId4">
            <a:alphaModFix/>
          </a:blip>
          <a:stretch>
            <a:fillRect/>
          </a:stretch>
        </p:blipFill>
        <p:spPr>
          <a:xfrm>
            <a:off x="5762625" y="614775"/>
            <a:ext cx="3069675" cy="229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C8C8C"/>
            </a:gs>
            <a:gs pos="100000">
              <a:srgbClr val="404040"/>
            </a:gs>
          </a:gsLst>
          <a:lin ang="5400012" scaled="0"/>
        </a:gradFill>
      </p:bgPr>
    </p:bg>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100">
                <a:latin typeface="Georgia"/>
                <a:ea typeface="Georgia"/>
                <a:cs typeface="Georgia"/>
                <a:sym typeface="Georgia"/>
              </a:rPr>
              <a:t>The consequences</a:t>
            </a:r>
            <a:endParaRPr b="1" sz="3100">
              <a:latin typeface="Georgia"/>
              <a:ea typeface="Georgia"/>
              <a:cs typeface="Georgia"/>
              <a:sym typeface="Georgia"/>
            </a:endParaRPr>
          </a:p>
        </p:txBody>
      </p:sp>
      <p:sp>
        <p:nvSpPr>
          <p:cNvPr id="89" name="Google Shape;89;p17"/>
          <p:cNvSpPr txBox="1"/>
          <p:nvPr>
            <p:ph idx="1" type="body"/>
          </p:nvPr>
        </p:nvSpPr>
        <p:spPr>
          <a:xfrm>
            <a:off x="311700" y="1152475"/>
            <a:ext cx="40395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chemeClr val="dk1"/>
                </a:solidFill>
              </a:rPr>
              <a:t>Intended consequences:</a:t>
            </a:r>
            <a:endParaRPr b="1" u="sng">
              <a:solidFill>
                <a:schemeClr val="dk1"/>
              </a:solidFill>
            </a:endParaRPr>
          </a:p>
          <a:p>
            <a:pPr indent="0" lvl="0" marL="0" rtl="0" algn="l">
              <a:spcBef>
                <a:spcPts val="1200"/>
              </a:spcBef>
              <a:spcAft>
                <a:spcPts val="0"/>
              </a:spcAft>
              <a:buNone/>
            </a:pPr>
            <a:r>
              <a:rPr lang="en">
                <a:solidFill>
                  <a:schemeClr val="dk1"/>
                </a:solidFill>
              </a:rPr>
              <a:t>Taiwan is trying to protect their semiconductor industry, as well upgrade their national security and build international friends and </a:t>
            </a:r>
            <a:r>
              <a:rPr lang="en">
                <a:solidFill>
                  <a:schemeClr val="dk1"/>
                </a:solidFill>
              </a:rPr>
              <a:t>allies.</a:t>
            </a:r>
            <a:endParaRPr>
              <a:solidFill>
                <a:schemeClr val="dk1"/>
              </a:solidFill>
            </a:endParaRPr>
          </a:p>
          <a:p>
            <a:pPr indent="0" lvl="0" marL="0" rtl="0" algn="l">
              <a:spcBef>
                <a:spcPts val="1200"/>
              </a:spcBef>
              <a:spcAft>
                <a:spcPts val="0"/>
              </a:spcAft>
              <a:buNone/>
            </a:pPr>
            <a:r>
              <a:rPr b="1" lang="en" u="sng">
                <a:solidFill>
                  <a:schemeClr val="dk1"/>
                </a:solidFill>
              </a:rPr>
              <a:t>Unintended consequences:</a:t>
            </a:r>
            <a:endParaRPr b="1" u="sng">
              <a:solidFill>
                <a:schemeClr val="dk1"/>
              </a:solidFill>
            </a:endParaRPr>
          </a:p>
          <a:p>
            <a:pPr indent="0" lvl="0" marL="0" rtl="0" algn="l">
              <a:spcBef>
                <a:spcPts val="1200"/>
              </a:spcBef>
              <a:spcAft>
                <a:spcPts val="1200"/>
              </a:spcAft>
              <a:buNone/>
            </a:pPr>
            <a:r>
              <a:rPr lang="en">
                <a:solidFill>
                  <a:schemeClr val="dk1"/>
                </a:solidFill>
              </a:rPr>
              <a:t>Increased tensions with China, higher costs for those semiconductors and global competition when other country is also starting their own semiconductor</a:t>
            </a:r>
            <a:endParaRPr>
              <a:solidFill>
                <a:schemeClr val="dk1"/>
              </a:solidFill>
            </a:endParaRPr>
          </a:p>
        </p:txBody>
      </p:sp>
      <p:sp>
        <p:nvSpPr>
          <p:cNvPr id="90" name="Google Shape;90;p17"/>
          <p:cNvSpPr txBox="1"/>
          <p:nvPr/>
        </p:nvSpPr>
        <p:spPr>
          <a:xfrm>
            <a:off x="4572000" y="0"/>
            <a:ext cx="4142100" cy="51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u="sng">
                <a:solidFill>
                  <a:schemeClr val="dk1"/>
                </a:solidFill>
                <a:latin typeface="Average"/>
                <a:ea typeface="Average"/>
                <a:cs typeface="Average"/>
                <a:sym typeface="Average"/>
              </a:rPr>
              <a:t>Short term effects:</a:t>
            </a:r>
            <a:endParaRPr b="1" sz="1800" u="sng">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Disruptions to chip supply</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Unbalanced</a:t>
            </a:r>
            <a:r>
              <a:rPr lang="en" sz="1800">
                <a:solidFill>
                  <a:schemeClr val="dk1"/>
                </a:solidFill>
                <a:latin typeface="Average"/>
                <a:ea typeface="Average"/>
                <a:cs typeface="Average"/>
                <a:sym typeface="Average"/>
              </a:rPr>
              <a:t> to the stock market</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More and increased </a:t>
            </a:r>
            <a:r>
              <a:rPr lang="en" sz="1800">
                <a:solidFill>
                  <a:schemeClr val="dk1"/>
                </a:solidFill>
                <a:latin typeface="Average"/>
                <a:ea typeface="Average"/>
                <a:cs typeface="Average"/>
                <a:sym typeface="Average"/>
              </a:rPr>
              <a:t>military</a:t>
            </a:r>
            <a:r>
              <a:rPr lang="en" sz="1800">
                <a:solidFill>
                  <a:schemeClr val="dk1"/>
                </a:solidFill>
                <a:latin typeface="Average"/>
                <a:ea typeface="Average"/>
                <a:cs typeface="Average"/>
                <a:sym typeface="Average"/>
              </a:rPr>
              <a:t> tension in Asia</a:t>
            </a:r>
            <a:endParaRPr sz="1800">
              <a:solidFill>
                <a:schemeClr val="dk1"/>
              </a:solidFill>
              <a:latin typeface="Average"/>
              <a:ea typeface="Average"/>
              <a:cs typeface="Average"/>
              <a:sym typeface="Average"/>
            </a:endParaRPr>
          </a:p>
          <a:p>
            <a:pPr indent="0" lvl="0" marL="0" rtl="0" algn="l">
              <a:spcBef>
                <a:spcPts val="0"/>
              </a:spcBef>
              <a:spcAft>
                <a:spcPts val="0"/>
              </a:spcAft>
              <a:buNone/>
            </a:pPr>
            <a:r>
              <a:t/>
            </a:r>
            <a:endParaRPr sz="1800">
              <a:solidFill>
                <a:schemeClr val="dk1"/>
              </a:solidFill>
              <a:latin typeface="Average"/>
              <a:ea typeface="Average"/>
              <a:cs typeface="Average"/>
              <a:sym typeface="Average"/>
            </a:endParaRPr>
          </a:p>
          <a:p>
            <a:pPr indent="0" lvl="0" marL="0" rtl="0" algn="l">
              <a:spcBef>
                <a:spcPts val="0"/>
              </a:spcBef>
              <a:spcAft>
                <a:spcPts val="0"/>
              </a:spcAft>
              <a:buNone/>
            </a:pPr>
            <a:r>
              <a:rPr b="1" lang="en" sz="1800" u="sng">
                <a:solidFill>
                  <a:schemeClr val="dk1"/>
                </a:solidFill>
                <a:latin typeface="Average"/>
                <a:ea typeface="Average"/>
                <a:cs typeface="Average"/>
                <a:sym typeface="Average"/>
              </a:rPr>
              <a:t>Long term effects:</a:t>
            </a:r>
            <a:endParaRPr b="1" sz="1800" u="sng">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Changes in global chip supply chains</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Taiwan remains an important island </a:t>
            </a:r>
            <a:endParaRPr sz="1800">
              <a:solidFill>
                <a:schemeClr val="dk1"/>
              </a:solidFill>
              <a:latin typeface="Average"/>
              <a:ea typeface="Average"/>
              <a:cs typeface="Average"/>
              <a:sym typeface="Average"/>
            </a:endParaRPr>
          </a:p>
          <a:p>
            <a:pPr indent="0" lvl="0" marL="0" rtl="0" algn="l">
              <a:spcBef>
                <a:spcPts val="0"/>
              </a:spcBef>
              <a:spcAft>
                <a:spcPts val="0"/>
              </a:spcAft>
              <a:buNone/>
            </a:pPr>
            <a:r>
              <a:t/>
            </a:r>
            <a:endParaRPr sz="1800">
              <a:solidFill>
                <a:schemeClr val="dk1"/>
              </a:solidFill>
              <a:latin typeface="Average"/>
              <a:ea typeface="Average"/>
              <a:cs typeface="Average"/>
              <a:sym typeface="Average"/>
            </a:endParaRPr>
          </a:p>
          <a:p>
            <a:pPr indent="0" lvl="0" marL="0" rtl="0" algn="l">
              <a:spcBef>
                <a:spcPts val="0"/>
              </a:spcBef>
              <a:spcAft>
                <a:spcPts val="0"/>
              </a:spcAft>
              <a:buNone/>
            </a:pPr>
            <a:r>
              <a:rPr b="1" lang="en" sz="1800" u="sng">
                <a:solidFill>
                  <a:schemeClr val="dk1"/>
                </a:solidFill>
                <a:latin typeface="Average"/>
                <a:ea typeface="Average"/>
                <a:cs typeface="Average"/>
                <a:sym typeface="Average"/>
              </a:rPr>
              <a:t>Who is affected?</a:t>
            </a:r>
            <a:endParaRPr b="1" sz="1800" u="sng">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People in Taiwan </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China</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Technology companies worldwide</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Consumer around the world like us</a:t>
            </a:r>
            <a:endParaRPr sz="1800">
              <a:solidFill>
                <a:schemeClr val="dk1"/>
              </a:solidFill>
              <a:latin typeface="Average"/>
              <a:ea typeface="Average"/>
              <a:cs typeface="Average"/>
              <a:sym typeface="Average"/>
            </a:endParaRPr>
          </a:p>
          <a:p>
            <a:pPr indent="-342900" lvl="0" marL="457200" rtl="0" algn="l">
              <a:spcBef>
                <a:spcPts val="0"/>
              </a:spcBef>
              <a:spcAft>
                <a:spcPts val="0"/>
              </a:spcAft>
              <a:buClr>
                <a:schemeClr val="dk1"/>
              </a:buClr>
              <a:buSzPts val="1800"/>
              <a:buFont typeface="Average"/>
              <a:buAutoNum type="arabicPeriod"/>
            </a:pPr>
            <a:r>
              <a:rPr lang="en" sz="1800">
                <a:solidFill>
                  <a:schemeClr val="dk1"/>
                </a:solidFill>
                <a:latin typeface="Average"/>
                <a:ea typeface="Average"/>
                <a:cs typeface="Average"/>
                <a:sym typeface="Average"/>
              </a:rPr>
              <a:t>Governments and </a:t>
            </a:r>
            <a:r>
              <a:rPr lang="en" sz="1800">
                <a:solidFill>
                  <a:schemeClr val="dk1"/>
                </a:solidFill>
                <a:latin typeface="Average"/>
                <a:ea typeface="Average"/>
                <a:cs typeface="Average"/>
                <a:sym typeface="Average"/>
              </a:rPr>
              <a:t>economics</a:t>
            </a:r>
            <a:r>
              <a:rPr lang="en" sz="1800">
                <a:solidFill>
                  <a:schemeClr val="dk1"/>
                </a:solidFill>
                <a:latin typeface="Average"/>
                <a:ea typeface="Average"/>
                <a:cs typeface="Average"/>
                <a:sym typeface="Average"/>
              </a:rPr>
              <a:t> around the world</a:t>
            </a:r>
            <a:endParaRPr sz="1800">
              <a:solidFill>
                <a:schemeClr val="dk1"/>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B0000"/>
            </a:gs>
            <a:gs pos="100000">
              <a:srgbClr val="540303"/>
            </a:gs>
          </a:gsLst>
          <a:lin ang="16200038" scaled="0"/>
        </a:gradFill>
      </p:bgPr>
    </p:bg>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Canada: Why should Canadians care?</a:t>
            </a:r>
            <a:endParaRPr/>
          </a:p>
        </p:txBody>
      </p:sp>
      <p:sp>
        <p:nvSpPr>
          <p:cNvPr id="96" name="Google Shape;96;p18"/>
          <p:cNvSpPr txBox="1"/>
          <p:nvPr>
            <p:ph idx="1" type="body"/>
          </p:nvPr>
        </p:nvSpPr>
        <p:spPr>
          <a:xfrm>
            <a:off x="311700" y="1152475"/>
            <a:ext cx="5312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solidFill>
                  <a:schemeClr val="dk1"/>
                </a:solidFill>
              </a:rPr>
              <a:t>Canada and Canadians should care because of Canada relies on semiconductor chips for many products and industries. They’re everyday products and we use them: cell phones, computers, cars and more. Without the semiconductor which only Taiwan make the best in the world, the price of these electronics will massively increase by a terrifying amount. If Taiwan’s semiconductor falls into wrong hands like the Chinese </a:t>
            </a:r>
            <a:r>
              <a:rPr lang="en">
                <a:solidFill>
                  <a:schemeClr val="dk1"/>
                </a:solidFill>
              </a:rPr>
              <a:t>government</a:t>
            </a:r>
            <a:r>
              <a:rPr lang="en">
                <a:solidFill>
                  <a:schemeClr val="dk1"/>
                </a:solidFill>
              </a:rPr>
              <a:t>, then they’d threaten the entire world and demanding for a high price. They’re all evil peoples and can’t be trusted with important stuff like semiconductors. </a:t>
            </a:r>
            <a:endParaRPr>
              <a:solidFill>
                <a:schemeClr val="dk1"/>
              </a:solidFill>
            </a:endParaRPr>
          </a:p>
        </p:txBody>
      </p:sp>
      <p:pic>
        <p:nvPicPr>
          <p:cNvPr id="97" name="Google Shape;97;p18" title="download.jpg"/>
          <p:cNvPicPr preferRelativeResize="0"/>
          <p:nvPr/>
        </p:nvPicPr>
        <p:blipFill>
          <a:blip r:embed="rId3">
            <a:alphaModFix/>
          </a:blip>
          <a:stretch>
            <a:fillRect/>
          </a:stretch>
        </p:blipFill>
        <p:spPr>
          <a:xfrm>
            <a:off x="5974800" y="762725"/>
            <a:ext cx="2857500" cy="1600200"/>
          </a:xfrm>
          <a:prstGeom prst="rect">
            <a:avLst/>
          </a:prstGeom>
          <a:noFill/>
          <a:ln>
            <a:noFill/>
          </a:ln>
        </p:spPr>
      </p:pic>
      <p:pic>
        <p:nvPicPr>
          <p:cNvPr id="98" name="Google Shape;98;p18" title="download.jpg"/>
          <p:cNvPicPr preferRelativeResize="0"/>
          <p:nvPr/>
        </p:nvPicPr>
        <p:blipFill>
          <a:blip r:embed="rId4">
            <a:alphaModFix/>
          </a:blip>
          <a:stretch>
            <a:fillRect/>
          </a:stretch>
        </p:blipFill>
        <p:spPr>
          <a:xfrm>
            <a:off x="6404875" y="2571750"/>
            <a:ext cx="1847850" cy="2466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