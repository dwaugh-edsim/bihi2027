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embeddedFontLst>
    <p:embeddedFont>
      <p:font typeface="Merriweather Light"/>
      <p:regular r:id="rId11"/>
      <p:bold r:id="rId12"/>
      <p:italic r:id="rId13"/>
      <p:boldItalic r:id="rId14"/>
    </p:embeddedFont>
    <p:embeddedFont>
      <p:font typeface="Montserrat"/>
      <p:regular r:id="rId15"/>
      <p:bold r:id="rId16"/>
      <p:italic r:id="rId17"/>
      <p:boldItalic r:id="rId18"/>
    </p:embeddedFont>
    <p:embeddedFont>
      <p:font typeface="Open Sans SemiBold"/>
      <p:regular r:id="rId19"/>
      <p:bold r:id="rId20"/>
      <p:italic r:id="rId21"/>
      <p:boldItalic r:id="rId22"/>
    </p:embeddedFont>
    <p:embeddedFont>
      <p:font typeface="Vidaloka"/>
      <p:regular r:id="rId23"/>
    </p:embeddedFont>
    <p:embeddedFont>
      <p:font typeface="Russo One"/>
      <p:regular r:id="rId24"/>
    </p:embeddedFont>
    <p:embeddedFont>
      <p:font typeface="Mako"/>
      <p:regular r:id="rId25"/>
    </p:embeddedFont>
    <p:embeddedFont>
      <p:font typeface="Crimson Text"/>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bold.fntdata"/><Relationship Id="rId30" Type="http://schemas.openxmlformats.org/officeDocument/2006/relationships/font" Target="fonts/OpenSans-regular.fntdata"/><Relationship Id="rId33" Type="http://schemas.openxmlformats.org/officeDocument/2006/relationships/font" Target="fonts/OpenSans-boldItalic.fntdata"/><Relationship Id="rId32" Type="http://schemas.openxmlformats.org/officeDocument/2006/relationships/font" Target="fonts/OpenSans-italic.fntdata"/><Relationship Id="rId20" Type="http://schemas.openxmlformats.org/officeDocument/2006/relationships/font" Target="fonts/OpenSansSemiBold-bold.fntdata"/><Relationship Id="rId22" Type="http://schemas.openxmlformats.org/officeDocument/2006/relationships/font" Target="fonts/OpenSansSemiBold-boldItalic.fntdata"/><Relationship Id="rId21" Type="http://schemas.openxmlformats.org/officeDocument/2006/relationships/font" Target="fonts/OpenSansSemiBold-italic.fntdata"/><Relationship Id="rId24" Type="http://schemas.openxmlformats.org/officeDocument/2006/relationships/font" Target="fonts/RussoOne-regular.fntdata"/><Relationship Id="rId23" Type="http://schemas.openxmlformats.org/officeDocument/2006/relationships/font" Target="fonts/Vidaloka-regular.fntdata"/><Relationship Id="rId26" Type="http://schemas.openxmlformats.org/officeDocument/2006/relationships/font" Target="fonts/CrimsonText-regular.fntdata"/><Relationship Id="rId25" Type="http://schemas.openxmlformats.org/officeDocument/2006/relationships/font" Target="fonts/Mako-regular.fntdata"/><Relationship Id="rId28" Type="http://schemas.openxmlformats.org/officeDocument/2006/relationships/font" Target="fonts/CrimsonText-italic.fntdata"/><Relationship Id="rId27" Type="http://schemas.openxmlformats.org/officeDocument/2006/relationships/font" Target="fonts/CrimsonText-bold.fntdata"/><Relationship Id="rId29" Type="http://schemas.openxmlformats.org/officeDocument/2006/relationships/font" Target="fonts/CrimsonText-boldItalic.fntdata"/><Relationship Id="rId11" Type="http://schemas.openxmlformats.org/officeDocument/2006/relationships/font" Target="fonts/MerriweatherLight-regular.fntdata"/><Relationship Id="rId10" Type="http://schemas.openxmlformats.org/officeDocument/2006/relationships/slide" Target="slides/slide6.xml"/><Relationship Id="rId13" Type="http://schemas.openxmlformats.org/officeDocument/2006/relationships/font" Target="fonts/MerriweatherLight-italic.fntdata"/><Relationship Id="rId12" Type="http://schemas.openxmlformats.org/officeDocument/2006/relationships/font" Target="fonts/MerriweatherLight-bold.fntdata"/><Relationship Id="rId15" Type="http://schemas.openxmlformats.org/officeDocument/2006/relationships/font" Target="fonts/Montserrat-regular.fntdata"/><Relationship Id="rId14" Type="http://schemas.openxmlformats.org/officeDocument/2006/relationships/font" Target="fonts/MerriweatherLight-boldItalic.fntdata"/><Relationship Id="rId17" Type="http://schemas.openxmlformats.org/officeDocument/2006/relationships/font" Target="fonts/Montserrat-italic.fntdata"/><Relationship Id="rId16" Type="http://schemas.openxmlformats.org/officeDocument/2006/relationships/font" Target="fonts/Montserrat-bold.fntdata"/><Relationship Id="rId19" Type="http://schemas.openxmlformats.org/officeDocument/2006/relationships/font" Target="fonts/OpenSansSemiBold-regular.fntdata"/><Relationship Id="rId18" Type="http://schemas.openxmlformats.org/officeDocument/2006/relationships/font" Target="fonts/Montserra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cc7554a049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cc7554a049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05aad17dc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05aad17dc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05aad17dc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05aad17dc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05aad17dc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05aad17dc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cc7554a049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cc7554a049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77100"/>
            <a:ext cx="7064100" cy="44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867300" y="2366275"/>
            <a:ext cx="7409400" cy="8184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305275"/>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0010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0010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6552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6552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0010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00100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6552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65525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23786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57244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237870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572445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
    <p:spTree>
      <p:nvGrpSpPr>
        <p:cNvPr id="132" name="Shape 132"/>
        <p:cNvGrpSpPr/>
        <p:nvPr/>
      </p:nvGrpSpPr>
      <p:grpSpPr>
        <a:xfrm>
          <a:off x="0" y="0"/>
          <a:ext cx="0" cy="0"/>
          <a:chOff x="0" y="0"/>
          <a:chExt cx="0" cy="0"/>
        </a:xfrm>
      </p:grpSpPr>
      <p:sp>
        <p:nvSpPr>
          <p:cNvPr id="133" name="Google Shape;133;p18"/>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sp>
        <p:nvSpPr>
          <p:cNvPr id="134" name="Google Shape;134;p18"/>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7" name="Google Shape;137;p18"/>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8" name="Shape 138"/>
        <p:cNvGrpSpPr/>
        <p:nvPr/>
      </p:nvGrpSpPr>
      <p:grpSpPr>
        <a:xfrm>
          <a:off x="0" y="0"/>
          <a:ext cx="0" cy="0"/>
          <a:chOff x="0" y="0"/>
          <a:chExt cx="0" cy="0"/>
        </a:xfrm>
      </p:grpSpPr>
      <p:sp>
        <p:nvSpPr>
          <p:cNvPr id="139" name="Google Shape;139;p19"/>
          <p:cNvSpPr txBox="1"/>
          <p:nvPr>
            <p:ph type="title"/>
          </p:nvPr>
        </p:nvSpPr>
        <p:spPr>
          <a:xfrm>
            <a:off x="845550" y="1482825"/>
            <a:ext cx="74529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7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40" name="Google Shape;140;p19"/>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41" name="Google Shape;141;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43" name="Shape 143"/>
        <p:cNvGrpSpPr/>
        <p:nvPr/>
      </p:nvGrpSpPr>
      <p:grpSpPr>
        <a:xfrm>
          <a:off x="0" y="0"/>
          <a:ext cx="0" cy="0"/>
          <a:chOff x="0" y="0"/>
          <a:chExt cx="0" cy="0"/>
        </a:xfrm>
      </p:grpSpPr>
      <p:sp>
        <p:nvSpPr>
          <p:cNvPr id="144" name="Google Shape;144;p20"/>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45" name="Google Shape;145;p20"/>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6" name="Google Shape;146;p2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7" name="Google Shape;147;p2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8" name="Google Shape;148;p2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9" name="Google Shape;149;p2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0" name="Google Shape;150;p2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1" name="Google Shape;151;p2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52" name="Shape 152"/>
        <p:cNvGrpSpPr/>
        <p:nvPr/>
      </p:nvGrpSpPr>
      <p:grpSpPr>
        <a:xfrm>
          <a:off x="0" y="0"/>
          <a:ext cx="0" cy="0"/>
          <a:chOff x="0" y="0"/>
          <a:chExt cx="0" cy="0"/>
        </a:xfrm>
      </p:grpSpPr>
      <p:sp>
        <p:nvSpPr>
          <p:cNvPr id="153" name="Google Shape;153;p21"/>
          <p:cNvSpPr txBox="1"/>
          <p:nvPr>
            <p:ph type="title"/>
          </p:nvPr>
        </p:nvSpPr>
        <p:spPr>
          <a:xfrm>
            <a:off x="427325" y="2511800"/>
            <a:ext cx="4965600" cy="11133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4" name="Google Shape;154;p21"/>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55" name="Google Shape;155;p21"/>
          <p:cNvSpPr txBox="1"/>
          <p:nvPr>
            <p:ph idx="1" type="subTitle"/>
          </p:nvPr>
        </p:nvSpPr>
        <p:spPr>
          <a:xfrm>
            <a:off x="831625" y="3625000"/>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6" name="Google Shape;156;p21"/>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9" name="Google Shape;159;p21"/>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60" name="Shape 160"/>
        <p:cNvGrpSpPr/>
        <p:nvPr/>
      </p:nvGrpSpPr>
      <p:grpSpPr>
        <a:xfrm>
          <a:off x="0" y="0"/>
          <a:ext cx="0" cy="0"/>
          <a:chOff x="0" y="0"/>
          <a:chExt cx="0" cy="0"/>
        </a:xfrm>
      </p:grpSpPr>
      <p:sp>
        <p:nvSpPr>
          <p:cNvPr id="161" name="Google Shape;161;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62" name="Google Shape;162;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3" name="Google Shape;163;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4" name="Google Shape;164;p22"/>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65" name="Shape 165"/>
        <p:cNvGrpSpPr/>
        <p:nvPr/>
      </p:nvGrpSpPr>
      <p:grpSpPr>
        <a:xfrm>
          <a:off x="0" y="0"/>
          <a:ext cx="0" cy="0"/>
          <a:chOff x="0" y="0"/>
          <a:chExt cx="0" cy="0"/>
        </a:xfrm>
      </p:grpSpPr>
      <p:cxnSp>
        <p:nvCxnSpPr>
          <p:cNvPr id="166" name="Google Shape;166;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7" name="Google Shape;167;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8" name="Google Shape;168;p2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9" name="Google Shape;169;p2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0" name="Google Shape;170;p2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1" name="Google Shape;171;p2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72" name="Google Shape;172;p2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73" name="Shape 173"/>
        <p:cNvGrpSpPr/>
        <p:nvPr/>
      </p:nvGrpSpPr>
      <p:grpSpPr>
        <a:xfrm>
          <a:off x="0" y="0"/>
          <a:ext cx="0" cy="0"/>
          <a:chOff x="0" y="0"/>
          <a:chExt cx="0" cy="0"/>
        </a:xfrm>
      </p:grpSpPr>
      <p:sp>
        <p:nvSpPr>
          <p:cNvPr id="174" name="Google Shape;174;p24"/>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5" name="Google Shape;175;p24"/>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4"/>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7" name="Google Shape;177;p24"/>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8" name="Google Shape;178;p24"/>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9" name="Google Shape;179;p24"/>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0" name="Google Shape;180;p24"/>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81" name="Google Shape;181;p24"/>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2" name="Google Shape;182;p24"/>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83" name="Google Shape;183;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4" name="Google Shape;184;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85" name="Shape 185"/>
        <p:cNvGrpSpPr/>
        <p:nvPr/>
      </p:nvGrpSpPr>
      <p:grpSpPr>
        <a:xfrm>
          <a:off x="0" y="0"/>
          <a:ext cx="0" cy="0"/>
          <a:chOff x="0" y="0"/>
          <a:chExt cx="0" cy="0"/>
        </a:xfrm>
      </p:grpSpPr>
      <p:cxnSp>
        <p:nvCxnSpPr>
          <p:cNvPr id="186" name="Google Shape;186;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7" name="Google Shape;187;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8" name="Google Shape;188;p2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9" name="Google Shape;189;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90" name="Google Shape;190;p25"/>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91" name="Shape 191"/>
        <p:cNvGrpSpPr/>
        <p:nvPr/>
      </p:nvGrpSpPr>
      <p:grpSpPr>
        <a:xfrm>
          <a:off x="0" y="0"/>
          <a:ext cx="0" cy="0"/>
          <a:chOff x="0" y="0"/>
          <a:chExt cx="0" cy="0"/>
        </a:xfrm>
      </p:grpSpPr>
      <p:sp>
        <p:nvSpPr>
          <p:cNvPr id="192" name="Google Shape;192;p26"/>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93" name="Google Shape;193;p26"/>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94" name="Google Shape;194;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5" name="Google Shape;195;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6" name="Google Shape;196;p2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7" name="Google Shape;197;p2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8" name="Shape 198"/>
        <p:cNvGrpSpPr/>
        <p:nvPr/>
      </p:nvGrpSpPr>
      <p:grpSpPr>
        <a:xfrm>
          <a:off x="0" y="0"/>
          <a:ext cx="0" cy="0"/>
          <a:chOff x="0" y="0"/>
          <a:chExt cx="0" cy="0"/>
        </a:xfrm>
      </p:grpSpPr>
      <p:sp>
        <p:nvSpPr>
          <p:cNvPr id="199" name="Google Shape;199;p27"/>
          <p:cNvSpPr txBox="1"/>
          <p:nvPr>
            <p:ph type="title"/>
          </p:nvPr>
        </p:nvSpPr>
        <p:spPr>
          <a:xfrm>
            <a:off x="4346500" y="2467375"/>
            <a:ext cx="4083600" cy="1200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0" name="Google Shape;200;p27"/>
          <p:cNvSpPr txBox="1"/>
          <p:nvPr>
            <p:ph hasCustomPrompt="1" idx="2" type="title"/>
          </p:nvPr>
        </p:nvSpPr>
        <p:spPr>
          <a:xfrm>
            <a:off x="4956100" y="1021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1" name="Google Shape;201;p27"/>
          <p:cNvSpPr txBox="1"/>
          <p:nvPr>
            <p:ph idx="1" type="subTitle"/>
          </p:nvPr>
        </p:nvSpPr>
        <p:spPr>
          <a:xfrm>
            <a:off x="4346500" y="3649675"/>
            <a:ext cx="40836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2" name="Google Shape;202;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3" name="Google Shape;203;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205" name="Shape 205"/>
        <p:cNvGrpSpPr/>
        <p:nvPr/>
      </p:nvGrpSpPr>
      <p:grpSpPr>
        <a:xfrm>
          <a:off x="0" y="0"/>
          <a:ext cx="0" cy="0"/>
          <a:chOff x="0" y="0"/>
          <a:chExt cx="0" cy="0"/>
        </a:xfrm>
      </p:grpSpPr>
      <p:sp>
        <p:nvSpPr>
          <p:cNvPr id="206" name="Google Shape;206;p28"/>
          <p:cNvSpPr txBox="1"/>
          <p:nvPr>
            <p:ph type="title"/>
          </p:nvPr>
        </p:nvSpPr>
        <p:spPr>
          <a:xfrm>
            <a:off x="4373850" y="944250"/>
            <a:ext cx="40095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7" name="Google Shape;207;p28"/>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8" name="Google Shape;208;p28"/>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9" name="Google Shape;209;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0" name="Google Shape;210;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1" name="Google Shape;211;p2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2" name="Google Shape;212;p2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3" name="Google Shape;213;p2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4" name="Google Shape;214;p2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15" name="Shape 215"/>
        <p:cNvGrpSpPr/>
        <p:nvPr/>
      </p:nvGrpSpPr>
      <p:grpSpPr>
        <a:xfrm>
          <a:off x="0" y="0"/>
          <a:ext cx="0" cy="0"/>
          <a:chOff x="0" y="0"/>
          <a:chExt cx="0" cy="0"/>
        </a:xfrm>
      </p:grpSpPr>
      <p:sp>
        <p:nvSpPr>
          <p:cNvPr id="216" name="Google Shape;216;p29"/>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21" name="Shape 221"/>
        <p:cNvGrpSpPr/>
        <p:nvPr/>
      </p:nvGrpSpPr>
      <p:grpSpPr>
        <a:xfrm>
          <a:off x="0" y="0"/>
          <a:ext cx="0" cy="0"/>
          <a:chOff x="0" y="0"/>
          <a:chExt cx="0" cy="0"/>
        </a:xfrm>
      </p:grpSpPr>
      <p:sp>
        <p:nvSpPr>
          <p:cNvPr id="222" name="Google Shape;222;p30"/>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3" name="Google Shape;223;p30"/>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24" name="Google Shape;224;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5" name="Google Shape;225;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6" name="Google Shape;226;p3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7" name="Google Shape;227;p3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8" name="Google Shape;228;p3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9" name="Google Shape;229;p3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30" name="Shape 230"/>
        <p:cNvGrpSpPr/>
        <p:nvPr/>
      </p:nvGrpSpPr>
      <p:grpSpPr>
        <a:xfrm>
          <a:off x="0" y="0"/>
          <a:ext cx="0" cy="0"/>
          <a:chOff x="0" y="0"/>
          <a:chExt cx="0" cy="0"/>
        </a:xfrm>
      </p:grpSpPr>
      <p:sp>
        <p:nvSpPr>
          <p:cNvPr id="231" name="Google Shape;231;p31"/>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2" name="Google Shape;232;p31"/>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3" name="Google Shape;233;p31"/>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4" name="Google Shape;234;p31"/>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5" name="Google Shape;235;p31"/>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8" name="Google Shape;23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9" name="Google Shape;23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40" name="Shape 240"/>
        <p:cNvGrpSpPr/>
        <p:nvPr/>
      </p:nvGrpSpPr>
      <p:grpSpPr>
        <a:xfrm>
          <a:off x="0" y="0"/>
          <a:ext cx="0" cy="0"/>
          <a:chOff x="0" y="0"/>
          <a:chExt cx="0" cy="0"/>
        </a:xfrm>
      </p:grpSpPr>
      <p:sp>
        <p:nvSpPr>
          <p:cNvPr id="241" name="Google Shape;241;p32"/>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2" name="Google Shape;242;p32"/>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3" name="Google Shape;243;p32"/>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4" name="Google Shape;244;p32"/>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5" name="Google Shape;245;p32"/>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6" name="Google Shape;246;p32"/>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7" name="Google Shape;247;p32"/>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8" name="Google Shape;248;p32"/>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9" name="Google Shape;249;p32"/>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0" name="Google Shape;250;p32"/>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1" name="Google Shape;251;p32"/>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2" name="Google Shape;252;p32"/>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3" name="Google Shape;253;p32"/>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54" name="Google Shape;254;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5" name="Google Shape;255;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6" name="Google Shape;256;p3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7" name="Google Shape;257;p3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2">
    <p:spTree>
      <p:nvGrpSpPr>
        <p:cNvPr id="258" name="Shape 258"/>
        <p:cNvGrpSpPr/>
        <p:nvPr/>
      </p:nvGrpSpPr>
      <p:grpSpPr>
        <a:xfrm>
          <a:off x="0" y="0"/>
          <a:ext cx="0" cy="0"/>
          <a:chOff x="0" y="0"/>
          <a:chExt cx="0" cy="0"/>
        </a:xfrm>
      </p:grpSpPr>
      <p:sp>
        <p:nvSpPr>
          <p:cNvPr id="259" name="Google Shape;25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3"/>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6" name="Google Shape;266;p33"/>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7" name="Google Shape;267;p33"/>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8" name="Google Shape;268;p33"/>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9" name="Google Shape;269;p33"/>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72" name="Google Shape;272;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3" name="Google Shape;273;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74" name="Shape 274"/>
        <p:cNvGrpSpPr/>
        <p:nvPr/>
      </p:nvGrpSpPr>
      <p:grpSpPr>
        <a:xfrm>
          <a:off x="0" y="0"/>
          <a:ext cx="0" cy="0"/>
          <a:chOff x="0" y="0"/>
          <a:chExt cx="0" cy="0"/>
        </a:xfrm>
      </p:grpSpPr>
      <p:sp>
        <p:nvSpPr>
          <p:cNvPr id="275" name="Google Shape;275;p34"/>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4"/>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4"/>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4"/>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4"/>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0" name="Google Shape;280;p34"/>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1" name="Google Shape;281;p34"/>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2" name="Google Shape;282;p34"/>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3" name="Google Shape;283;p34"/>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4" name="Google Shape;284;p34"/>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5" name="Google Shape;285;p34"/>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90" name="Shape 290"/>
        <p:cNvGrpSpPr/>
        <p:nvPr/>
      </p:nvGrpSpPr>
      <p:grpSpPr>
        <a:xfrm>
          <a:off x="0" y="0"/>
          <a:ext cx="0" cy="0"/>
          <a:chOff x="0" y="0"/>
          <a:chExt cx="0" cy="0"/>
        </a:xfrm>
      </p:grpSpPr>
      <p:sp>
        <p:nvSpPr>
          <p:cNvPr id="291" name="Google Shape;291;p35"/>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92" name="Google Shape;29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3" name="Google Shape;29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4" name="Google Shape;294;p3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5" name="Google Shape;295;p3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6" name="Google Shape;296;p3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7" name="Google Shape;297;p35"/>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8" name="Shape 298"/>
        <p:cNvGrpSpPr/>
        <p:nvPr/>
      </p:nvGrpSpPr>
      <p:grpSpPr>
        <a:xfrm>
          <a:off x="0" y="0"/>
          <a:ext cx="0" cy="0"/>
          <a:chOff x="0" y="0"/>
          <a:chExt cx="0" cy="0"/>
        </a:xfrm>
      </p:grpSpPr>
      <p:sp>
        <p:nvSpPr>
          <p:cNvPr id="299" name="Google Shape;299;p36"/>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6"/>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6"/>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2" name="Google Shape;302;p36"/>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3" name="Google Shape;303;p36"/>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4" name="Google Shape;304;p36"/>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5" name="Google Shape;305;p36"/>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8" name="Google Shape;308;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9" name="Google Shape;309;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10" name="Shape 310"/>
        <p:cNvGrpSpPr/>
        <p:nvPr/>
      </p:nvGrpSpPr>
      <p:grpSpPr>
        <a:xfrm>
          <a:off x="0" y="0"/>
          <a:ext cx="0" cy="0"/>
          <a:chOff x="0" y="0"/>
          <a:chExt cx="0" cy="0"/>
        </a:xfrm>
      </p:grpSpPr>
      <p:sp>
        <p:nvSpPr>
          <p:cNvPr id="311" name="Google Shape;311;p37"/>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2" name="Google Shape;312;p37"/>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3" name="Google Shape;313;p37"/>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4" name="Google Shape;314;p37"/>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5" name="Google Shape;315;p37"/>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6" name="Google Shape;316;p37"/>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7" name="Google Shape;317;p37"/>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8" name="Google Shape;318;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9" name="Google Shape;319;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0" name="Google Shape;320;p37"/>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21" name="Shape 321"/>
        <p:cNvGrpSpPr/>
        <p:nvPr/>
      </p:nvGrpSpPr>
      <p:grpSpPr>
        <a:xfrm>
          <a:off x="0" y="0"/>
          <a:ext cx="0" cy="0"/>
          <a:chOff x="0" y="0"/>
          <a:chExt cx="0" cy="0"/>
        </a:xfrm>
      </p:grpSpPr>
      <p:cxnSp>
        <p:nvCxnSpPr>
          <p:cNvPr id="322" name="Google Shape;322;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3" name="Google Shape;323;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4" name="Google Shape;324;p3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5" name="Google Shape;325;p3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6" name="Google Shape;326;p3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7" name="Google Shape;327;p3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8" name="Google Shape;328;p38"/>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9" name="Google Shape;329;p38"/>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8"/>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8"/>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2" name="Google Shape;332;p38"/>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3" name="Google Shape;333;p38"/>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4" name="Google Shape;334;p38"/>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5" name="Google Shape;335;p38"/>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6" name="Google Shape;336;p38"/>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7" name="Google Shape;337;p38"/>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8" name="Google Shape;338;p38"/>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9" name="Google Shape;339;p38"/>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40" name="Google Shape;340;p38"/>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41" name="Shape 341"/>
        <p:cNvGrpSpPr/>
        <p:nvPr/>
      </p:nvGrpSpPr>
      <p:grpSpPr>
        <a:xfrm>
          <a:off x="0" y="0"/>
          <a:ext cx="0" cy="0"/>
          <a:chOff x="0" y="0"/>
          <a:chExt cx="0" cy="0"/>
        </a:xfrm>
      </p:grpSpPr>
      <p:sp>
        <p:nvSpPr>
          <p:cNvPr id="342" name="Google Shape;342;p39"/>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3" name="Google Shape;343;p39"/>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4" name="Google Shape;344;p39"/>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5" name="Google Shape;345;p39"/>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6" name="Google Shape;346;p39"/>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8" name="Google Shape;348;p39"/>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9" name="Google Shape;349;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0" name="Google Shape;350;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51" name="Shape 351"/>
        <p:cNvGrpSpPr/>
        <p:nvPr/>
      </p:nvGrpSpPr>
      <p:grpSpPr>
        <a:xfrm>
          <a:off x="0" y="0"/>
          <a:ext cx="0" cy="0"/>
          <a:chOff x="0" y="0"/>
          <a:chExt cx="0" cy="0"/>
        </a:xfrm>
      </p:grpSpPr>
      <p:sp>
        <p:nvSpPr>
          <p:cNvPr id="352" name="Google Shape;352;p40"/>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40"/>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40"/>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5" name="Google Shape;355;p40"/>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6" name="Google Shape;356;p40"/>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7" name="Google Shape;357;p40"/>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8" name="Google Shape;358;p40"/>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9" name="Google Shape;359;p40"/>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0" name="Google Shape;360;p40"/>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61" name="Google Shape;361;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2" name="Google Shape;362;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63" name="Shape 363"/>
        <p:cNvGrpSpPr/>
        <p:nvPr/>
      </p:nvGrpSpPr>
      <p:grpSpPr>
        <a:xfrm>
          <a:off x="0" y="0"/>
          <a:ext cx="0" cy="0"/>
          <a:chOff x="0" y="0"/>
          <a:chExt cx="0" cy="0"/>
        </a:xfrm>
      </p:grpSpPr>
      <p:cxnSp>
        <p:nvCxnSpPr>
          <p:cNvPr id="364" name="Google Shape;364;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5" name="Google Shape;365;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6" name="Google Shape;366;p4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7" name="Google Shape;367;p4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8" name="Google Shape;368;p41"/>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9" name="Google Shape;369;p41"/>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70" name="Google Shape;370;p41"/>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1" name="Google Shape;371;p41"/>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2" name="Google Shape;372;p41"/>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3" name="Google Shape;373;p41"/>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75" name="Google Shape;375;p41"/>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6" name="Google Shape;376;p41"/>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7" name="Shape 377"/>
        <p:cNvGrpSpPr/>
        <p:nvPr/>
      </p:nvGrpSpPr>
      <p:grpSpPr>
        <a:xfrm>
          <a:off x="0" y="0"/>
          <a:ext cx="0" cy="0"/>
          <a:chOff x="0" y="0"/>
          <a:chExt cx="0" cy="0"/>
        </a:xfrm>
      </p:grpSpPr>
      <p:sp>
        <p:nvSpPr>
          <p:cNvPr id="378" name="Google Shape;378;p42"/>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9" name="Google Shape;379;p42"/>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0" name="Google Shape;380;p42"/>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1" name="Google Shape;381;p42"/>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2" name="Google Shape;382;p42"/>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3" name="Google Shape;383;p42"/>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4" name="Google Shape;384;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5" name="Google Shape;385;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6" name="Shape 386"/>
        <p:cNvGrpSpPr/>
        <p:nvPr/>
      </p:nvGrpSpPr>
      <p:grpSpPr>
        <a:xfrm>
          <a:off x="0" y="0"/>
          <a:ext cx="0" cy="0"/>
          <a:chOff x="0" y="0"/>
          <a:chExt cx="0" cy="0"/>
        </a:xfrm>
      </p:grpSpPr>
      <p:sp>
        <p:nvSpPr>
          <p:cNvPr id="387" name="Google Shape;387;p43"/>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8" name="Google Shape;388;p43"/>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9" name="Google Shape;389;p43"/>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0" name="Google Shape;390;p43"/>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91" name="Google Shape;391;p43"/>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2" name="Google Shape;392;p43"/>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93" name="Google Shape;393;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4" name="Google Shape;394;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5" name="Google Shape;395;p4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6" name="Google Shape;396;p4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7" name="Google Shape;397;p4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8" name="Google Shape;398;p43"/>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9" name="Google Shape;399;p43"/>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400" name="Google Shape;400;p43"/>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401" name="Shape 401"/>
        <p:cNvGrpSpPr/>
        <p:nvPr/>
      </p:nvGrpSpPr>
      <p:grpSpPr>
        <a:xfrm>
          <a:off x="0" y="0"/>
          <a:ext cx="0" cy="0"/>
          <a:chOff x="0" y="0"/>
          <a:chExt cx="0" cy="0"/>
        </a:xfrm>
      </p:grpSpPr>
      <p:sp>
        <p:nvSpPr>
          <p:cNvPr id="402" name="Google Shape;402;p44"/>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3" name="Google Shape;403;p44"/>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404" name="Google Shape;404;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5" name="Google Shape;405;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6" name="Shape 406"/>
        <p:cNvGrpSpPr/>
        <p:nvPr/>
      </p:nvGrpSpPr>
      <p:grpSpPr>
        <a:xfrm>
          <a:off x="0" y="0"/>
          <a:ext cx="0" cy="0"/>
          <a:chOff x="0" y="0"/>
          <a:chExt cx="0" cy="0"/>
        </a:xfrm>
      </p:grpSpPr>
      <p:sp>
        <p:nvSpPr>
          <p:cNvPr id="407" name="Google Shape;407;p45"/>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8" name="Google Shape;408;p45"/>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9" name="Google Shape;409;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11" name="Shape 411"/>
        <p:cNvGrpSpPr/>
        <p:nvPr/>
      </p:nvGrpSpPr>
      <p:grpSpPr>
        <a:xfrm>
          <a:off x="0" y="0"/>
          <a:ext cx="0" cy="0"/>
          <a:chOff x="0" y="0"/>
          <a:chExt cx="0" cy="0"/>
        </a:xfrm>
      </p:grpSpPr>
      <p:sp>
        <p:nvSpPr>
          <p:cNvPr id="412" name="Google Shape;412;p46"/>
          <p:cNvSpPr txBox="1"/>
          <p:nvPr>
            <p:ph idx="1" type="subTitle"/>
          </p:nvPr>
        </p:nvSpPr>
        <p:spPr>
          <a:xfrm>
            <a:off x="713225" y="1453525"/>
            <a:ext cx="74112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13" name="Google Shape;413;p46"/>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14" name="Google Shape;414;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5" name="Google Shape;415;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6" name="Google Shape;416;p46"/>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7" name="Shape 417"/>
        <p:cNvGrpSpPr/>
        <p:nvPr/>
      </p:nvGrpSpPr>
      <p:grpSpPr>
        <a:xfrm>
          <a:off x="0" y="0"/>
          <a:ext cx="0" cy="0"/>
          <a:chOff x="0" y="0"/>
          <a:chExt cx="0" cy="0"/>
        </a:xfrm>
      </p:grpSpPr>
      <p:cxnSp>
        <p:nvCxnSpPr>
          <p:cNvPr id="418" name="Google Shape;418;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9" name="Google Shape;419;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0" name="Google Shape;420;p4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1" name="Google Shape;421;p4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2" name="Google Shape;422;p4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3" name="Google Shape;423;p4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24" name="Google Shape;424;p47"/>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25" name="Google Shape;425;p47"/>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6" name="Google Shape;426;p47"/>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7" name="Shape 427"/>
        <p:cNvGrpSpPr/>
        <p:nvPr/>
      </p:nvGrpSpPr>
      <p:grpSpPr>
        <a:xfrm>
          <a:off x="0" y="0"/>
          <a:ext cx="0" cy="0"/>
          <a:chOff x="0" y="0"/>
          <a:chExt cx="0" cy="0"/>
        </a:xfrm>
      </p:grpSpPr>
      <p:sp>
        <p:nvSpPr>
          <p:cNvPr id="428" name="Google Shape;428;p48"/>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9" name="Google Shape;429;p48"/>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0" name="Google Shape;430;p48"/>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1" name="Google Shape;431;p48"/>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2" name="Google Shape;432;p48"/>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33" name="Google Shape;433;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4" name="Google Shape;434;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35" name="Shape 435"/>
        <p:cNvGrpSpPr/>
        <p:nvPr/>
      </p:nvGrpSpPr>
      <p:grpSpPr>
        <a:xfrm>
          <a:off x="0" y="0"/>
          <a:ext cx="0" cy="0"/>
          <a:chOff x="0" y="0"/>
          <a:chExt cx="0" cy="0"/>
        </a:xfrm>
      </p:grpSpPr>
      <p:sp>
        <p:nvSpPr>
          <p:cNvPr id="436" name="Google Shape;436;p49"/>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7" name="Google Shape;437;p49"/>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8" name="Google Shape;438;p49"/>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9" name="Google Shape;439;p49"/>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0" name="Google Shape;440;p49"/>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1" name="Google Shape;441;p49"/>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2" name="Google Shape;442;p49"/>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43" name="Google Shape;443;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4" name="Google Shape;444;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5" name="Google Shape;445;p4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6" name="Google Shape;446;p4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7" name="Shape 447"/>
        <p:cNvGrpSpPr/>
        <p:nvPr/>
      </p:nvGrpSpPr>
      <p:grpSpPr>
        <a:xfrm>
          <a:off x="0" y="0"/>
          <a:ext cx="0" cy="0"/>
          <a:chOff x="0" y="0"/>
          <a:chExt cx="0" cy="0"/>
        </a:xfrm>
      </p:grpSpPr>
      <p:sp>
        <p:nvSpPr>
          <p:cNvPr id="448" name="Google Shape;448;p50"/>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9" name="Google Shape;449;p50"/>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50" name="Google Shape;450;p50"/>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51" name="Google Shape;451;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2" name="Google Shape;452;p50"/>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3" name="Google Shape;453;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0"/>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55"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7" name="Google Shape;457;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8"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1" name="Google Shape;461;p52"/>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2" name="Google Shape;462;p52"/>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63"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5" name="Google Shape;465;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6" name="Google Shape;466;p53"/>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7"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9" name="Google Shape;469;p5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0" name="Google Shape;470;p5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1" name="Google Shape;471;p5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2" name="Google Shape;472;p5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3" name="Google Shape;473;p5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en.wikipedia.org/wiki/Educational_inequalit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www.statista.com/statistics/986919/pisa-student-performance-by-field-and-score-finland/?srsltid=AfmBOoqYLOKjOBk7sAaUtfS4YUdDBo7OHZXO7ns8GMmU9oqGVx65_Qe3" TargetMode="External"/><Relationship Id="rId5" Type="http://schemas.openxmlformats.org/officeDocument/2006/relationships/image" Target="../media/image1.png"/><Relationship Id="rId6" Type="http://schemas.openxmlformats.org/officeDocument/2006/relationships/hyperlink" Target="https://www.oecd.org/en/publications/pisa-2022-results-volume-i-and-ii-country-notes_ed6fbcc5-en/canada_901942bb-en.html" TargetMode="External"/><Relationship Id="rId7" Type="http://schemas.openxmlformats.org/officeDocument/2006/relationships/hyperlink" Target="https://www.oecd.org/en/publications/pisa-2022-results-volume-i-and-ii-country-notes_ed6fbcc5-en/canada_901942bb-en.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hyperlink" Target="https://en.wikipedia.org/wiki/Educational_inequality" TargetMode="External"/><Relationship Id="rId4" Type="http://schemas.openxmlformats.org/officeDocument/2006/relationships/hyperlink" Target="https://www.statista.com/statistics/986919/pisa-student-performance-by-field-and-score-finland/?srsltid=AfmBOoqYLOKjOBk7sAaUtfS4YUdDBo7OHZXO7ns8GMmU9oqGVx65_Qe3" TargetMode="External"/><Relationship Id="rId9" Type="http://schemas.openxmlformats.org/officeDocument/2006/relationships/hyperlink" Target="https://www.smithsonianmag.com/innovation/why-are-finlands-schools-successful-49859555/" TargetMode="External"/><Relationship Id="rId5" Type="http://schemas.openxmlformats.org/officeDocument/2006/relationships/hyperlink" Target="https://op.europa.eu/webpub/eac/education-and-training-monitor/en/country-reports/finland.ht" TargetMode="External"/><Relationship Id="rId6" Type="http://schemas.openxmlformats.org/officeDocument/2006/relationships/hyperlink" Target="https://yle.fi/a/74-20012522" TargetMode="External"/><Relationship Id="rId7" Type="http://schemas.openxmlformats.org/officeDocument/2006/relationships/hyperlink" Target="https://www.oecd.org/en/publications/education-at-a-glance-2025_1a3543e2-en/finland_d8f44a5b-en.htm" TargetMode="External"/><Relationship Id="rId8" Type="http://schemas.openxmlformats.org/officeDocument/2006/relationships/hyperlink" Target="https://www.oecd.org/en/publications/pisa-2022-results-volume-i-and-ii-country-notes_ed6fbcc5-en/canada_901942bb-en.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5"/>
          <p:cNvSpPr txBox="1"/>
          <p:nvPr>
            <p:ph type="ctrTitle"/>
          </p:nvPr>
        </p:nvSpPr>
        <p:spPr>
          <a:xfrm>
            <a:off x="1172550" y="1324500"/>
            <a:ext cx="70641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The Finland Education System </a:t>
            </a:r>
            <a:endParaRPr/>
          </a:p>
        </p:txBody>
      </p:sp>
      <p:sp>
        <p:nvSpPr>
          <p:cNvPr id="479" name="Google Shape;479;p55"/>
          <p:cNvSpPr txBox="1"/>
          <p:nvPr>
            <p:ph idx="1" type="subTitle"/>
          </p:nvPr>
        </p:nvSpPr>
        <p:spPr>
          <a:xfrm>
            <a:off x="1040000" y="3377100"/>
            <a:ext cx="7064100" cy="44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By Natalia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78"/>
                                        </p:tgtEl>
                                        <p:attrNameLst>
                                          <p:attrName>style.visibility</p:attrName>
                                        </p:attrNameLst>
                                      </p:cBhvr>
                                      <p:to>
                                        <p:strVal val="visible"/>
                                      </p:to>
                                    </p:set>
                                    <p:anim calcmode="lin" valueType="num">
                                      <p:cBhvr additive="base">
                                        <p:cTn dur="1000"/>
                                        <p:tgtEl>
                                          <p:spTgt spid="47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479"/>
                                        </p:tgtEl>
                                        <p:attrNameLst>
                                          <p:attrName>style.visibility</p:attrName>
                                        </p:attrNameLst>
                                      </p:cBhvr>
                                      <p:to>
                                        <p:strVal val="visible"/>
                                      </p:to>
                                    </p:set>
                                    <p:anim calcmode="lin" valueType="num">
                                      <p:cBhvr additive="base">
                                        <p:cTn dur="1000"/>
                                        <p:tgtEl>
                                          <p:spTgt spid="4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6"/>
          <p:cNvSpPr txBox="1"/>
          <p:nvPr>
            <p:ph type="title"/>
          </p:nvPr>
        </p:nvSpPr>
        <p:spPr>
          <a:xfrm>
            <a:off x="3306900" y="436175"/>
            <a:ext cx="253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Finland</a:t>
            </a:r>
            <a:endParaRPr/>
          </a:p>
        </p:txBody>
      </p:sp>
      <p:sp>
        <p:nvSpPr>
          <p:cNvPr id="485" name="Google Shape;485;p56"/>
          <p:cNvSpPr txBox="1"/>
          <p:nvPr>
            <p:ph idx="1" type="body"/>
          </p:nvPr>
        </p:nvSpPr>
        <p:spPr>
          <a:xfrm>
            <a:off x="571825" y="1167950"/>
            <a:ext cx="5066700" cy="3242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t>- </a:t>
            </a:r>
            <a:r>
              <a:rPr lang="en" sz="1300"/>
              <a:t>Finland is a country in Northern Europe, located near Sweden and Russia. It has a cold climate with long winters and many forests, and its capital city is Helsinki. </a:t>
            </a:r>
            <a:endParaRPr sz="1300"/>
          </a:p>
          <a:p>
            <a:pPr indent="0" lvl="0" marL="0" rtl="0" algn="l">
              <a:lnSpc>
                <a:spcPct val="115000"/>
              </a:lnSpc>
              <a:spcBef>
                <a:spcPts val="1200"/>
              </a:spcBef>
              <a:spcAft>
                <a:spcPts val="0"/>
              </a:spcAft>
              <a:buNone/>
            </a:pPr>
            <a:r>
              <a:rPr lang="en" sz="1300"/>
              <a:t>- </a:t>
            </a:r>
            <a:r>
              <a:rPr lang="en" sz="1300"/>
              <a:t>Finland has a population of about 5.5 million people and is known for valuing equality, education, and strong community connections. The main languages spoken are Finnish and Swedish, and the country is a democratic republic. </a:t>
            </a:r>
            <a:endParaRPr sz="1300"/>
          </a:p>
          <a:p>
            <a:pPr indent="0" lvl="0" marL="0" rtl="0" algn="l">
              <a:lnSpc>
                <a:spcPct val="115000"/>
              </a:lnSpc>
              <a:spcBef>
                <a:spcPts val="1200"/>
              </a:spcBef>
              <a:spcAft>
                <a:spcPts val="1200"/>
              </a:spcAft>
              <a:buNone/>
            </a:pPr>
            <a:r>
              <a:rPr lang="en" sz="1300"/>
              <a:t>- </a:t>
            </a:r>
            <a:r>
              <a:rPr lang="en" sz="1300"/>
              <a:t>Finland also has a high GDP and strong infrastructure, including well funded schools and healthcare systems. These factors help support its successful education system and lower levels of inequality compared to many other countries.</a:t>
            </a:r>
            <a:endParaRPr sz="1300"/>
          </a:p>
        </p:txBody>
      </p:sp>
      <p:pic>
        <p:nvPicPr>
          <p:cNvPr id="486" name="Google Shape;486;p56" title="Screenshot 2026-06-02 at 1.24.55 PM.png"/>
          <p:cNvPicPr preferRelativeResize="0"/>
          <p:nvPr/>
        </p:nvPicPr>
        <p:blipFill>
          <a:blip r:embed="rId3">
            <a:alphaModFix/>
          </a:blip>
          <a:stretch>
            <a:fillRect/>
          </a:stretch>
        </p:blipFill>
        <p:spPr>
          <a:xfrm>
            <a:off x="5837100" y="1492375"/>
            <a:ext cx="2866026" cy="2369075"/>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84"/>
                                        </p:tgtEl>
                                        <p:attrNameLst>
                                          <p:attrName>style.visibility</p:attrName>
                                        </p:attrNameLst>
                                      </p:cBhvr>
                                      <p:to>
                                        <p:strVal val="visible"/>
                                      </p:to>
                                    </p:set>
                                    <p:anim calcmode="lin" valueType="num">
                                      <p:cBhvr additive="base">
                                        <p:cTn dur="1000"/>
                                        <p:tgtEl>
                                          <p:spTgt spid="4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7"/>
          <p:cNvSpPr txBox="1"/>
          <p:nvPr>
            <p:ph idx="21" type="title"/>
          </p:nvPr>
        </p:nvSpPr>
        <p:spPr>
          <a:xfrm>
            <a:off x="2332350" y="554300"/>
            <a:ext cx="4479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a:t>
            </a:r>
            <a:r>
              <a:rPr lang="en"/>
              <a:t>Global</a:t>
            </a:r>
            <a:r>
              <a:rPr lang="en"/>
              <a:t> Issue </a:t>
            </a:r>
            <a:endParaRPr/>
          </a:p>
        </p:txBody>
      </p:sp>
      <p:sp>
        <p:nvSpPr>
          <p:cNvPr id="492" name="Google Shape;492;p57"/>
          <p:cNvSpPr txBox="1"/>
          <p:nvPr/>
        </p:nvSpPr>
        <p:spPr>
          <a:xfrm>
            <a:off x="544675" y="1200475"/>
            <a:ext cx="8351700" cy="3252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The </a:t>
            </a:r>
            <a:r>
              <a:rPr lang="en" sz="1500">
                <a:solidFill>
                  <a:schemeClr val="dk2"/>
                </a:solidFill>
                <a:latin typeface="Montserrat"/>
                <a:ea typeface="Montserrat"/>
                <a:cs typeface="Montserrat"/>
                <a:sym typeface="Montserrat"/>
              </a:rPr>
              <a:t>Global</a:t>
            </a:r>
            <a:r>
              <a:rPr lang="en" sz="1500">
                <a:solidFill>
                  <a:schemeClr val="dk2"/>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issue is </a:t>
            </a:r>
            <a:r>
              <a:rPr lang="en" sz="1500" u="sng">
                <a:solidFill>
                  <a:schemeClr val="dk1"/>
                </a:solidFill>
                <a:latin typeface="Montserrat"/>
                <a:ea typeface="Montserrat"/>
                <a:cs typeface="Montserrat"/>
                <a:sym typeface="Montserrat"/>
                <a:hlinkClick r:id="rId3">
                  <a:extLst>
                    <a:ext uri="{A12FA001-AC4F-418D-AE19-62706E023703}">
                      <ahyp:hlinkClr val="tx"/>
                    </a:ext>
                  </a:extLst>
                </a:hlinkClick>
              </a:rPr>
              <a:t>education inequality and how systems affect students success</a:t>
            </a:r>
            <a:r>
              <a:rPr lang="en" sz="1500" u="sng">
                <a:solidFill>
                  <a:schemeClr val="dk1"/>
                </a:solidFill>
                <a:latin typeface="Montserrat"/>
                <a:ea typeface="Montserrat"/>
                <a:cs typeface="Montserrat"/>
                <a:sym typeface="Montserrat"/>
              </a:rPr>
              <a:t>.</a:t>
            </a:r>
            <a:endParaRPr sz="1500" u="sng">
              <a:solidFill>
                <a:schemeClr val="dk1"/>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Not all students around the world have equal access to good </a:t>
            </a:r>
            <a:r>
              <a:rPr lang="en" sz="1500">
                <a:solidFill>
                  <a:schemeClr val="dk2"/>
                </a:solidFill>
                <a:latin typeface="Montserrat"/>
                <a:ea typeface="Montserrat"/>
                <a:cs typeface="Montserrat"/>
                <a:sym typeface="Montserrat"/>
              </a:rPr>
              <a:t>education</a:t>
            </a:r>
            <a:r>
              <a:rPr lang="en" sz="1500">
                <a:solidFill>
                  <a:schemeClr val="dk2"/>
                </a:solidFill>
                <a:latin typeface="Montserrat"/>
                <a:ea typeface="Montserrat"/>
                <a:cs typeface="Montserrat"/>
                <a:sym typeface="Montserrat"/>
              </a:rPr>
              <a:t>.</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Some </a:t>
            </a:r>
            <a:r>
              <a:rPr lang="en" sz="1500">
                <a:solidFill>
                  <a:schemeClr val="dk2"/>
                </a:solidFill>
                <a:latin typeface="Montserrat"/>
                <a:ea typeface="Montserrat"/>
                <a:cs typeface="Montserrat"/>
                <a:sym typeface="Montserrat"/>
              </a:rPr>
              <a:t>countries</a:t>
            </a:r>
            <a:r>
              <a:rPr lang="en" sz="1500">
                <a:solidFill>
                  <a:schemeClr val="dk2"/>
                </a:solidFill>
                <a:latin typeface="Montserrat"/>
                <a:ea typeface="Montserrat"/>
                <a:cs typeface="Montserrat"/>
                <a:sym typeface="Montserrat"/>
              </a:rPr>
              <a:t> use more </a:t>
            </a:r>
            <a:r>
              <a:rPr lang="en" sz="1500">
                <a:solidFill>
                  <a:schemeClr val="dk2"/>
                </a:solidFill>
                <a:latin typeface="Montserrat"/>
                <a:ea typeface="Montserrat"/>
                <a:cs typeface="Montserrat"/>
                <a:sym typeface="Montserrat"/>
              </a:rPr>
              <a:t>testing</a:t>
            </a:r>
            <a:r>
              <a:rPr lang="en" sz="1500">
                <a:solidFill>
                  <a:schemeClr val="dk2"/>
                </a:solidFill>
                <a:latin typeface="Montserrat"/>
                <a:ea typeface="Montserrat"/>
                <a:cs typeface="Montserrat"/>
                <a:sym typeface="Montserrat"/>
              </a:rPr>
              <a:t>, longer school days, and strict grading.</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This can </a:t>
            </a:r>
            <a:r>
              <a:rPr lang="en" sz="1500">
                <a:solidFill>
                  <a:schemeClr val="dk2"/>
                </a:solidFill>
                <a:latin typeface="Montserrat"/>
                <a:ea typeface="Montserrat"/>
                <a:cs typeface="Montserrat"/>
                <a:sym typeface="Montserrat"/>
              </a:rPr>
              <a:t>increase</a:t>
            </a:r>
            <a:r>
              <a:rPr lang="en" sz="1500">
                <a:solidFill>
                  <a:schemeClr val="dk2"/>
                </a:solidFill>
                <a:latin typeface="Montserrat"/>
                <a:ea typeface="Montserrat"/>
                <a:cs typeface="Montserrat"/>
                <a:sym typeface="Montserrat"/>
              </a:rPr>
              <a:t> the poverty cycle, </a:t>
            </a:r>
            <a:r>
              <a:rPr lang="en" sz="1500">
                <a:solidFill>
                  <a:schemeClr val="dk2"/>
                </a:solidFill>
                <a:latin typeface="Montserrat"/>
                <a:ea typeface="Montserrat"/>
                <a:cs typeface="Montserrat"/>
                <a:sym typeface="Montserrat"/>
              </a:rPr>
              <a:t>because</a:t>
            </a:r>
            <a:r>
              <a:rPr lang="en" sz="1500">
                <a:solidFill>
                  <a:schemeClr val="dk2"/>
                </a:solidFill>
                <a:latin typeface="Montserrat"/>
                <a:ea typeface="Montserrat"/>
                <a:cs typeface="Montserrat"/>
                <a:sym typeface="Montserrat"/>
              </a:rPr>
              <a:t> students with less education may have fewer opportunities.</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Education affects a </a:t>
            </a:r>
            <a:r>
              <a:rPr lang="en" sz="1500">
                <a:solidFill>
                  <a:schemeClr val="dk2"/>
                </a:solidFill>
                <a:latin typeface="Montserrat"/>
                <a:ea typeface="Montserrat"/>
                <a:cs typeface="Montserrat"/>
                <a:sym typeface="Montserrat"/>
              </a:rPr>
              <a:t>countries</a:t>
            </a:r>
            <a:r>
              <a:rPr lang="en" sz="1500">
                <a:solidFill>
                  <a:schemeClr val="dk2"/>
                </a:solidFill>
                <a:latin typeface="Montserrat"/>
                <a:ea typeface="Montserrat"/>
                <a:cs typeface="Montserrat"/>
                <a:sym typeface="Montserrat"/>
              </a:rPr>
              <a:t> GDP, development, and </a:t>
            </a:r>
            <a:r>
              <a:rPr lang="en" sz="1500">
                <a:solidFill>
                  <a:schemeClr val="dk2"/>
                </a:solidFill>
                <a:latin typeface="Montserrat"/>
                <a:ea typeface="Montserrat"/>
                <a:cs typeface="Montserrat"/>
                <a:sym typeface="Montserrat"/>
              </a:rPr>
              <a:t>future</a:t>
            </a:r>
            <a:r>
              <a:rPr lang="en" sz="1500">
                <a:solidFill>
                  <a:schemeClr val="dk2"/>
                </a:solidFill>
                <a:latin typeface="Montserrat"/>
                <a:ea typeface="Montserrat"/>
                <a:cs typeface="Montserrat"/>
                <a:sym typeface="Montserrat"/>
              </a:rPr>
              <a:t> success.</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Finland</a:t>
            </a:r>
            <a:r>
              <a:rPr lang="en" sz="1500">
                <a:solidFill>
                  <a:schemeClr val="dk2"/>
                </a:solidFill>
                <a:latin typeface="Montserrat"/>
                <a:ea typeface="Montserrat"/>
                <a:cs typeface="Montserrat"/>
                <a:sym typeface="Montserrat"/>
              </a:rPr>
              <a:t> use a </a:t>
            </a:r>
            <a:r>
              <a:rPr lang="en" sz="1500">
                <a:solidFill>
                  <a:schemeClr val="dk2"/>
                </a:solidFill>
                <a:latin typeface="Montserrat"/>
                <a:ea typeface="Montserrat"/>
                <a:cs typeface="Montserrat"/>
                <a:sym typeface="Montserrat"/>
              </a:rPr>
              <a:t>different</a:t>
            </a:r>
            <a:r>
              <a:rPr lang="en" sz="1500">
                <a:solidFill>
                  <a:schemeClr val="dk2"/>
                </a:solidFill>
                <a:latin typeface="Montserrat"/>
                <a:ea typeface="Montserrat"/>
                <a:cs typeface="Montserrat"/>
                <a:sym typeface="Montserrat"/>
              </a:rPr>
              <a:t> system with:</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Less testing and homework.</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Play-based </a:t>
            </a:r>
            <a:r>
              <a:rPr lang="en" sz="1500">
                <a:solidFill>
                  <a:schemeClr val="dk2"/>
                </a:solidFill>
                <a:latin typeface="Montserrat"/>
                <a:ea typeface="Montserrat"/>
                <a:cs typeface="Montserrat"/>
                <a:sym typeface="Montserrat"/>
              </a:rPr>
              <a:t>learning</a:t>
            </a:r>
            <a:r>
              <a:rPr lang="en" sz="1500">
                <a:solidFill>
                  <a:schemeClr val="dk2"/>
                </a:solidFill>
                <a:latin typeface="Montserrat"/>
                <a:ea typeface="Montserrat"/>
                <a:cs typeface="Montserrat"/>
                <a:sym typeface="Montserrat"/>
              </a:rPr>
              <a:t> in </a:t>
            </a:r>
            <a:r>
              <a:rPr lang="en" sz="1500">
                <a:solidFill>
                  <a:schemeClr val="dk2"/>
                </a:solidFill>
                <a:latin typeface="Montserrat"/>
                <a:ea typeface="Montserrat"/>
                <a:cs typeface="Montserrat"/>
                <a:sym typeface="Montserrat"/>
              </a:rPr>
              <a:t>early</a:t>
            </a:r>
            <a:r>
              <a:rPr lang="en" sz="1500">
                <a:solidFill>
                  <a:schemeClr val="dk2"/>
                </a:solidFill>
                <a:latin typeface="Montserrat"/>
                <a:ea typeface="Montserrat"/>
                <a:cs typeface="Montserrat"/>
                <a:sym typeface="Montserrat"/>
              </a:rPr>
              <a:t> years. </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More focus on </a:t>
            </a:r>
            <a:r>
              <a:rPr lang="en" sz="1500">
                <a:solidFill>
                  <a:schemeClr val="dk2"/>
                </a:solidFill>
                <a:latin typeface="Montserrat"/>
                <a:ea typeface="Montserrat"/>
                <a:cs typeface="Montserrat"/>
                <a:sym typeface="Montserrat"/>
              </a:rPr>
              <a:t>quality.</a:t>
            </a:r>
            <a:r>
              <a:rPr lang="en" sz="1500">
                <a:solidFill>
                  <a:schemeClr val="dk2"/>
                </a:solidFill>
                <a:latin typeface="Montserrat"/>
                <a:ea typeface="Montserrat"/>
                <a:cs typeface="Montserrat"/>
                <a:sym typeface="Montserrat"/>
              </a:rPr>
              <a:t> </a:t>
            </a:r>
            <a:endParaRPr sz="15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500">
                <a:solidFill>
                  <a:schemeClr val="dk2"/>
                </a:solidFill>
                <a:latin typeface="Montserrat"/>
                <a:ea typeface="Montserrat"/>
                <a:cs typeface="Montserrat"/>
                <a:sym typeface="Montserrat"/>
              </a:rPr>
              <a:t>Big question:</a:t>
            </a:r>
            <a:endParaRPr sz="15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500">
                <a:solidFill>
                  <a:schemeClr val="dk2"/>
                </a:solidFill>
                <a:latin typeface="Montserrat"/>
                <a:ea typeface="Montserrat"/>
                <a:cs typeface="Montserrat"/>
                <a:sym typeface="Montserrat"/>
              </a:rPr>
              <a:t>Can Finland’s education system work in other </a:t>
            </a:r>
            <a:r>
              <a:rPr lang="en" sz="1500">
                <a:solidFill>
                  <a:schemeClr val="dk2"/>
                </a:solidFill>
                <a:latin typeface="Montserrat"/>
                <a:ea typeface="Montserrat"/>
                <a:cs typeface="Montserrat"/>
                <a:sym typeface="Montserrat"/>
              </a:rPr>
              <a:t>countries</a:t>
            </a:r>
            <a:r>
              <a:rPr lang="en" sz="1500">
                <a:solidFill>
                  <a:schemeClr val="dk2"/>
                </a:solidFill>
                <a:latin typeface="Montserrat"/>
                <a:ea typeface="Montserrat"/>
                <a:cs typeface="Montserrat"/>
                <a:sym typeface="Montserrat"/>
              </a:rPr>
              <a:t> like Canada, or does it depend on Finland’s strong </a:t>
            </a:r>
            <a:r>
              <a:rPr lang="en" sz="1500">
                <a:solidFill>
                  <a:schemeClr val="dk2"/>
                </a:solidFill>
                <a:latin typeface="Montserrat"/>
                <a:ea typeface="Montserrat"/>
                <a:cs typeface="Montserrat"/>
                <a:sym typeface="Montserrat"/>
              </a:rPr>
              <a:t>infrastructure</a:t>
            </a:r>
            <a:r>
              <a:rPr lang="en" sz="1500">
                <a:solidFill>
                  <a:schemeClr val="dk2"/>
                </a:solidFill>
                <a:latin typeface="Montserrat"/>
                <a:ea typeface="Montserrat"/>
                <a:cs typeface="Montserrat"/>
                <a:sym typeface="Montserrat"/>
              </a:rPr>
              <a:t> and </a:t>
            </a:r>
            <a:r>
              <a:rPr lang="en" sz="1500">
                <a:solidFill>
                  <a:schemeClr val="dk2"/>
                </a:solidFill>
                <a:latin typeface="Montserrat"/>
                <a:ea typeface="Montserrat"/>
                <a:cs typeface="Montserrat"/>
                <a:sym typeface="Montserrat"/>
              </a:rPr>
              <a:t>society?</a:t>
            </a:r>
            <a:endParaRPr sz="15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1000"/>
                                        <p:tgtEl>
                                          <p:spTgt spid="491"/>
                                        </p:tgtEl>
                                        <p:attrNameLst>
                                          <p:attrName>ppt_x</p:attrName>
                                        </p:attrNameLst>
                                      </p:cBhvr>
                                      <p:tavLst>
                                        <p:tav fmla="" tm="0">
                                          <p:val>
                                            <p:strVal val="#ppt_x"/>
                                          </p:val>
                                        </p:tav>
                                        <p:tav fmla="" tm="100000">
                                          <p:val>
                                            <p:strVal val="#ppt_x-1"/>
                                          </p:val>
                                        </p:tav>
                                      </p:tavLst>
                                    </p:anim>
                                    <p:set>
                                      <p:cBhvr>
                                        <p:cTn dur="1" fill="hold">
                                          <p:stCondLst>
                                            <p:cond delay="1000"/>
                                          </p:stCondLst>
                                        </p:cTn>
                                        <p:tgtEl>
                                          <p:spTgt spid="49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8"/>
          <p:cNvSpPr txBox="1"/>
          <p:nvPr>
            <p:ph type="title"/>
          </p:nvPr>
        </p:nvSpPr>
        <p:spPr>
          <a:xfrm>
            <a:off x="1171500" y="486825"/>
            <a:ext cx="6801000" cy="49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Challenges and </a:t>
            </a:r>
            <a:r>
              <a:rPr lang="en"/>
              <a:t>criticisms</a:t>
            </a:r>
            <a:r>
              <a:rPr lang="en"/>
              <a:t> of F</a:t>
            </a:r>
            <a:r>
              <a:rPr lang="en"/>
              <a:t>inland's</a:t>
            </a:r>
            <a:r>
              <a:rPr lang="en"/>
              <a:t> </a:t>
            </a:r>
            <a:r>
              <a:rPr lang="en"/>
              <a:t>education</a:t>
            </a:r>
            <a:r>
              <a:rPr lang="en"/>
              <a:t> system</a:t>
            </a:r>
            <a:endParaRPr/>
          </a:p>
        </p:txBody>
      </p:sp>
      <p:sp>
        <p:nvSpPr>
          <p:cNvPr id="498" name="Google Shape;498;p58"/>
          <p:cNvSpPr txBox="1"/>
          <p:nvPr/>
        </p:nvSpPr>
        <p:spPr>
          <a:xfrm>
            <a:off x="693975" y="1618425"/>
            <a:ext cx="8049900" cy="26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Montserrat"/>
                <a:ea typeface="Montserrat"/>
                <a:cs typeface="Montserrat"/>
                <a:sym typeface="Montserrat"/>
              </a:rPr>
              <a:t>Although Finland’s </a:t>
            </a:r>
            <a:r>
              <a:rPr lang="en">
                <a:solidFill>
                  <a:schemeClr val="dk2"/>
                </a:solidFill>
                <a:latin typeface="Montserrat"/>
                <a:ea typeface="Montserrat"/>
                <a:cs typeface="Montserrat"/>
                <a:sym typeface="Montserrat"/>
              </a:rPr>
              <a:t>education</a:t>
            </a:r>
            <a:r>
              <a:rPr lang="en">
                <a:solidFill>
                  <a:schemeClr val="dk2"/>
                </a:solidFill>
                <a:latin typeface="Montserrat"/>
                <a:ea typeface="Montserrat"/>
                <a:cs typeface="Montserrat"/>
                <a:sym typeface="Montserrat"/>
              </a:rPr>
              <a:t> system works well, it has some downsides. One issue is that with less </a:t>
            </a:r>
            <a:r>
              <a:rPr lang="en">
                <a:solidFill>
                  <a:schemeClr val="dk2"/>
                </a:solidFill>
                <a:latin typeface="Montserrat"/>
                <a:ea typeface="Montserrat"/>
                <a:cs typeface="Montserrat"/>
                <a:sym typeface="Montserrat"/>
              </a:rPr>
              <a:t>testing</a:t>
            </a:r>
            <a:r>
              <a:rPr lang="en">
                <a:solidFill>
                  <a:schemeClr val="dk2"/>
                </a:solidFill>
                <a:latin typeface="Montserrat"/>
                <a:ea typeface="Montserrat"/>
                <a:cs typeface="Montserrat"/>
                <a:sym typeface="Montserrat"/>
              </a:rPr>
              <a:t> and fewer </a:t>
            </a:r>
            <a:r>
              <a:rPr lang="en">
                <a:solidFill>
                  <a:schemeClr val="dk2"/>
                </a:solidFill>
                <a:latin typeface="Montserrat"/>
                <a:ea typeface="Montserrat"/>
                <a:cs typeface="Montserrat"/>
                <a:sym typeface="Montserrat"/>
              </a:rPr>
              <a:t>grades</a:t>
            </a:r>
            <a:r>
              <a:rPr lang="en">
                <a:solidFill>
                  <a:schemeClr val="dk2"/>
                </a:solidFill>
                <a:latin typeface="Montserrat"/>
                <a:ea typeface="Montserrat"/>
                <a:cs typeface="Montserrat"/>
                <a:sym typeface="Montserrat"/>
              </a:rPr>
              <a:t> in the </a:t>
            </a:r>
            <a:r>
              <a:rPr lang="en">
                <a:solidFill>
                  <a:schemeClr val="dk2"/>
                </a:solidFill>
                <a:latin typeface="Montserrat"/>
                <a:ea typeface="Montserrat"/>
                <a:cs typeface="Montserrat"/>
                <a:sym typeface="Montserrat"/>
              </a:rPr>
              <a:t>early</a:t>
            </a:r>
            <a:r>
              <a:rPr lang="en">
                <a:solidFill>
                  <a:schemeClr val="dk2"/>
                </a:solidFill>
                <a:latin typeface="Montserrat"/>
                <a:ea typeface="Montserrat"/>
                <a:cs typeface="Montserrat"/>
                <a:sym typeface="Montserrat"/>
              </a:rPr>
              <a:t> years, it </a:t>
            </a:r>
            <a:r>
              <a:rPr lang="en">
                <a:solidFill>
                  <a:schemeClr val="dk2"/>
                </a:solidFill>
                <a:latin typeface="Montserrat"/>
                <a:ea typeface="Montserrat"/>
                <a:cs typeface="Montserrat"/>
                <a:sym typeface="Montserrat"/>
              </a:rPr>
              <a:t>can be</a:t>
            </a:r>
            <a:r>
              <a:rPr lang="en">
                <a:solidFill>
                  <a:schemeClr val="dk2"/>
                </a:solidFill>
                <a:latin typeface="Montserrat"/>
                <a:ea typeface="Montserrat"/>
                <a:cs typeface="Montserrat"/>
                <a:sym typeface="Montserrat"/>
              </a:rPr>
              <a:t> harder to clearly track student progress. Some students might also struggle without structure or competition, especially if they are used to more </a:t>
            </a:r>
            <a:r>
              <a:rPr lang="en">
                <a:solidFill>
                  <a:schemeClr val="dk2"/>
                </a:solidFill>
                <a:latin typeface="Montserrat"/>
                <a:ea typeface="Montserrat"/>
                <a:cs typeface="Montserrat"/>
                <a:sym typeface="Montserrat"/>
              </a:rPr>
              <a:t>traditional</a:t>
            </a:r>
            <a:r>
              <a:rPr lang="en">
                <a:solidFill>
                  <a:schemeClr val="dk2"/>
                </a:solidFill>
                <a:latin typeface="Montserrat"/>
                <a:ea typeface="Montserrat"/>
                <a:cs typeface="Montserrat"/>
                <a:sym typeface="Montserrat"/>
              </a:rPr>
              <a:t> school systems.</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rPr lang="en">
                <a:solidFill>
                  <a:schemeClr val="dk2"/>
                </a:solidFill>
                <a:latin typeface="Montserrat"/>
                <a:ea typeface="Montserrat"/>
                <a:cs typeface="Montserrat"/>
                <a:sym typeface="Montserrat"/>
              </a:rPr>
              <a:t>Another problem is that Finland’s system might </a:t>
            </a:r>
            <a:r>
              <a:rPr lang="en">
                <a:solidFill>
                  <a:schemeClr val="dk2"/>
                </a:solidFill>
                <a:latin typeface="Montserrat"/>
                <a:ea typeface="Montserrat"/>
                <a:cs typeface="Montserrat"/>
                <a:sym typeface="Montserrat"/>
              </a:rPr>
              <a:t>not</a:t>
            </a:r>
            <a:r>
              <a:rPr lang="en">
                <a:solidFill>
                  <a:schemeClr val="dk2"/>
                </a:solidFill>
                <a:latin typeface="Montserrat"/>
                <a:ea typeface="Montserrat"/>
                <a:cs typeface="Montserrat"/>
                <a:sym typeface="Montserrat"/>
              </a:rPr>
              <a:t> work well in other countries. It depends on strong government funding, highly trained teachers, and a culture that values </a:t>
            </a:r>
            <a:r>
              <a:rPr lang="en">
                <a:solidFill>
                  <a:schemeClr val="dk2"/>
                </a:solidFill>
                <a:latin typeface="Montserrat"/>
                <a:ea typeface="Montserrat"/>
                <a:cs typeface="Montserrat"/>
                <a:sym typeface="Montserrat"/>
              </a:rPr>
              <a:t>equality</a:t>
            </a:r>
            <a:r>
              <a:rPr lang="en">
                <a:solidFill>
                  <a:schemeClr val="dk2"/>
                </a:solidFill>
                <a:latin typeface="Montserrat"/>
                <a:ea typeface="Montserrat"/>
                <a:cs typeface="Montserrat"/>
                <a:sym typeface="Montserrat"/>
              </a:rPr>
              <a:t> and trust. </a:t>
            </a:r>
            <a:r>
              <a:rPr lang="en">
                <a:solidFill>
                  <a:schemeClr val="dk2"/>
                </a:solidFill>
                <a:latin typeface="Montserrat"/>
                <a:ea typeface="Montserrat"/>
                <a:cs typeface="Montserrat"/>
                <a:sym typeface="Montserrat"/>
              </a:rPr>
              <a:t>Countries</a:t>
            </a:r>
            <a:r>
              <a:rPr lang="en">
                <a:solidFill>
                  <a:schemeClr val="dk2"/>
                </a:solidFill>
                <a:latin typeface="Montserrat"/>
                <a:ea typeface="Montserrat"/>
                <a:cs typeface="Montserrat"/>
                <a:sym typeface="Montserrat"/>
              </a:rPr>
              <a:t> that </a:t>
            </a:r>
            <a:r>
              <a:rPr lang="en">
                <a:solidFill>
                  <a:schemeClr val="dk2"/>
                </a:solidFill>
                <a:latin typeface="Montserrat"/>
                <a:ea typeface="Montserrat"/>
                <a:cs typeface="Montserrat"/>
                <a:sym typeface="Montserrat"/>
              </a:rPr>
              <a:t>don't</a:t>
            </a:r>
            <a:r>
              <a:rPr lang="en">
                <a:solidFill>
                  <a:schemeClr val="dk2"/>
                </a:solidFill>
                <a:latin typeface="Montserrat"/>
                <a:ea typeface="Montserrat"/>
                <a:cs typeface="Montserrat"/>
                <a:sym typeface="Montserrat"/>
              </a:rPr>
              <a:t> have have the same level of infrastructure or resources </a:t>
            </a:r>
            <a:r>
              <a:rPr lang="en">
                <a:solidFill>
                  <a:schemeClr val="dk2"/>
                </a:solidFill>
                <a:latin typeface="Montserrat"/>
                <a:ea typeface="Montserrat"/>
                <a:cs typeface="Montserrat"/>
                <a:sym typeface="Montserrat"/>
              </a:rPr>
              <a:t>could</a:t>
            </a:r>
            <a:r>
              <a:rPr lang="en">
                <a:solidFill>
                  <a:schemeClr val="dk2"/>
                </a:solidFill>
                <a:latin typeface="Montserrat"/>
                <a:ea typeface="Montserrat"/>
                <a:cs typeface="Montserrat"/>
                <a:sym typeface="Montserrat"/>
              </a:rPr>
              <a:t> find it difficult to copy this system.</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rPr lang="en">
                <a:solidFill>
                  <a:schemeClr val="dk2"/>
                </a:solidFill>
                <a:latin typeface="Montserrat"/>
                <a:ea typeface="Montserrat"/>
                <a:cs typeface="Montserrat"/>
                <a:sym typeface="Montserrat"/>
              </a:rPr>
              <a:t>There is also a concern that students may not be fully prepared for more </a:t>
            </a:r>
            <a:r>
              <a:rPr lang="en">
                <a:solidFill>
                  <a:schemeClr val="dk2"/>
                </a:solidFill>
                <a:latin typeface="Montserrat"/>
                <a:ea typeface="Montserrat"/>
                <a:cs typeface="Montserrat"/>
                <a:sym typeface="Montserrat"/>
              </a:rPr>
              <a:t>competitive</a:t>
            </a:r>
            <a:r>
              <a:rPr lang="en">
                <a:solidFill>
                  <a:schemeClr val="dk2"/>
                </a:solidFill>
                <a:latin typeface="Montserrat"/>
                <a:ea typeface="Montserrat"/>
                <a:cs typeface="Montserrat"/>
                <a:sym typeface="Montserrat"/>
              </a:rPr>
              <a:t> environments later on, like university or jobs in places that focus more on exams and </a:t>
            </a:r>
            <a:r>
              <a:rPr lang="en">
                <a:solidFill>
                  <a:schemeClr val="dk2"/>
                </a:solidFill>
                <a:latin typeface="Montserrat"/>
                <a:ea typeface="Montserrat"/>
                <a:cs typeface="Montserrat"/>
                <a:sym typeface="Montserrat"/>
              </a:rPr>
              <a:t>performance.</a:t>
            </a:r>
            <a:endParaRPr>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7"/>
                                        </p:tgtEl>
                                        <p:attrNameLst>
                                          <p:attrName>style.visibility</p:attrName>
                                        </p:attrNameLst>
                                      </p:cBhvr>
                                      <p:to>
                                        <p:strVal val="visible"/>
                                      </p:to>
                                    </p:set>
                                    <p:anim calcmode="lin" valueType="num">
                                      <p:cBhvr additive="base">
                                        <p:cTn dur="1000"/>
                                        <p:tgtEl>
                                          <p:spTgt spid="49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9"/>
          <p:cNvSpPr txBox="1"/>
          <p:nvPr>
            <p:ph idx="1" type="subTitle"/>
          </p:nvPr>
        </p:nvSpPr>
        <p:spPr>
          <a:xfrm>
            <a:off x="604150" y="1075175"/>
            <a:ext cx="4563300" cy="358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Both Canada and Finland have strong education systems, but when you look at the data, y</a:t>
            </a:r>
            <a:r>
              <a:rPr lang="en" sz="1300"/>
              <a:t>ou can see that both countries PISA scores have gone down over time. In Canada, scores dropped from around 534 to below 500, which is a pretty noticeable change. Finland has also seen its scores decline, especially in recent years.</a:t>
            </a:r>
            <a:endParaRPr sz="1300"/>
          </a:p>
          <a:p>
            <a:pPr indent="0" lvl="0" marL="0" rtl="0" algn="l">
              <a:spcBef>
                <a:spcPts val="1000"/>
              </a:spcBef>
              <a:spcAft>
                <a:spcPts val="1000"/>
              </a:spcAft>
              <a:buClr>
                <a:schemeClr val="dk1"/>
              </a:buClr>
              <a:buSzPts val="1100"/>
              <a:buFont typeface="Arial"/>
              <a:buNone/>
            </a:pPr>
            <a:r>
              <a:rPr lang="en" sz="1300"/>
              <a:t>This shows that even countries that do really well in education are starting to face challenges. Canada should care about this because it scores are also going down, not just Finland’s. Instead of copying Finland completely, Canada can learn from what works, like focussing on students well-being, well improving its own system. This is important because systems need to keep changing to meet students needs.</a:t>
            </a:r>
            <a:endParaRPr sz="1300"/>
          </a:p>
        </p:txBody>
      </p:sp>
      <p:sp>
        <p:nvSpPr>
          <p:cNvPr id="504" name="Google Shape;504;p59"/>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Canada &amp; Finland Reflection  </a:t>
            </a:r>
            <a:endParaRPr/>
          </a:p>
        </p:txBody>
      </p:sp>
      <p:pic>
        <p:nvPicPr>
          <p:cNvPr id="505" name="Google Shape;505;p59" title="Screenshot 2026-06-05 at 12.43.37 PM.png"/>
          <p:cNvPicPr preferRelativeResize="0"/>
          <p:nvPr/>
        </p:nvPicPr>
        <p:blipFill>
          <a:blip r:embed="rId3">
            <a:alphaModFix/>
          </a:blip>
          <a:stretch>
            <a:fillRect/>
          </a:stretch>
        </p:blipFill>
        <p:spPr>
          <a:xfrm>
            <a:off x="5958725" y="3366800"/>
            <a:ext cx="2287727" cy="1418651"/>
          </a:xfrm>
          <a:prstGeom prst="rect">
            <a:avLst/>
          </a:prstGeom>
          <a:noFill/>
          <a:ln cap="flat" cmpd="sng" w="9525">
            <a:solidFill>
              <a:schemeClr val="dk1"/>
            </a:solidFill>
            <a:prstDash val="solid"/>
            <a:round/>
            <a:headEnd len="sm" w="sm" type="none"/>
            <a:tailEnd len="sm" w="sm" type="none"/>
          </a:ln>
        </p:spPr>
      </p:pic>
      <p:sp>
        <p:nvSpPr>
          <p:cNvPr id="506" name="Google Shape;506;p59"/>
          <p:cNvSpPr txBox="1"/>
          <p:nvPr/>
        </p:nvSpPr>
        <p:spPr>
          <a:xfrm>
            <a:off x="5819325" y="2903350"/>
            <a:ext cx="2566500" cy="31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dk1"/>
                </a:solidFill>
                <a:latin typeface="Montserrat"/>
                <a:ea typeface="Montserrat"/>
                <a:cs typeface="Montserrat"/>
                <a:sym typeface="Montserrat"/>
                <a:hlinkClick r:id="rId4">
                  <a:extLst>
                    <a:ext uri="{A12FA001-AC4F-418D-AE19-62706E023703}">
                      <ahyp:hlinkClr val="tx"/>
                    </a:ext>
                  </a:extLst>
                </a:hlinkClick>
              </a:rPr>
              <a:t>PISA student performance in Finland from 2000 to 2022, by subject and score</a:t>
            </a:r>
            <a:endParaRPr sz="12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650">
              <a:solidFill>
                <a:schemeClr val="dk1"/>
              </a:solidFill>
              <a:latin typeface="Montserrat"/>
              <a:ea typeface="Montserrat"/>
              <a:cs typeface="Montserrat"/>
              <a:sym typeface="Montserrat"/>
            </a:endParaRPr>
          </a:p>
        </p:txBody>
      </p:sp>
      <p:pic>
        <p:nvPicPr>
          <p:cNvPr id="507" name="Google Shape;507;p59" title="Screenshot 2026-06-06 at 3.12.45 PM.png"/>
          <p:cNvPicPr preferRelativeResize="0"/>
          <p:nvPr/>
        </p:nvPicPr>
        <p:blipFill>
          <a:blip r:embed="rId5">
            <a:alphaModFix/>
          </a:blip>
          <a:stretch>
            <a:fillRect/>
          </a:stretch>
        </p:blipFill>
        <p:spPr>
          <a:xfrm>
            <a:off x="5754525" y="1514288"/>
            <a:ext cx="2566500" cy="1323762"/>
          </a:xfrm>
          <a:prstGeom prst="rect">
            <a:avLst/>
          </a:prstGeom>
          <a:noFill/>
          <a:ln cap="flat" cmpd="sng" w="9525">
            <a:solidFill>
              <a:schemeClr val="dk1"/>
            </a:solidFill>
            <a:prstDash val="solid"/>
            <a:round/>
            <a:headEnd len="sm" w="sm" type="none"/>
            <a:tailEnd len="sm" w="sm" type="none"/>
          </a:ln>
        </p:spPr>
      </p:pic>
      <p:sp>
        <p:nvSpPr>
          <p:cNvPr id="508" name="Google Shape;508;p59"/>
          <p:cNvSpPr txBox="1"/>
          <p:nvPr/>
        </p:nvSpPr>
        <p:spPr>
          <a:xfrm>
            <a:off x="6022875" y="1017713"/>
            <a:ext cx="2029800" cy="31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u="sng">
                <a:solidFill>
                  <a:schemeClr val="hlink"/>
                </a:solidFill>
                <a:latin typeface="Montserrat"/>
                <a:ea typeface="Montserrat"/>
                <a:cs typeface="Montserrat"/>
                <a:sym typeface="Montserrat"/>
                <a:hlinkClick r:id="rId6"/>
              </a:rPr>
              <a:t>P</a:t>
            </a:r>
            <a:r>
              <a:rPr lang="en" sz="900" u="sng">
                <a:solidFill>
                  <a:schemeClr val="hlink"/>
                </a:solidFill>
                <a:latin typeface="Montserrat"/>
                <a:ea typeface="Montserrat"/>
                <a:cs typeface="Montserrat"/>
                <a:sym typeface="Montserrat"/>
                <a:hlinkClick r:id="rId7"/>
              </a:rPr>
              <a:t>ISA 2022 Results (Volume I and II) ‑ Country Notes: Canada</a:t>
            </a:r>
            <a:endParaRPr sz="900">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1000"/>
                                        <p:tgtEl>
                                          <p:spTgt spid="503"/>
                                        </p:tgtEl>
                                        <p:attrNameLst>
                                          <p:attrName>ppt_x</p:attrName>
                                        </p:attrNameLst>
                                      </p:cBhvr>
                                      <p:tavLst>
                                        <p:tav fmla="" tm="0">
                                          <p:val>
                                            <p:strVal val="#ppt_x"/>
                                          </p:val>
                                        </p:tav>
                                        <p:tav fmla="" tm="100000">
                                          <p:val>
                                            <p:strVal val="#ppt_x-1"/>
                                          </p:val>
                                        </p:tav>
                                      </p:tavLst>
                                    </p:anim>
                                    <p:set>
                                      <p:cBhvr>
                                        <p:cTn dur="1" fill="hold">
                                          <p:stCondLst>
                                            <p:cond delay="1000"/>
                                          </p:stCondLst>
                                        </p:cTn>
                                        <p:tgtEl>
                                          <p:spTgt spid="503"/>
                                        </p:tgtEl>
                                        <p:attrNameLst>
                                          <p:attrName>style.visibility</p:attrName>
                                        </p:attrNameLst>
                                      </p:cBhvr>
                                      <p:to>
                                        <p:strVal val="hidden"/>
                                      </p:to>
                                    </p:set>
                                  </p:childTnLst>
                                </p:cTn>
                              </p:par>
                              <p:par>
                                <p:cTn fill="hold" nodeType="withEffect" presetClass="entr" presetID="2" presetSubtype="1">
                                  <p:stCondLst>
                                    <p:cond delay="0"/>
                                  </p:stCondLst>
                                  <p:childTnLst>
                                    <p:set>
                                      <p:cBhvr>
                                        <p:cTn dur="1" fill="hold">
                                          <p:stCondLst>
                                            <p:cond delay="0"/>
                                          </p:stCondLst>
                                        </p:cTn>
                                        <p:tgtEl>
                                          <p:spTgt spid="504"/>
                                        </p:tgtEl>
                                        <p:attrNameLst>
                                          <p:attrName>style.visibility</p:attrName>
                                        </p:attrNameLst>
                                      </p:cBhvr>
                                      <p:to>
                                        <p:strVal val="visible"/>
                                      </p:to>
                                    </p:set>
                                    <p:anim calcmode="lin" valueType="num">
                                      <p:cBhvr additive="base">
                                        <p:cTn dur="1000"/>
                                        <p:tgtEl>
                                          <p:spTgt spid="50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0"/>
          <p:cNvSpPr txBox="1"/>
          <p:nvPr>
            <p:ph type="title"/>
          </p:nvPr>
        </p:nvSpPr>
        <p:spPr>
          <a:xfrm>
            <a:off x="919000" y="315350"/>
            <a:ext cx="7452900" cy="129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300"/>
              <a:t>Thank you</a:t>
            </a:r>
            <a:endParaRPr sz="6300"/>
          </a:p>
        </p:txBody>
      </p:sp>
      <p:sp>
        <p:nvSpPr>
          <p:cNvPr id="514" name="Google Shape;514;p60"/>
          <p:cNvSpPr txBox="1"/>
          <p:nvPr>
            <p:ph idx="1" type="subTitle"/>
          </p:nvPr>
        </p:nvSpPr>
        <p:spPr>
          <a:xfrm>
            <a:off x="628600" y="1359575"/>
            <a:ext cx="8262300" cy="326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Sources:</a:t>
            </a:r>
            <a:endParaRPr/>
          </a:p>
          <a:p>
            <a:pPr indent="0" lvl="0" marL="0" rtl="0" algn="l">
              <a:spcBef>
                <a:spcPts val="0"/>
              </a:spcBef>
              <a:spcAft>
                <a:spcPts val="0"/>
              </a:spcAft>
              <a:buNone/>
            </a:pPr>
            <a:r>
              <a:rPr lang="en" sz="900"/>
              <a:t>Wikipedia. (August 2021). Educational inequality. Retrieved from </a:t>
            </a:r>
            <a:r>
              <a:rPr lang="en" sz="900" u="sng">
                <a:solidFill>
                  <a:schemeClr val="hlink"/>
                </a:solidFill>
                <a:hlinkClick r:id="rId3"/>
              </a:rPr>
              <a:t>https://en.wikipedia.org/wiki/Educational_inequality</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Statista. (2000-2022). PISA student performance in Finland from 2000 to 2022, by subject and score. Retrieved from </a:t>
            </a:r>
            <a:r>
              <a:rPr lang="en" sz="900" u="sng">
                <a:solidFill>
                  <a:schemeClr val="hlink"/>
                </a:solidFill>
                <a:hlinkClick r:id="rId4"/>
              </a:rPr>
              <a:t>https://www.statista.com/statistics/986919/pisa-student-performance-by-field-and-score-finland/?srsltid=AfmBOoqYLOKjOBk7sAaUtfS4YUdDBo7OHZXO7ns8GMmU9oqGVx65_Qe3</a:t>
            </a:r>
            <a:endParaRPr sz="900"/>
          </a:p>
          <a:p>
            <a:pPr indent="0" lvl="0" marL="0" rtl="0" algn="l">
              <a:spcBef>
                <a:spcPts val="0"/>
              </a:spcBef>
              <a:spcAft>
                <a:spcPts val="0"/>
              </a:spcAft>
              <a:buNone/>
            </a:pPr>
            <a:r>
              <a:t/>
            </a:r>
            <a:endParaRPr b="1" sz="1300">
              <a:latin typeface="Arial"/>
              <a:ea typeface="Arial"/>
              <a:cs typeface="Arial"/>
              <a:sym typeface="Arial"/>
            </a:endParaRPr>
          </a:p>
          <a:p>
            <a:pPr indent="0" lvl="0" marL="0" rtl="0" algn="l">
              <a:spcBef>
                <a:spcPts val="0"/>
              </a:spcBef>
              <a:spcAft>
                <a:spcPts val="0"/>
              </a:spcAft>
              <a:buNone/>
            </a:pPr>
            <a:r>
              <a:rPr lang="en" sz="900"/>
              <a:t>europa. (2023). Finland snapshot. </a:t>
            </a:r>
            <a:r>
              <a:rPr lang="en" sz="900" u="sng">
                <a:solidFill>
                  <a:schemeClr val="hlink"/>
                </a:solidFill>
                <a:hlinkClick r:id="rId5"/>
              </a:rPr>
              <a:t>https://op.europa.eu/webpub/eac/education-and-training-monitor/en/country-reports/finland.ht</a:t>
            </a:r>
            <a:endParaRPr sz="900"/>
          </a:p>
          <a:p>
            <a:pPr indent="0" lvl="0" marL="0" rtl="0" algn="l">
              <a:spcBef>
                <a:spcPts val="0"/>
              </a:spcBef>
              <a:spcAft>
                <a:spcPts val="0"/>
              </a:spcAft>
              <a:buClr>
                <a:schemeClr val="dk1"/>
              </a:buClr>
              <a:buSzPts val="1100"/>
              <a:buFont typeface="Arial"/>
              <a:buNone/>
            </a:pPr>
            <a:r>
              <a:rPr lang="en" sz="900"/>
              <a:t>l</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rPr lang="en" sz="900"/>
              <a:t>Kyle. (2023). Ministry report: Finnish education levels stagnant, learning outcomes in 'rapid decline'. </a:t>
            </a:r>
            <a:r>
              <a:rPr lang="en" sz="900" u="sng">
                <a:solidFill>
                  <a:schemeClr val="hlink"/>
                </a:solidFill>
                <a:hlinkClick r:id="rId6"/>
              </a:rPr>
              <a:t>https://yle.fi/a/74-20012522</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rPr lang="en" sz="900"/>
              <a:t>OECD. (2025). Education at a Glance 2025: Finland. </a:t>
            </a:r>
            <a:r>
              <a:rPr lang="en" sz="900" u="sng">
                <a:solidFill>
                  <a:schemeClr val="hlink"/>
                </a:solidFill>
                <a:hlinkClick r:id="rId7"/>
              </a:rPr>
              <a:t>https://www.oecd.org/en/publications/education-at-a-glance-2025_1a3543e2-en/finland_d8f44a5b-en.htm</a:t>
            </a:r>
            <a:endParaRPr sz="900"/>
          </a:p>
          <a:p>
            <a:pPr indent="0" lvl="0" marL="0" rtl="0" algn="l">
              <a:spcBef>
                <a:spcPts val="0"/>
              </a:spcBef>
              <a:spcAft>
                <a:spcPts val="0"/>
              </a:spcAft>
              <a:buClr>
                <a:schemeClr val="dk1"/>
              </a:buClr>
              <a:buSzPts val="1100"/>
              <a:buFont typeface="Arial"/>
              <a:buNone/>
            </a:pPr>
            <a:r>
              <a:rPr lang="en" sz="900"/>
              <a:t>l</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rPr lang="en" sz="900"/>
              <a:t>OECD. (2022). PISA 2022 Results (Volume I and II) ‑ Country Notes: Canada. </a:t>
            </a:r>
            <a:r>
              <a:rPr lang="en" sz="900" u="sng">
                <a:solidFill>
                  <a:schemeClr val="hlink"/>
                </a:solidFill>
                <a:hlinkClick r:id="rId8"/>
              </a:rPr>
              <a:t>https://www.oecd.org/en/publications/pisa-2022-results-volume-i-and-ii-country-notes_ed6fbcc5-en/canada_901942bb-en.html</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rPr lang="en" sz="900"/>
              <a:t>Smithsonian magazine. (2011). Why Are Finland’s Schools Successful?. </a:t>
            </a:r>
            <a:r>
              <a:rPr lang="en" sz="900" u="sng">
                <a:solidFill>
                  <a:schemeClr val="hlink"/>
                </a:solidFill>
                <a:hlinkClick r:id="rId9"/>
              </a:rPr>
              <a:t>https://www.smithsonianmag.com/innovation/why-are-finlands-schools-successful-49859555/</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t/>
            </a:r>
            <a:endParaRPr b="1" sz="1300">
              <a:latin typeface="Arial"/>
              <a:ea typeface="Arial"/>
              <a:cs typeface="Arial"/>
              <a:sym typeface="Arial"/>
            </a:endParaRPr>
          </a:p>
          <a:p>
            <a:pPr indent="0" lvl="0" marL="0" rtl="0" algn="l">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