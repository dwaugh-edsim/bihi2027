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5143500" cx="9144000"/>
  <p:notesSz cx="6858000" cy="9144000"/>
  <p:embeddedFontLst>
    <p:embeddedFont>
      <p:font typeface="Roboto"/>
      <p:regular r:id="rId11"/>
      <p:bold r:id="rId12"/>
      <p:italic r:id="rId13"/>
      <p:boldItalic r:id="rId1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Roboto-regular.fntdata"/><Relationship Id="rId10" Type="http://schemas.openxmlformats.org/officeDocument/2006/relationships/slide" Target="slides/slide5.xml"/><Relationship Id="rId13" Type="http://schemas.openxmlformats.org/officeDocument/2006/relationships/font" Target="fonts/Roboto-italic.fntdata"/><Relationship Id="rId12" Type="http://schemas.openxmlformats.org/officeDocument/2006/relationships/font" Target="fonts/Robot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font" Target="fonts/Robo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f15ff66157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f15ff66157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f15ff66157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f15ff66157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edea78fc6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edea78fc6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edea78fc64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edea78fc64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www.bbc.com/news/topics/cnx753jejqwt" TargetMode="External"/><Relationship Id="rId4" Type="http://schemas.openxmlformats.org/officeDocument/2006/relationships/hyperlink" Target="https://www.hrw.org/world-report/2026/country-chapters/somalia" TargetMode="External"/><Relationship Id="rId5" Type="http://schemas.openxmlformats.org/officeDocument/2006/relationships/hyperlink" Target="http://igad.int/igad-calls-for-restraint-and-respect-for-somalias-sovereignty-amid-emerging-developments/" TargetMode="External"/><Relationship Id="rId6" Type="http://schemas.openxmlformats.org/officeDocument/2006/relationships/hyperlink" Target="https://www.crisisgroup.org/africa/horn-africa/somalia"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214058" y="733725"/>
            <a:ext cx="8520600" cy="2052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               .Somalia.</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By me and isaic</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9" name="Shape 59"/>
        <p:cNvGrpSpPr/>
        <p:nvPr/>
      </p:nvGrpSpPr>
      <p:grpSpPr>
        <a:xfrm>
          <a:off x="0" y="0"/>
          <a:ext cx="0" cy="0"/>
          <a:chOff x="0" y="0"/>
          <a:chExt cx="0" cy="0"/>
        </a:xfrm>
      </p:grpSpPr>
      <p:sp>
        <p:nvSpPr>
          <p:cNvPr id="60" name="Google Shape;60;p14"/>
          <p:cNvSpPr txBox="1"/>
          <p:nvPr>
            <p:ph type="title"/>
          </p:nvPr>
        </p:nvSpPr>
        <p:spPr>
          <a:xfrm>
            <a:off x="311700" y="488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Global</a:t>
            </a:r>
            <a:r>
              <a:rPr lang="en"/>
              <a:t> issue </a:t>
            </a:r>
            <a:endParaRPr/>
          </a:p>
        </p:txBody>
      </p:sp>
      <p:sp>
        <p:nvSpPr>
          <p:cNvPr id="61" name="Google Shape;61;p14"/>
          <p:cNvSpPr txBox="1"/>
          <p:nvPr>
            <p:ph idx="1" type="body"/>
          </p:nvPr>
        </p:nvSpPr>
        <p:spPr>
          <a:xfrm>
            <a:off x="311700" y="1201700"/>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b="1" lang="en">
                <a:solidFill>
                  <a:schemeClr val="dk1"/>
                </a:solidFill>
                <a:latin typeface="Roboto"/>
                <a:ea typeface="Roboto"/>
                <a:cs typeface="Roboto"/>
                <a:sym typeface="Roboto"/>
              </a:rPr>
              <a:t>Extreme Hunger </a:t>
            </a:r>
            <a:r>
              <a:rPr b="1" lang="en">
                <a:solidFill>
                  <a:schemeClr val="dk1"/>
                </a:solidFill>
              </a:rPr>
              <a:t>Over </a:t>
            </a:r>
            <a:r>
              <a:rPr b="1" lang="en">
                <a:solidFill>
                  <a:schemeClr val="dk1"/>
                </a:solidFill>
                <a:latin typeface="Roboto"/>
                <a:ea typeface="Roboto"/>
                <a:cs typeface="Roboto"/>
                <a:sym typeface="Roboto"/>
              </a:rPr>
              <a:t>6.5 million people</a:t>
            </a:r>
            <a:r>
              <a:rPr b="1" lang="en">
                <a:solidFill>
                  <a:schemeClr val="dk1"/>
                </a:solidFill>
              </a:rPr>
              <a:t> do not have enough food to eat lots of </a:t>
            </a:r>
            <a:r>
              <a:rPr b="1" lang="en">
                <a:solidFill>
                  <a:schemeClr val="dk1"/>
                </a:solidFill>
              </a:rPr>
              <a:t>people</a:t>
            </a:r>
            <a:r>
              <a:rPr b="1" lang="en">
                <a:solidFill>
                  <a:schemeClr val="dk1"/>
                </a:solidFill>
              </a:rPr>
              <a:t> have </a:t>
            </a:r>
            <a:r>
              <a:rPr b="1" lang="en">
                <a:solidFill>
                  <a:schemeClr val="dk1"/>
                </a:solidFill>
              </a:rPr>
              <a:t>died</a:t>
            </a:r>
            <a:r>
              <a:rPr b="1" lang="en">
                <a:solidFill>
                  <a:schemeClr val="dk1"/>
                </a:solidFill>
              </a:rPr>
              <a:t> 2 million young children </a:t>
            </a:r>
            <a:r>
              <a:rPr b="1" lang="en">
                <a:solidFill>
                  <a:schemeClr val="dk1"/>
                </a:solidFill>
              </a:rPr>
              <a:t>that's</a:t>
            </a:r>
            <a:r>
              <a:rPr b="1" lang="en">
                <a:solidFill>
                  <a:schemeClr val="dk1"/>
                </a:solidFill>
              </a:rPr>
              <a:t> only </a:t>
            </a:r>
            <a:r>
              <a:rPr b="1" lang="en">
                <a:solidFill>
                  <a:schemeClr val="dk1"/>
                </a:solidFill>
              </a:rPr>
              <a:t>children what about grown up </a:t>
            </a:r>
            <a:r>
              <a:rPr b="1" lang="en">
                <a:solidFill>
                  <a:schemeClr val="dk1"/>
                </a:solidFill>
                <a:latin typeface="Roboto"/>
                <a:ea typeface="Roboto"/>
                <a:cs typeface="Roboto"/>
                <a:sym typeface="Roboto"/>
              </a:rPr>
              <a:t>Skipping Meals for Children In starving families, parents especially mothers often completely stop eating for days so their children can have whatever food is left The Drought to Flood Cycle </a:t>
            </a:r>
            <a:r>
              <a:rPr b="1" lang="en">
                <a:solidFill>
                  <a:schemeClr val="dk1"/>
                </a:solidFill>
              </a:rPr>
              <a:t>Countries are hitting a brutal loop where months of severe drought harden the soil. When torrential rains finally arrive, the ground cannot absorb the water, creating massive flash floods that wash away entire fields of crops and </a:t>
            </a:r>
            <a:r>
              <a:rPr b="1" lang="en">
                <a:solidFill>
                  <a:schemeClr val="dk1"/>
                </a:solidFill>
                <a:latin typeface="Roboto"/>
                <a:ea typeface="Roboto"/>
                <a:cs typeface="Roboto"/>
                <a:sym typeface="Roboto"/>
              </a:rPr>
              <a:t>Global Crop Failures </a:t>
            </a:r>
            <a:r>
              <a:rPr b="1" lang="en">
                <a:solidFill>
                  <a:schemeClr val="dk1"/>
                </a:solidFill>
              </a:rPr>
              <a:t>Major global food exporters including regions in Asia, the Americas, and Africa are experiencing simultaneous harvest losses in staples like rice, wheat, and corn</a:t>
            </a:r>
            <a:endParaRPr b="1"/>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War </a:t>
            </a:r>
            <a:endParaRPr/>
          </a:p>
        </p:txBody>
      </p:sp>
      <p:sp>
        <p:nvSpPr>
          <p:cNvPr id="67" name="Google Shape;67;p15"/>
          <p:cNvSpPr txBox="1"/>
          <p:nvPr>
            <p:ph idx="1" type="body"/>
          </p:nvPr>
        </p:nvSpPr>
        <p:spPr>
          <a:xfrm>
            <a:off x="311700" y="1152475"/>
            <a:ext cx="8520600" cy="3416400"/>
          </a:xfrm>
          <a:prstGeom prst="rect">
            <a:avLst/>
          </a:prstGeom>
          <a:noFill/>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1600">
                <a:solidFill>
                  <a:schemeClr val="dk1"/>
                </a:solidFill>
                <a:latin typeface="Roboto"/>
                <a:ea typeface="Roboto"/>
                <a:cs typeface="Roboto"/>
                <a:sym typeface="Roboto"/>
              </a:rPr>
              <a:t>Before the war broke out in 1991, Somalia was a beautiful, proud, and rapidly developing nation</a:t>
            </a:r>
            <a:r>
              <a:rPr b="1" lang="en" sz="1600">
                <a:solidFill>
                  <a:schemeClr val="dk1"/>
                </a:solidFill>
              </a:rPr>
              <a:t> known as </a:t>
            </a:r>
            <a:r>
              <a:rPr b="1" lang="en" sz="1600">
                <a:solidFill>
                  <a:schemeClr val="dk1"/>
                </a:solidFill>
                <a:latin typeface="Roboto"/>
                <a:ea typeface="Roboto"/>
                <a:cs typeface="Roboto"/>
                <a:sym typeface="Roboto"/>
              </a:rPr>
              <a:t>"The Pearl of the Indian Ocean Beautiful Capital </a:t>
            </a:r>
            <a:r>
              <a:rPr b="1" lang="en" sz="1600">
                <a:solidFill>
                  <a:schemeClr val="dk1"/>
                </a:solidFill>
              </a:rPr>
              <a:t>Mogadishu was a stunning seaside city filled with white Italian-colonial architecture, historic mosques, and lush palm trees. It was a major destination for tourists, offering vibrant nightlife, jazz clubs, and pristine, peaceful beaches </a:t>
            </a:r>
            <a:r>
              <a:rPr b="1" lang="en" sz="1600">
                <a:solidFill>
                  <a:schemeClr val="dk1"/>
                </a:solidFill>
                <a:latin typeface="Roboto"/>
                <a:ea typeface="Roboto"/>
                <a:cs typeface="Roboto"/>
                <a:sym typeface="Roboto"/>
              </a:rPr>
              <a:t>Free Education:</a:t>
            </a:r>
            <a:r>
              <a:rPr b="1" lang="en" sz="1600">
                <a:solidFill>
                  <a:schemeClr val="dk1"/>
                </a:solidFill>
              </a:rPr>
              <a:t> The government made education free and mandatory. In the 1970s, Somalia launched a massive literacy campaign that taught millions of rural people how to read and write, achieving one of the highest literacy rates in Africa at the time.                                                                </a:t>
            </a:r>
            <a:r>
              <a:rPr b="1" lang="en" sz="1600">
                <a:solidFill>
                  <a:schemeClr val="dk1"/>
                </a:solidFill>
              </a:rPr>
              <a:t>What's</a:t>
            </a:r>
            <a:r>
              <a:rPr b="1" lang="en" sz="1600">
                <a:solidFill>
                  <a:schemeClr val="dk1"/>
                </a:solidFill>
              </a:rPr>
              <a:t> </a:t>
            </a:r>
            <a:r>
              <a:rPr b="1" lang="en" sz="1600">
                <a:solidFill>
                  <a:schemeClr val="dk1"/>
                </a:solidFill>
              </a:rPr>
              <a:t>happening</a:t>
            </a:r>
            <a:r>
              <a:rPr b="1" lang="en" sz="1600">
                <a:solidFill>
                  <a:schemeClr val="dk1"/>
                </a:solidFill>
              </a:rPr>
              <a:t> now</a:t>
            </a:r>
            <a:endParaRPr b="1" sz="1600">
              <a:solidFill>
                <a:schemeClr val="dk1"/>
              </a:solidFill>
            </a:endParaRPr>
          </a:p>
          <a:p>
            <a:pPr indent="0" lvl="0" marL="0" rtl="0" algn="l">
              <a:spcBef>
                <a:spcPts val="1200"/>
              </a:spcBef>
              <a:spcAft>
                <a:spcPts val="1200"/>
              </a:spcAft>
              <a:buNone/>
            </a:pPr>
            <a:r>
              <a:rPr b="1" lang="en" sz="1600">
                <a:solidFill>
                  <a:schemeClr val="dk1"/>
                </a:solidFill>
              </a:rPr>
              <a:t>How did it </a:t>
            </a:r>
            <a:r>
              <a:rPr b="1" lang="en" sz="1600">
                <a:solidFill>
                  <a:schemeClr val="dk1"/>
                </a:solidFill>
              </a:rPr>
              <a:t>began The war in Somalia began because a brutal dictator weaponized the country’s clan system to maintain power, causing the entire government to collapse into chaos when he was overthrown</a:t>
            </a:r>
            <a:r>
              <a:rPr b="1" lang="en" sz="1400">
                <a:solidFill>
                  <a:schemeClr val="dk1"/>
                </a:solidFill>
              </a:rPr>
              <a:t>.</a:t>
            </a:r>
            <a:endParaRPr b="1" sz="14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What's</a:t>
            </a:r>
            <a:r>
              <a:rPr lang="en"/>
              <a:t> going on </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1800"/>
              </a:spcBef>
              <a:spcAft>
                <a:spcPts val="0"/>
              </a:spcAft>
              <a:buClr>
                <a:schemeClr val="dk1"/>
              </a:buClr>
              <a:buSzPts val="1100"/>
              <a:buFont typeface="Arial"/>
              <a:buNone/>
            </a:pPr>
            <a:r>
              <a:rPr b="1" lang="en" sz="1900">
                <a:solidFill>
                  <a:schemeClr val="dk1"/>
                </a:solidFill>
                <a:latin typeface="Roboto"/>
                <a:ea typeface="Roboto"/>
                <a:cs typeface="Roboto"/>
                <a:sym typeface="Roboto"/>
              </a:rPr>
              <a:t>1 </a:t>
            </a:r>
            <a:r>
              <a:rPr b="1" lang="en" sz="2300">
                <a:solidFill>
                  <a:schemeClr val="dk1"/>
                </a:solidFill>
                <a:latin typeface="Roboto"/>
                <a:ea typeface="Roboto"/>
                <a:cs typeface="Roboto"/>
                <a:sym typeface="Roboto"/>
              </a:rPr>
              <a:t> Political Chaos and Street Fighting in Mogadishu</a:t>
            </a:r>
            <a:endParaRPr b="1" sz="2300">
              <a:solidFill>
                <a:schemeClr val="dk1"/>
              </a:solidFill>
              <a:latin typeface="Roboto"/>
              <a:ea typeface="Roboto"/>
              <a:cs typeface="Roboto"/>
              <a:sym typeface="Roboto"/>
            </a:endParaRPr>
          </a:p>
          <a:p>
            <a:pPr indent="0" lvl="0" marL="0" rtl="0" algn="l">
              <a:spcBef>
                <a:spcPts val="900"/>
              </a:spcBef>
              <a:spcAft>
                <a:spcPts val="0"/>
              </a:spcAft>
              <a:buClr>
                <a:schemeClr val="dk1"/>
              </a:buClr>
              <a:buSzPts val="1100"/>
              <a:buFont typeface="Arial"/>
              <a:buNone/>
            </a:pPr>
            <a:r>
              <a:rPr b="1" lang="en" sz="2000">
                <a:solidFill>
                  <a:schemeClr val="dk1"/>
                </a:solidFill>
                <a:latin typeface="Roboto"/>
                <a:ea typeface="Roboto"/>
                <a:cs typeface="Roboto"/>
                <a:sym typeface="Roboto"/>
              </a:rPr>
              <a:t>Violent clashes recently erupted in the capital, Mogadishu, between federal government forces and opposition-allied militias. The fighting broke out over a controversial dispute regarding President Hassan Sheikh </a:t>
            </a:r>
            <a:r>
              <a:rPr b="1" lang="en" sz="2000">
                <a:solidFill>
                  <a:schemeClr val="dk1"/>
                </a:solidFill>
                <a:latin typeface="Roboto"/>
                <a:ea typeface="Roboto"/>
                <a:cs typeface="Roboto"/>
                <a:sym typeface="Roboto"/>
              </a:rPr>
              <a:t>Mohamud</a:t>
            </a:r>
            <a:r>
              <a:rPr b="1" lang="en" sz="2000">
                <a:solidFill>
                  <a:schemeClr val="dk1"/>
                </a:solidFill>
                <a:latin typeface="Roboto"/>
                <a:ea typeface="Roboto"/>
                <a:cs typeface="Roboto"/>
                <a:sym typeface="Roboto"/>
              </a:rPr>
              <a:t> decision to remain in office past his expired mandate, alongside proposed changes to transition the country away from its traditional clan-based system toward a "one person, one vote" electoral model. </a:t>
            </a:r>
            <a:endParaRPr b="1" sz="2000">
              <a:solidFill>
                <a:schemeClr val="dk1"/>
              </a:solidFill>
              <a:latin typeface="Roboto"/>
              <a:ea typeface="Roboto"/>
              <a:cs typeface="Roboto"/>
              <a:sym typeface="Roboto"/>
            </a:endParaRPr>
          </a:p>
          <a:p>
            <a:pPr indent="0" lvl="0" marL="0" rtl="0" algn="l">
              <a:spcBef>
                <a:spcPts val="1200"/>
              </a:spcBef>
              <a:spcAft>
                <a:spcPts val="1200"/>
              </a:spcAft>
              <a:buNone/>
            </a:pPr>
            <a:r>
              <a:t/>
            </a:r>
            <a:endParaRPr b="1"/>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1 </a:t>
            </a:r>
            <a:r>
              <a:rPr lang="en" u="sng">
                <a:solidFill>
                  <a:schemeClr val="hlink"/>
                </a:solidFill>
                <a:hlinkClick r:id="rId3"/>
              </a:rPr>
              <a:t>https://www.bbc.com/news/topics/cnx753jejqwt</a:t>
            </a:r>
            <a:endParaRPr/>
          </a:p>
          <a:p>
            <a:pPr indent="0" lvl="0" marL="0" rtl="0" algn="l">
              <a:spcBef>
                <a:spcPts val="1200"/>
              </a:spcBef>
              <a:spcAft>
                <a:spcPts val="0"/>
              </a:spcAft>
              <a:buNone/>
            </a:pPr>
            <a:r>
              <a:rPr lang="en"/>
              <a:t>2 </a:t>
            </a:r>
            <a:r>
              <a:rPr lang="en" u="sng">
                <a:solidFill>
                  <a:schemeClr val="hlink"/>
                </a:solidFill>
                <a:hlinkClick r:id="rId4"/>
              </a:rPr>
              <a:t>https://www.hrw.org/world-report/2026/country-chapters/somalia</a:t>
            </a:r>
            <a:endParaRPr/>
          </a:p>
          <a:p>
            <a:pPr indent="0" lvl="0" marL="0" rtl="0" algn="l">
              <a:spcBef>
                <a:spcPts val="1200"/>
              </a:spcBef>
              <a:spcAft>
                <a:spcPts val="0"/>
              </a:spcAft>
              <a:buNone/>
            </a:pPr>
            <a:r>
              <a:rPr lang="en"/>
              <a:t>3https://</a:t>
            </a:r>
            <a:r>
              <a:rPr lang="en" u="sng">
                <a:solidFill>
                  <a:schemeClr val="hlink"/>
                </a:solidFill>
                <a:hlinkClick r:id="rId5"/>
              </a:rPr>
              <a:t>igad.int/igad-calls-for-restraint-and-respect-for-somalias-sovereignty-amid-emerging-developments/</a:t>
            </a:r>
            <a:endParaRPr/>
          </a:p>
          <a:p>
            <a:pPr indent="0" lvl="0" marL="0" rtl="0" algn="l">
              <a:spcBef>
                <a:spcPts val="1200"/>
              </a:spcBef>
              <a:spcAft>
                <a:spcPts val="0"/>
              </a:spcAft>
              <a:buNone/>
            </a:pPr>
            <a:r>
              <a:rPr lang="en"/>
              <a:t>4 </a:t>
            </a:r>
            <a:r>
              <a:rPr lang="en" u="sng">
                <a:solidFill>
                  <a:schemeClr val="hlink"/>
                </a:solidFill>
                <a:hlinkClick r:id="rId6"/>
              </a:rPr>
              <a:t>https://www.crisisgroup.org/africa/horn-africa/somalia</a:t>
            </a:r>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