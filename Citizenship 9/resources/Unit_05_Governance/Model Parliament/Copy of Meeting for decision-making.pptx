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25f305a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25f305a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Canadian House of Commons, Parliament Ottawa - What do you see in this photo? What kinds of decisions might be made here? Who do you think sits where? What questions does this photo make you think of? (ex from other students: Who sits in the big chair at the back? Is there assigned seating? How do you get to the balcony?)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25f305a5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25f305a5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Typical conference room - Who might make decisions in a space like this? How is it the same and different from the fist picture? What questions or connections does this photo make you think of (ex from other students: Do certain people use it all the time? How come only one person get a computer? People are facing each other but close together.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25f305a5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25f305a5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House of Lords - London UK - the “upper house” of the B</a:t>
            </a:r>
            <a:r>
              <a:rPr lang="en"/>
              <a:t>ritish</a:t>
            </a:r>
            <a:r>
              <a:rPr lang="en"/>
              <a:t> </a:t>
            </a:r>
            <a:r>
              <a:rPr lang="en"/>
              <a:t>Parliament- What kinds of decision might be made here? Who do you think does the most talking? What questions come to mind (ex from other students: who gets to sit in the front? Is there a boss? Where do they sit? Is this in a church? Do you have to be quiet?)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25f305a5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25f305a5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Legislative Assembly of Nunavut - How does this image differ than the first one? What kinds of questions does it make you think of (ex from other students: It looks more comfortable, Can all the people hear each other? What are the chairs made of?</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5f305a5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5f305a5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en"/>
              <a:t>Teachers room at South Perch Centennial Public School- What types of decisions might be made here? What connections or questions does it make you think of? (ex from other students: Are the chairs uncomfortable? I think people eat here too. Can you be noisy in here?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25f305a5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25f305a5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typical library meeting space-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25f305a5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25f305a5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Diverse Sharing Circle - University Blue Quills, Alberta- How is this meeting space different than some of the others? How is it the same? Is anyone “in </a:t>
            </a:r>
            <a:r>
              <a:rPr lang="en"/>
              <a:t>charge</a:t>
            </a:r>
            <a:r>
              <a:rPr lang="en"/>
              <a:t>”? What kinds of decisions might be made here? Can you think of questions or connections in </a:t>
            </a:r>
            <a:r>
              <a:rPr lang="en"/>
              <a:t>relation</a:t>
            </a:r>
            <a:r>
              <a:rPr lang="en"/>
              <a:t> to this picture? (ex from other students: Why isn’t </a:t>
            </a:r>
            <a:r>
              <a:rPr lang="en"/>
              <a:t>there</a:t>
            </a:r>
            <a:r>
              <a:rPr lang="en"/>
              <a:t> any </a:t>
            </a:r>
            <a:r>
              <a:rPr lang="en"/>
              <a:t>furniture</a:t>
            </a:r>
            <a:r>
              <a:rPr lang="en"/>
              <a:t>? If you make a decision outside, does it count? Can we go outside?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5f305a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5f305a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Nova Scotia House of Assembly- Halifax, P</a:t>
            </a:r>
            <a:r>
              <a:rPr lang="en"/>
              <a:t>rovince</a:t>
            </a:r>
            <a:r>
              <a:rPr lang="en"/>
              <a:t> House - Do you see anything in the photo that you recognize? What does it </a:t>
            </a:r>
            <a:r>
              <a:rPr lang="en"/>
              <a:t>remind</a:t>
            </a:r>
            <a:r>
              <a:rPr lang="en"/>
              <a:t> you of? (ex from other students: It looks like the other green picture but smaller. Why do some have a big desk? Why do they have </a:t>
            </a:r>
            <a:r>
              <a:rPr lang="en"/>
              <a:t>microphones</a:t>
            </a:r>
            <a:r>
              <a:rPr lang="en"/>
              <a:t> if they are so close </a:t>
            </a:r>
            <a:r>
              <a:rPr lang="en"/>
              <a:t>together</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6196aef5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6196aef5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Band Council Chamber - Membertou First Nation - How is this similar to other meeting spaces? How well can people hear one another? (examples from students: it looks like an office, it looks formal but comfy)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Meeting for decision-making</a:t>
            </a:r>
            <a:endParaRPr/>
          </a:p>
        </p:txBody>
      </p:sp>
      <p:sp>
        <p:nvSpPr>
          <p:cNvPr id="55" name="Google Shape;55;p13"/>
          <p:cNvSpPr txBox="1"/>
          <p:nvPr>
            <p:ph idx="1" type="subTitle"/>
          </p:nvPr>
        </p:nvSpPr>
        <p:spPr>
          <a:xfrm>
            <a:off x="311700" y="2834125"/>
            <a:ext cx="8520600" cy="1617000"/>
          </a:xfrm>
          <a:prstGeom prst="rect">
            <a:avLst/>
          </a:prstGeom>
        </p:spPr>
        <p:txBody>
          <a:bodyPr anchorCtr="0" anchor="t" bIns="91425" lIns="91425" spcFirstLastPara="1" rIns="91425" wrap="square" tIns="91425">
            <a:noAutofit/>
          </a:bodyPr>
          <a:lstStyle/>
          <a:p>
            <a:pPr indent="-342900" lvl="0" marL="457200" rtl="0" algn="ctr">
              <a:lnSpc>
                <a:spcPct val="115000"/>
              </a:lnSpc>
              <a:spcBef>
                <a:spcPts val="0"/>
              </a:spcBef>
              <a:spcAft>
                <a:spcPts val="0"/>
              </a:spcAft>
              <a:buClr>
                <a:srgbClr val="3A3A3A"/>
              </a:buClr>
              <a:buSzPts val="1800"/>
              <a:buChar char="●"/>
            </a:pPr>
            <a:r>
              <a:rPr lang="en" sz="1800">
                <a:solidFill>
                  <a:srgbClr val="3A3A3A"/>
                </a:solidFill>
              </a:rPr>
              <a:t>What can we learn about an assembly or group by looking at how they meet to make decisions?</a:t>
            </a:r>
            <a:endParaRPr sz="1800">
              <a:solidFill>
                <a:srgbClr val="3A3A3A"/>
              </a:solidFill>
            </a:endParaRPr>
          </a:p>
          <a:p>
            <a:pPr indent="-342900" lvl="0" marL="457200" rtl="0" algn="ctr">
              <a:lnSpc>
                <a:spcPct val="115000"/>
              </a:lnSpc>
              <a:spcBef>
                <a:spcPts val="0"/>
              </a:spcBef>
              <a:spcAft>
                <a:spcPts val="0"/>
              </a:spcAft>
              <a:buClr>
                <a:srgbClr val="3A3A3A"/>
              </a:buClr>
              <a:buSzPts val="1800"/>
              <a:buChar char="●"/>
            </a:pPr>
            <a:r>
              <a:rPr lang="en" sz="1800">
                <a:solidFill>
                  <a:srgbClr val="3A3A3A"/>
                </a:solidFill>
              </a:rPr>
              <a:t>How are decisions made in different types of governments and groups?</a:t>
            </a:r>
            <a:endParaRPr sz="1800">
              <a:solidFill>
                <a:srgbClr val="3A3A3A"/>
              </a:solidFill>
            </a:endParaRPr>
          </a:p>
          <a:p>
            <a:pPr indent="-342900" lvl="0" marL="457200" rtl="0" algn="ctr">
              <a:lnSpc>
                <a:spcPct val="115000"/>
              </a:lnSpc>
              <a:spcBef>
                <a:spcPts val="0"/>
              </a:spcBef>
              <a:spcAft>
                <a:spcPts val="0"/>
              </a:spcAft>
              <a:buClr>
                <a:srgbClr val="3A3A3A"/>
              </a:buClr>
              <a:buSzPts val="1800"/>
              <a:buChar char="●"/>
            </a:pPr>
            <a:r>
              <a:rPr lang="en" sz="1800">
                <a:solidFill>
                  <a:srgbClr val="3A3A3A"/>
                </a:solidFill>
              </a:rPr>
              <a:t>Is there a right or wrong way to make decisions?</a:t>
            </a:r>
            <a:endParaRPr sz="1800">
              <a:solidFill>
                <a:srgbClr val="3A3A3A"/>
              </a:solidFill>
            </a:endParaRPr>
          </a:p>
          <a:p>
            <a:pPr indent="0" lvl="0" marL="0" rtl="0" algn="ctr">
              <a:lnSpc>
                <a:spcPct val="115000"/>
              </a:lnSpc>
              <a:spcBef>
                <a:spcPts val="0"/>
              </a:spcBef>
              <a:spcAft>
                <a:spcPts val="0"/>
              </a:spcAft>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8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sz="1000"/>
          </a:p>
          <a:p>
            <a:pPr indent="0" lvl="0" marL="0" rtl="0" algn="l">
              <a:spcBef>
                <a:spcPts val="1600"/>
              </a:spcBef>
              <a:spcAft>
                <a:spcPts val="1600"/>
              </a:spcAft>
              <a:buNone/>
            </a:pPr>
            <a:r>
              <a:rPr lang="en" sz="1000"/>
              <a:t>Photo: Bob Lindsell</a:t>
            </a:r>
            <a:r>
              <a:rPr lang="en"/>
              <a:t> </a:t>
            </a:r>
            <a:r>
              <a:rPr lang="en" sz="1000">
                <a:solidFill>
                  <a:schemeClr val="dk1"/>
                </a:solidFill>
                <a:highlight>
                  <a:srgbClr val="F8F9FA"/>
                </a:highlight>
              </a:rPr>
              <a:t>https://www.panoramio.com/photo/93935827</a:t>
            </a:r>
            <a:endParaRPr/>
          </a:p>
        </p:txBody>
      </p:sp>
      <p:pic>
        <p:nvPicPr>
          <p:cNvPr id="62" name="Google Shape;62;p14"/>
          <p:cNvPicPr preferRelativeResize="0"/>
          <p:nvPr/>
        </p:nvPicPr>
        <p:blipFill>
          <a:blip r:embed="rId3">
            <a:alphaModFix/>
          </a:blip>
          <a:stretch>
            <a:fillRect/>
          </a:stretch>
        </p:blipFill>
        <p:spPr>
          <a:xfrm>
            <a:off x="817175" y="269900"/>
            <a:ext cx="7620000" cy="4286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7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sz="1100"/>
              <a:t>Source: pixabay</a:t>
            </a:r>
            <a:endParaRPr sz="1100"/>
          </a:p>
        </p:txBody>
      </p:sp>
      <p:pic>
        <p:nvPicPr>
          <p:cNvPr id="69" name="Google Shape;69;p15"/>
          <p:cNvPicPr preferRelativeResize="0"/>
          <p:nvPr/>
        </p:nvPicPr>
        <p:blipFill>
          <a:blip r:embed="rId3">
            <a:alphaModFix/>
          </a:blip>
          <a:stretch>
            <a:fillRect/>
          </a:stretch>
        </p:blipFill>
        <p:spPr>
          <a:xfrm>
            <a:off x="975598" y="0"/>
            <a:ext cx="6885602" cy="4568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8520600" cy="374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sz="1100"/>
          </a:p>
          <a:p>
            <a:pPr indent="0" lvl="0" marL="0" rtl="0" algn="l">
              <a:spcBef>
                <a:spcPts val="1600"/>
              </a:spcBef>
              <a:spcAft>
                <a:spcPts val="1600"/>
              </a:spcAft>
              <a:buNone/>
            </a:pPr>
            <a:r>
              <a:rPr lang="en" sz="1100"/>
              <a:t>Source: UK Parliament Flickr (Creative Commons)</a:t>
            </a:r>
            <a:endParaRPr sz="1100"/>
          </a:p>
        </p:txBody>
      </p:sp>
      <p:pic>
        <p:nvPicPr>
          <p:cNvPr id="76" name="Google Shape;76;p16"/>
          <p:cNvPicPr preferRelativeResize="0"/>
          <p:nvPr/>
        </p:nvPicPr>
        <p:blipFill>
          <a:blip r:embed="rId3">
            <a:alphaModFix/>
          </a:blip>
          <a:stretch>
            <a:fillRect/>
          </a:stretch>
        </p:blipFill>
        <p:spPr>
          <a:xfrm>
            <a:off x="721900" y="-150675"/>
            <a:ext cx="7117776" cy="4754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txBox="1"/>
          <p:nvPr>
            <p:ph idx="1" type="body"/>
          </p:nvPr>
        </p:nvSpPr>
        <p:spPr>
          <a:xfrm>
            <a:off x="311700" y="1152475"/>
            <a:ext cx="8520600" cy="376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sz="1100"/>
          </a:p>
          <a:p>
            <a:pPr indent="0" lvl="0" marL="0" rtl="0" algn="l">
              <a:spcBef>
                <a:spcPts val="1600"/>
              </a:spcBef>
              <a:spcAft>
                <a:spcPts val="1600"/>
              </a:spcAft>
              <a:buNone/>
            </a:pPr>
            <a:r>
              <a:rPr lang="en" sz="1100"/>
              <a:t>source:ADialla </a:t>
            </a:r>
            <a:r>
              <a:rPr lang="en" sz="1100">
                <a:highlight>
                  <a:srgbClr val="F8F9FA"/>
                </a:highlight>
              </a:rPr>
              <a:t>Flickr</a:t>
            </a:r>
            <a:r>
              <a:rPr lang="en" sz="1100">
                <a:solidFill>
                  <a:srgbClr val="222222"/>
                </a:solidFill>
                <a:highlight>
                  <a:srgbClr val="F8F9FA"/>
                </a:highlight>
              </a:rPr>
              <a:t>: </a:t>
            </a:r>
            <a:r>
              <a:rPr lang="en" sz="1100">
                <a:solidFill>
                  <a:srgbClr val="222222"/>
                </a:solidFill>
              </a:rPr>
              <a:t>(wikimedia commons)</a:t>
            </a:r>
            <a:endParaRPr sz="1100"/>
          </a:p>
        </p:txBody>
      </p:sp>
      <p:pic>
        <p:nvPicPr>
          <p:cNvPr id="83" name="Google Shape;83;p17"/>
          <p:cNvPicPr preferRelativeResize="0"/>
          <p:nvPr/>
        </p:nvPicPr>
        <p:blipFill>
          <a:blip r:embed="rId3">
            <a:alphaModFix/>
          </a:blip>
          <a:stretch>
            <a:fillRect/>
          </a:stretch>
        </p:blipFill>
        <p:spPr>
          <a:xfrm>
            <a:off x="1331925" y="103525"/>
            <a:ext cx="5840950" cy="43807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txBox="1"/>
          <p:nvPr>
            <p:ph idx="1" type="body"/>
          </p:nvPr>
        </p:nvSpPr>
        <p:spPr>
          <a:xfrm>
            <a:off x="311700" y="1152475"/>
            <a:ext cx="8520600" cy="387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sz="1100"/>
              <a:t>Source: useourschools.ca </a:t>
            </a:r>
            <a:endParaRPr sz="1100"/>
          </a:p>
        </p:txBody>
      </p:sp>
      <p:pic>
        <p:nvPicPr>
          <p:cNvPr id="90" name="Google Shape;90;p18"/>
          <p:cNvPicPr preferRelativeResize="0"/>
          <p:nvPr/>
        </p:nvPicPr>
        <p:blipFill>
          <a:blip r:embed="rId3">
            <a:alphaModFix/>
          </a:blip>
          <a:stretch>
            <a:fillRect/>
          </a:stretch>
        </p:blipFill>
        <p:spPr>
          <a:xfrm>
            <a:off x="1341775" y="640148"/>
            <a:ext cx="5635275" cy="3743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txBox="1"/>
          <p:nvPr>
            <p:ph idx="1" type="body"/>
          </p:nvPr>
        </p:nvSpPr>
        <p:spPr>
          <a:xfrm>
            <a:off x="263375" y="1166300"/>
            <a:ext cx="8520600" cy="380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sz="1100"/>
          </a:p>
          <a:p>
            <a:pPr indent="0" lvl="0" marL="0" rtl="0" algn="l">
              <a:spcBef>
                <a:spcPts val="1600"/>
              </a:spcBef>
              <a:spcAft>
                <a:spcPts val="1600"/>
              </a:spcAft>
              <a:buNone/>
            </a:pPr>
            <a:r>
              <a:rPr lang="en" sz="1100"/>
              <a:t>Source: pixabay</a:t>
            </a:r>
            <a:endParaRPr sz="1100"/>
          </a:p>
        </p:txBody>
      </p:sp>
      <p:pic>
        <p:nvPicPr>
          <p:cNvPr id="97" name="Google Shape;97;p19"/>
          <p:cNvPicPr preferRelativeResize="0"/>
          <p:nvPr/>
        </p:nvPicPr>
        <p:blipFill>
          <a:blip r:embed="rId3">
            <a:alphaModFix/>
          </a:blip>
          <a:stretch>
            <a:fillRect/>
          </a:stretch>
        </p:blipFill>
        <p:spPr>
          <a:xfrm>
            <a:off x="1387126" y="131675"/>
            <a:ext cx="6030526" cy="4303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txBox="1"/>
          <p:nvPr>
            <p:ph idx="1" type="body"/>
          </p:nvPr>
        </p:nvSpPr>
        <p:spPr>
          <a:xfrm>
            <a:off x="311700" y="1152475"/>
            <a:ext cx="8520600" cy="3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sz="1100"/>
          </a:p>
          <a:p>
            <a:pPr indent="0" lvl="0" marL="0" rtl="0" algn="l">
              <a:spcBef>
                <a:spcPts val="1600"/>
              </a:spcBef>
              <a:spcAft>
                <a:spcPts val="1600"/>
              </a:spcAft>
              <a:buNone/>
            </a:pPr>
            <a:r>
              <a:rPr lang="en" sz="1100"/>
              <a:t>Source: </a:t>
            </a:r>
            <a:r>
              <a:rPr lang="en" sz="1100">
                <a:solidFill>
                  <a:schemeClr val="dk1"/>
                </a:solidFill>
              </a:rPr>
              <a:t>University nuhelot’įne thaiyots’į nistameyimâkanak Blue Quills</a:t>
            </a:r>
            <a:endParaRPr sz="1100"/>
          </a:p>
        </p:txBody>
      </p:sp>
      <p:pic>
        <p:nvPicPr>
          <p:cNvPr id="104" name="Google Shape;104;p20"/>
          <p:cNvPicPr preferRelativeResize="0"/>
          <p:nvPr/>
        </p:nvPicPr>
        <p:blipFill>
          <a:blip r:embed="rId3">
            <a:alphaModFix/>
          </a:blip>
          <a:stretch>
            <a:fillRect/>
          </a:stretch>
        </p:blipFill>
        <p:spPr>
          <a:xfrm>
            <a:off x="969175" y="538150"/>
            <a:ext cx="6397324" cy="3795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1"/>
          <p:cNvSpPr txBox="1"/>
          <p:nvPr>
            <p:ph idx="1" type="body"/>
          </p:nvPr>
        </p:nvSpPr>
        <p:spPr>
          <a:xfrm>
            <a:off x="311700" y="1152475"/>
            <a:ext cx="8520600" cy="369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sz="1100"/>
          </a:p>
          <a:p>
            <a:pPr indent="0" lvl="0" marL="0" rtl="0" algn="l">
              <a:spcBef>
                <a:spcPts val="1600"/>
              </a:spcBef>
              <a:spcAft>
                <a:spcPts val="1600"/>
              </a:spcAft>
              <a:buNone/>
            </a:pPr>
            <a:r>
              <a:rPr lang="en" sz="1100"/>
              <a:t>Source: CPHofmann (creative commons)</a:t>
            </a:r>
            <a:endParaRPr sz="1100"/>
          </a:p>
        </p:txBody>
      </p:sp>
      <p:pic>
        <p:nvPicPr>
          <p:cNvPr id="111" name="Google Shape;111;p21"/>
          <p:cNvPicPr preferRelativeResize="0"/>
          <p:nvPr/>
        </p:nvPicPr>
        <p:blipFill>
          <a:blip r:embed="rId3">
            <a:alphaModFix/>
          </a:blip>
          <a:stretch>
            <a:fillRect/>
          </a:stretch>
        </p:blipFill>
        <p:spPr>
          <a:xfrm>
            <a:off x="1069700" y="227750"/>
            <a:ext cx="6470376" cy="43351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8" name="Google Shape;118;p22"/>
          <p:cNvPicPr preferRelativeResize="0"/>
          <p:nvPr/>
        </p:nvPicPr>
        <p:blipFill>
          <a:blip r:embed="rId3">
            <a:alphaModFix/>
          </a:blip>
          <a:stretch>
            <a:fillRect/>
          </a:stretch>
        </p:blipFill>
        <p:spPr>
          <a:xfrm>
            <a:off x="2014425" y="234300"/>
            <a:ext cx="4257150" cy="4674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