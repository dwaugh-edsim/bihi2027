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y="5143500" cx="9144000"/>
  <p:notesSz cx="6858000" cy="9144000"/>
  <p:embeddedFontLst>
    <p:embeddedFont>
      <p:font typeface="Roboto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D738875-8746-4E4C-8257-5E32DA2CADF5}">
  <a:tblStyle styleId="{CD738875-8746-4E4C-8257-5E32DA2CAD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font" Target="fonts/Roboto-bold.fntdata"/><Relationship Id="rId14" Type="http://schemas.openxmlformats.org/officeDocument/2006/relationships/font" Target="fonts/Roboto-regular.fntdata"/><Relationship Id="rId17" Type="http://schemas.openxmlformats.org/officeDocument/2006/relationships/font" Target="fonts/Roboto-boldItalic.fntdata"/><Relationship Id="rId16" Type="http://schemas.openxmlformats.org/officeDocument/2006/relationships/font" Target="fonts/Roboto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61818fd01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61818fd01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61818fd011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61818fd01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1818fd011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1818fd011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1818fd01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1818fd01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61818fd011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61818fd011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1818fd011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1818fd011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www.youtube.com/watch?v=-ob2Od7rwd0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Nations in The Criminal Justice System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How does systemic discrimination affect Indigenous people within the criminal justice system? </a:t>
            </a:r>
            <a:endParaRPr b="1" sz="32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434225" y="12111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FF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62" name="Google Shape;62;p14"/>
          <p:cNvGraphicFramePr/>
          <p:nvPr/>
        </p:nvGraphicFramePr>
        <p:xfrm>
          <a:off x="434225" y="14630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{CD738875-8746-4E4C-8257-5E32DA2CADF5}</a:tableStyleId>
              </a:tblPr>
              <a:tblGrid>
                <a:gridCol w="7258050"/>
              </a:tblGrid>
              <a:tr h="513450">
                <a:tc>
                  <a:txBody>
                    <a:bodyPr/>
                    <a:lstStyle/>
                    <a:p>
                      <a:pPr indent="-3365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D0D0D"/>
                        </a:buClr>
                        <a:buSzPts val="1700"/>
                        <a:buFont typeface="Roboto"/>
                        <a:buAutoNum type="arabicPeriod"/>
                      </a:pPr>
                      <a:r>
                        <a:rPr lang="en" sz="170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Indigenous people have higher rates of mental illness due to discrimination and intergenerational trauma, leading to a higher likelihood of involvement with crime</a:t>
                      </a:r>
                      <a:endParaRPr sz="1700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  <a:tr h="5134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   </a:t>
                      </a:r>
                      <a:r>
                        <a:rPr lang="en" sz="170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Similarly to the first point, many Indigenous people are exposed to use of drugs and alcohol at very young ages, leading many to crimes involving drugs and alcohol. </a:t>
                      </a:r>
                      <a:endParaRPr sz="1700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  <a:tr h="7016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     </a:t>
                      </a:r>
                      <a:r>
                        <a:rPr lang="en" sz="170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Because of systemic discrimination, many judges and lawyers are less partial to helping Indigenous people, or there are laws that actively negatively affect Indigenous people in court.</a:t>
                      </a:r>
                      <a:endParaRPr sz="1700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    </a:t>
                      </a:r>
                      <a:r>
                        <a:rPr lang="en" sz="1700">
                          <a:solidFill>
                            <a:srgbClr val="0D0D0D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Many Indigenous people do not have access to higher-paying jobs due to systemic discrimination, leading to being unable to have access to a quality lawyer to help in court.</a:t>
                      </a:r>
                      <a:endParaRPr sz="1700">
                        <a:solidFill>
                          <a:srgbClr val="0D0D0D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Cont’d</a:t>
            </a:r>
            <a:endParaRPr b="1"/>
          </a:p>
        </p:txBody>
      </p:sp>
      <p:sp>
        <p:nvSpPr>
          <p:cNvPr id="68" name="Google Shape;68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5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5.  Due to systemic discrimination, Indigenous people often face more dire punishment for less serious charges than non-Indigenous people (ex. Longer prison sentences)</a:t>
            </a:r>
            <a:endParaRPr sz="2225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5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5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6. Due to systemic discrimination, offenders against Indigenous people often have lighter sentences than if they were against non-Indigenous people. </a:t>
            </a:r>
            <a:endParaRPr sz="2225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5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5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7. Often, larger cases concerning water quality, cultural events, protests and rallies (ex. Rallies for the unmarked Residential school graves) go ignored</a:t>
            </a:r>
            <a:endParaRPr sz="2225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225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25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8. Indigenous people are more often denied bail due to systemic discrimination. </a:t>
            </a:r>
            <a:endParaRPr sz="2225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2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Many opportunities for Aboriginal people have been limited</a:t>
            </a:r>
            <a:r>
              <a:rPr lang="en" sz="22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.</a:t>
            </a:r>
            <a:endParaRPr sz="3800"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Roboto"/>
              <a:buAutoNum type="arabicPeriod"/>
            </a:pPr>
            <a:r>
              <a:rPr lang="en" sz="22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Racial discrimination leads to fewer job opportunities</a:t>
            </a:r>
            <a:endParaRPr sz="22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Roboto"/>
              <a:buAutoNum type="arabicPeriod"/>
            </a:pPr>
            <a:r>
              <a:rPr lang="en" sz="22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Isolated reserves leave few opportunities for jobs and amenities</a:t>
            </a:r>
            <a:endParaRPr sz="22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Roboto"/>
              <a:buAutoNum type="arabicPeriod"/>
            </a:pPr>
            <a:r>
              <a:rPr lang="en" sz="22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Education levels are lower on reserves because of poor government funding.</a:t>
            </a:r>
            <a:endParaRPr sz="22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Roboto"/>
              <a:buAutoNum type="arabicPeriod"/>
            </a:pPr>
            <a:r>
              <a:rPr lang="en" sz="22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Higher physical and mental health issue rates for Indigenous people limit many opportunities.</a:t>
            </a:r>
            <a:endParaRPr sz="22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2200"/>
              <a:buFont typeface="Roboto"/>
              <a:buAutoNum type="arabicPeriod"/>
            </a:pPr>
            <a:r>
              <a:rPr lang="en" sz="22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Higher rates of murder and missing persons cases for Indigenous leave many unable to seek opportunities for fear of being killed or kidnapped.</a:t>
            </a:r>
            <a:endParaRPr sz="22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b="1" lang="en" sz="1779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b="1" lang="en" sz="1779">
                <a:solidFill>
                  <a:srgbClr val="333333"/>
                </a:solidFill>
                <a:highlight>
                  <a:srgbClr val="FFFFFF"/>
                </a:highlight>
              </a:rPr>
              <a:t>Indigenous people convicted of an offense are more likely to be assessed as high risk.</a:t>
            </a:r>
            <a:endParaRPr b="1" sz="3220"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10000"/>
          </a:bodyPr>
          <a:lstStyle/>
          <a:p>
            <a:pPr indent="-33250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AutoNum type="arabicPeriod"/>
            </a:pPr>
            <a:r>
              <a:rPr lang="en" sz="2618">
                <a:solidFill>
                  <a:srgbClr val="0D0D0D"/>
                </a:solidFill>
                <a:highlight>
                  <a:srgbClr val="FFFFFF"/>
                </a:highlight>
              </a:rPr>
              <a:t>Mental health issues are prevalent in Indigenous communities, leaving Indigenous offenders more likely to be assessed as both dangerous to others and/or themselves.</a:t>
            </a:r>
            <a:endParaRPr sz="2618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8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250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AutoNum type="arabicPeriod"/>
            </a:pPr>
            <a:r>
              <a:rPr lang="en" sz="2618">
                <a:solidFill>
                  <a:srgbClr val="0D0D0D"/>
                </a:solidFill>
                <a:highlight>
                  <a:srgbClr val="FFFFFF"/>
                </a:highlight>
              </a:rPr>
              <a:t>The most common offense for Indigenous offenders relate to alcohol or drug use, leaving them to be often assessed as both dangerous to others and/or themselves.</a:t>
            </a:r>
            <a:endParaRPr sz="2618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8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250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AutoNum type="arabicPeriod"/>
            </a:pPr>
            <a:r>
              <a:rPr lang="en" sz="2618">
                <a:solidFill>
                  <a:srgbClr val="0D0D0D"/>
                </a:solidFill>
                <a:highlight>
                  <a:srgbClr val="FFFFFF"/>
                </a:highlight>
              </a:rPr>
              <a:t>Risk assessments take into account the offenders’ financial situation- and for Indigenous people, with a low employment rate and lower education level it is impossible to assume a good financial situation.</a:t>
            </a:r>
            <a:endParaRPr sz="2618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18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32507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AutoNum type="arabicPeriod"/>
            </a:pPr>
            <a:r>
              <a:rPr lang="en" sz="2618">
                <a:solidFill>
                  <a:srgbClr val="0D0D0D"/>
                </a:solidFill>
                <a:highlight>
                  <a:srgbClr val="FFFFFF"/>
                </a:highlight>
              </a:rPr>
              <a:t>Risk assessments take into account the offenders’ housing situation, and on reserves the housing is not well funded by the government, and many Indigenous people live in cramped, poor-quality, poorly-built government-funded, non-traditional homes.</a:t>
            </a:r>
            <a:endParaRPr sz="2618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Addressing the overrepresentation of Indigenous people in the criminal justice system</a:t>
            </a:r>
            <a:endParaRPr b="1" sz="3400"/>
          </a:p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-32146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Roboto"/>
              <a:buChar char="-"/>
            </a:pPr>
            <a:r>
              <a:rPr lang="en" sz="45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By judges using alternative sentencing options more often in court. Judges can choose different punishments</a:t>
            </a:r>
            <a:endParaRPr sz="4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146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Roboto"/>
              <a:buChar char="-"/>
            </a:pPr>
            <a:r>
              <a:rPr lang="en" sz="45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Giving Indigenous people a “fairer chance” to succeed by assisting in improving the general mental and physical health of Indigenous communities, lowering the amount of dependency on drugs and alcohol.</a:t>
            </a:r>
            <a:endParaRPr sz="4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146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Roboto"/>
              <a:buChar char="-"/>
            </a:pPr>
            <a:r>
              <a:rPr lang="en" sz="45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Having more Indigenous people in positions of power (ex. judges, lawyers, RCMP) to address Indigenous issues and avoid the potential of bias/discrimination when making these such calls.</a:t>
            </a:r>
            <a:endParaRPr sz="4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146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Roboto"/>
              <a:buChar char="-"/>
            </a:pPr>
            <a:r>
              <a:rPr lang="en" sz="45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Culturally competent punishments and victim care.</a:t>
            </a:r>
            <a:endParaRPr sz="4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1468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Font typeface="Roboto"/>
              <a:buChar char="-"/>
            </a:pPr>
            <a:r>
              <a:rPr lang="en" sz="4500">
                <a:solidFill>
                  <a:srgbClr val="0D0D0D"/>
                </a:solidFill>
                <a:latin typeface="Roboto"/>
                <a:ea typeface="Roboto"/>
                <a:cs typeface="Roboto"/>
                <a:sym typeface="Roboto"/>
              </a:rPr>
              <a:t>Protecting vulnerable Indigenous people who are likely to get involved with crime (ex. children coming out of the child welfare system, disabled or further marginalized Indigenous people. etc.)</a:t>
            </a:r>
            <a:endParaRPr sz="4500">
              <a:solidFill>
                <a:srgbClr val="0D0D0D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Video:</a:t>
            </a:r>
            <a:endParaRPr/>
          </a:p>
        </p:txBody>
      </p:sp>
      <p:sp>
        <p:nvSpPr>
          <p:cNvPr id="92" name="Google Shape;92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Why Indigenous Peoples Are Over-Incarcerated in Canada | NDN POV | TVO Today</a:t>
            </a:r>
            <a:r>
              <a:rPr lang="en"/>
              <a:t>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