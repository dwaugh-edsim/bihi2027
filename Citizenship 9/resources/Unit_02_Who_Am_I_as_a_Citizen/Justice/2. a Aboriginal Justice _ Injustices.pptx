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Tahoma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slide" Target="slides/slide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5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b="0" i="0" sz="18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 b="0" i="0" sz="14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cbc.ca/news/cbc-news-online-news-staff-list-1.1294364" TargetMode="External"/><Relationship Id="rId4" Type="http://schemas.openxmlformats.org/officeDocument/2006/relationships/hyperlink" Target="http://www.cbc.ca/news/politics/crime-corrections-indigenous-prisons-1.4291568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wcLuVeHlrS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Aboriginal Justice &amp; Injustices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0000"/>
              </a:solidFill>
            </a:endParaRPr>
          </a:p>
          <a:p>
            <a:pPr indent="-3251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■"/>
            </a:pPr>
            <a:r>
              <a:rPr lang="en" sz="2400">
                <a:solidFill>
                  <a:schemeClr val="dk2"/>
                </a:solidFill>
              </a:rPr>
              <a:t>Aboriginal people of Canada (including the Mi’kmaq) have faced problems within the justice system as a result of social injustice.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 u="sng">
              <a:solidFill>
                <a:srgbClr val="000000"/>
              </a:solidFill>
            </a:endParaRPr>
          </a:p>
          <a:p>
            <a:pPr indent="-32512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■"/>
            </a:pPr>
            <a:r>
              <a:rPr lang="en" sz="2400" u="sng">
                <a:solidFill>
                  <a:srgbClr val="000000"/>
                </a:solidFill>
              </a:rPr>
              <a:t>Justice</a:t>
            </a:r>
            <a:r>
              <a:rPr lang="en" sz="2400">
                <a:solidFill>
                  <a:srgbClr val="000000"/>
                </a:solidFill>
              </a:rPr>
              <a:t>: the process or result of using laws to fairly judge and punish crimes and criminals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u="sng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2512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■"/>
            </a:pPr>
            <a:r>
              <a:rPr lang="en" sz="2400" u="sng">
                <a:solidFill>
                  <a:srgbClr val="000000"/>
                </a:solidFill>
              </a:rPr>
              <a:t>Social Justice</a:t>
            </a:r>
            <a:r>
              <a:rPr lang="en" sz="2400">
                <a:solidFill>
                  <a:srgbClr val="000000"/>
                </a:solidFill>
              </a:rPr>
              <a:t>: justice in terms of the distribution of wealth, opportunities, and privileges within a society.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00000"/>
              </a:solidFill>
            </a:endParaRPr>
          </a:p>
          <a:p>
            <a:pPr indent="-32512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urce Sans Pro"/>
              <a:buChar char="■"/>
            </a:pPr>
            <a:r>
              <a:rPr lang="en" sz="2400" u="sng">
                <a:solidFill>
                  <a:srgbClr val="000000"/>
                </a:solidFill>
              </a:rPr>
              <a:t>Injustice</a:t>
            </a:r>
            <a:r>
              <a:rPr lang="en" sz="2400">
                <a:solidFill>
                  <a:srgbClr val="000000"/>
                </a:solidFill>
              </a:rPr>
              <a:t>: absence of justice or the violation of the rights of another; unfairness. 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Gaps between Indigenous and non-Indigenous inmates growing, latest statistics show</a:t>
            </a:r>
            <a:endParaRPr sz="1600">
              <a:highlight>
                <a:srgbClr val="FFFFFF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Ministers of justice and public safety say the government is not turning a 'blind eye' to the issue</a:t>
            </a:r>
            <a:endParaRPr sz="1400">
              <a:highlight>
                <a:srgbClr val="FFFFFF"/>
              </a:highlight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3000"/>
              <a:buNone/>
            </a:pPr>
            <a:r>
              <a:rPr b="0" lang="en" sz="1000">
                <a:solidFill>
                  <a:srgbClr val="595959"/>
                </a:solidFill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By Alison Crawford, </a:t>
            </a:r>
            <a:r>
              <a:rPr b="0" lang="en" sz="1000" u="sng">
                <a:solidFill>
                  <a:schemeClr val="hlink"/>
                </a:solidFill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  <a:hlinkClick r:id="rId3"/>
              </a:rPr>
              <a:t>CBC News</a:t>
            </a:r>
            <a:r>
              <a:rPr b="0" lang="en" sz="1000">
                <a:solidFill>
                  <a:srgbClr val="595959"/>
                </a:solidFill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 Posted: Sep 15, 2017 12:15 PM ET  	</a:t>
            </a:r>
            <a:r>
              <a:rPr b="0" lang="en" sz="1000" u="sng">
                <a:solidFill>
                  <a:schemeClr val="hlink"/>
                </a:solidFill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  <a:hlinkClick r:id="rId4"/>
              </a:rPr>
              <a:t>http://www.cbc.ca/news/politics/crime-corrections-indigenous-prisons-1.4291568</a:t>
            </a:r>
            <a:r>
              <a:rPr b="0" lang="en" sz="1000">
                <a:solidFill>
                  <a:srgbClr val="595959"/>
                </a:solidFill>
                <a:highlight>
                  <a:srgbClr val="FFFFFF"/>
                </a:highlight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0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98925" y="1137500"/>
            <a:ext cx="8964000" cy="4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0000"/>
                </a:solidFill>
              </a:rPr>
              <a:t>The following are excerpts from CBC News: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</a:rPr>
              <a:t>There are </a:t>
            </a:r>
            <a:r>
              <a:rPr b="1" lang="en" sz="1200">
                <a:solidFill>
                  <a:srgbClr val="000000"/>
                </a:solidFill>
              </a:rPr>
              <a:t>more Indigenous offenders in Canada's prisons</a:t>
            </a:r>
            <a:r>
              <a:rPr lang="en" sz="1200">
                <a:solidFill>
                  <a:srgbClr val="000000"/>
                </a:solidFill>
              </a:rPr>
              <a:t> and they </a:t>
            </a:r>
            <a:r>
              <a:rPr b="1" lang="en" sz="1200">
                <a:solidFill>
                  <a:srgbClr val="000000"/>
                </a:solidFill>
              </a:rPr>
              <a:t>serve more time </a:t>
            </a:r>
            <a:r>
              <a:rPr lang="en" sz="1200">
                <a:solidFill>
                  <a:srgbClr val="000000"/>
                </a:solidFill>
              </a:rPr>
              <a:t>before being released on parole than other prisoners, according to fresh statistics from the federal Department of Public Safety.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Indigenous people are also more likely to be held in a </a:t>
            </a:r>
            <a:r>
              <a:rPr b="1" lang="en" sz="1200">
                <a:solidFill>
                  <a:srgbClr val="000000"/>
                </a:solidFill>
              </a:rPr>
              <a:t>higher security institution</a:t>
            </a:r>
            <a:r>
              <a:rPr lang="en" sz="1200">
                <a:solidFill>
                  <a:srgbClr val="000000"/>
                </a:solidFill>
              </a:rPr>
              <a:t>, according to the Corrections and Conditional Release Statistical Overview: 2016 Annual Report.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In federal penitentiaries, the Indigenous population has increased by 16.6 percent over the past five years and almost 40 per cent since 2006. Indigenous </a:t>
            </a:r>
            <a:r>
              <a:rPr b="1" lang="en" sz="1200">
                <a:solidFill>
                  <a:srgbClr val="000000"/>
                </a:solidFill>
              </a:rPr>
              <a:t>men represent 25.2 percent</a:t>
            </a:r>
            <a:r>
              <a:rPr lang="en" sz="1200">
                <a:solidFill>
                  <a:srgbClr val="000000"/>
                </a:solidFill>
              </a:rPr>
              <a:t> of all in-custody males, while Indigenous </a:t>
            </a:r>
            <a:r>
              <a:rPr b="1" lang="en" sz="1200">
                <a:solidFill>
                  <a:srgbClr val="000000"/>
                </a:solidFill>
              </a:rPr>
              <a:t>women represent 36.1 percent</a:t>
            </a:r>
            <a:r>
              <a:rPr lang="en" sz="1200">
                <a:solidFill>
                  <a:srgbClr val="000000"/>
                </a:solidFill>
              </a:rPr>
              <a:t> of all females behind bars. According to Statistics Canada, five per cent of Canadians are Indigenous.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And while</a:t>
            </a:r>
            <a:r>
              <a:rPr b="1" lang="en" sz="1200">
                <a:solidFill>
                  <a:srgbClr val="000000"/>
                </a:solidFill>
              </a:rPr>
              <a:t> 82.4 percent of all Indigenous</a:t>
            </a:r>
            <a:r>
              <a:rPr lang="en" sz="1200">
                <a:solidFill>
                  <a:srgbClr val="000000"/>
                </a:solidFill>
              </a:rPr>
              <a:t> offenders served their complete sentence before being released, just </a:t>
            </a:r>
            <a:r>
              <a:rPr b="1" lang="en" sz="1200">
                <a:solidFill>
                  <a:srgbClr val="000000"/>
                </a:solidFill>
              </a:rPr>
              <a:t>65.2 percent of non-Indigenous </a:t>
            </a:r>
            <a:r>
              <a:rPr lang="en" sz="1200">
                <a:solidFill>
                  <a:srgbClr val="000000"/>
                </a:solidFill>
              </a:rPr>
              <a:t>offenders are held until their statutory release date.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</a:rPr>
              <a:t>In the same statement, Justice Minister Jody Wilson-Raybould expressed high hopes for her department's ongoing review of Canada's criminal justice system and sentencing. </a:t>
            </a:r>
            <a:r>
              <a:rPr b="1" lang="en" sz="1200">
                <a:solidFill>
                  <a:srgbClr val="000000"/>
                </a:solidFill>
              </a:rPr>
              <a:t>"This involves addressing gaps in services to Indigenous people, including increasing the use of restorative justice processes and other initiatives to reduce the rate of incarceration of Indigenous persons," </a:t>
            </a:r>
            <a:r>
              <a:rPr lang="en" sz="1200">
                <a:solidFill>
                  <a:srgbClr val="000000"/>
                </a:solidFill>
              </a:rPr>
              <a:t>she said.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90250" y="267900"/>
            <a:ext cx="79050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" sz="3000"/>
              <a:t>2011 Statistics of Incarceration</a:t>
            </a:r>
            <a:endParaRPr sz="3000"/>
          </a:p>
        </p:txBody>
      </p:sp>
      <p:pic>
        <p:nvPicPr>
          <p:cNvPr descr="Chart 7 Aboriginal adult admissions to custody, by province  and territory, 2010/2011" id="82" name="Google Shape;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032" y="992225"/>
            <a:ext cx="5839492" cy="38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830637" y="4776912"/>
            <a:ext cx="5040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Source: </a:t>
            </a:r>
            <a:r>
              <a:rPr b="0" i="0" lang="en" sz="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Statistics Canada, Canadian Centre for Justice Statistics, Integrated Correctional Services Survey.</a:t>
            </a:r>
            <a:r>
              <a:rPr b="0" i="0" lang="en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6065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What is Restorative Justice?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952050"/>
            <a:ext cx="8751300" cy="4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800">
                <a:solidFill>
                  <a:schemeClr val="dk2"/>
                </a:solidFill>
              </a:rPr>
              <a:t>Restorative justice is a response to crime that focuses on restoring the losses suffered by victims, holding offenders accountable for the harm they have caused, and building peace within communities.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800">
                <a:solidFill>
                  <a:schemeClr val="dk2"/>
                </a:solidFill>
              </a:rPr>
              <a:t>It is a different way of thinking about crime and our response to crime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160650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What is Restorative Justice?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952050"/>
            <a:ext cx="8751300" cy="4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focuses on the harm caused by crime: repairing the harm done to victims and reducing future harm by preventing crime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is achieved through a cooperative effort by both government and the communities.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requires offenders to take responsibility for their actions and for the crime that they have caused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52907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Restorative Justice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292929"/>
                </a:solidFill>
              </a:rPr>
              <a:t>Video: Restorative Practices to Resolve Conflict/Build Relationships (18:20 mins)</a:t>
            </a:r>
            <a:endParaRPr>
              <a:solidFill>
                <a:srgbClr val="29292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  <a:p>
            <a:pPr indent="0" lvl="0" marL="0" rtl="0" algn="l">
              <a:lnSpc>
                <a:spcPct val="146250"/>
              </a:lnSpc>
              <a:spcBef>
                <a:spcPts val="900"/>
              </a:spcBef>
              <a:spcAft>
                <a:spcPts val="9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http://www.youtube.com/watch?v=wcLuVeHlrSs</a:t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Benefits of Restorative Justice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views criminal acts more comprehensively: rather than defining crime only as lawbreaking, it recognizes that offenders harm victims.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involves more parties: rather than giving key roles to government and offender it involves the victim and community.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Benefits of Restorative Justice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measures success differently: rather than measuring how much punishment has been inflicted it measures how much harm has been repaired or prevented.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2400">
                <a:solidFill>
                  <a:schemeClr val="dk2"/>
                </a:solidFill>
              </a:rPr>
              <a:t>It recognizes the importance of community involvement and initiative rather than leaving the problem of crime alone to the government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en" sz="2000" u="sng">
                <a:latin typeface="Arial"/>
                <a:ea typeface="Arial"/>
                <a:cs typeface="Arial"/>
                <a:sym typeface="Arial"/>
              </a:rPr>
              <a:t>Values of Restorative Justice</a:t>
            </a:r>
            <a:endParaRPr sz="39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8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rabicPeriod"/>
            </a:pPr>
            <a:r>
              <a:rPr i="1" lang="en" sz="19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Encounter - </a:t>
            </a:r>
            <a:r>
              <a:rPr lang="en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opportunities for victims, offenders and community members who want to do so to meet to discuss the crime and its aftermath</a:t>
            </a:r>
            <a:endParaRPr sz="1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rabicPeriod"/>
            </a:pPr>
            <a:r>
              <a:rPr i="1" lang="en" sz="19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Amends -</a:t>
            </a:r>
            <a:r>
              <a:rPr lang="en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Expect offenders to take steps to repair the harm they have caused</a:t>
            </a:r>
            <a:endParaRPr sz="1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rabicPeriod"/>
            </a:pPr>
            <a:r>
              <a:rPr i="1" lang="en" sz="19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Reintegration -</a:t>
            </a:r>
            <a:r>
              <a:rPr lang="en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Seek to restore victims and offenders as whole, contributing members of society.</a:t>
            </a:r>
            <a:endParaRPr sz="1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AutoNum type="arabicPeriod"/>
            </a:pPr>
            <a:r>
              <a:rPr i="1" lang="en" sz="19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Inclusion -</a:t>
            </a:r>
            <a:r>
              <a:rPr lang="en" sz="19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Provide opportunities for parties involved in a specific crime to participate in its resolution.</a:t>
            </a:r>
            <a:endParaRPr sz="19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