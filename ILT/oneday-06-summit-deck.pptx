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this on the screen as they walk in. Props off to the side: two wall signs, a pink glowing plastic bunny, a sealed envelope. Do not explain anything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 OPEN part 1 of 4 — read the briefing deadpan across slides 2–5, 45 seconds total: “Delegates — a thousand years ago, YeahTotally and NoWay were one country.”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 open part 2. Reveal (or place) the pink glowing plastic bunny on your desk NOW. Deadpan: “Behold the Loud God.” The cheaper the bunny, the harder they laugh — hold the stare.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 open part 3. Physically point: “YeahTotally holds THAT wall. NoWay holds the other. The middle strip is the Borderlands — the Mid — and the Mid pays a toll: say out loud what would convince you.”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 open part 4. Write LEDGER OF MOVED MINDS on the board now if you haven't. Envelope bit (optional): open the sealed briefing, glance at it gravely, and read Decree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five laws fast. Point at the bunny on law 2. Rehearse 'silent feet' once during the first training decree.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cycle once, slowly. Then run the two training decrees straight away — the mechanics stick by doing, not by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cycle (≈4 min): STAND → FOLD → NEGOTIATE 60s → VOICES (2–3 delegates) → DEFECT + Ledger tally. If 90% land on one wall, swap in a spare decree without ceremony.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cycle (≈4 min): STAND → FOLD → NEGOTIATE 60s → VOICES (2–3 delegates) → DEFECT + Ledger tally. If 90% land on one wall, swap in a spare decree without ceremony.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cycle (≈4 min): STAND → FOLD → NEGOTIATE 60s → VOICES (2–3 delegates) → DEFECT + Ledger tally. If 90% land on one wall, swap in a spare decree without ceremony.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cycle (≈4 min): STAND → FOLD → NEGOTIATE 60s → VOICES (2–3 delegates) → DEFECT + Ledger tally. If 90% land on one wall, swap in a spare decree without ceremony.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cycle (≈4 min): STAND → FOLD → NEGOTIATE 60s → VOICES (2–3 delegates) → DEFECT + Ledger tally. If 90% land on one wall, swap in a spare decree without ceremony.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cycle (≈4 min): STAND → FOLD → NEGOTIATE 60s → VOICES (2–3 delegates) → DEFECT + Ledger tally. If 90% land on one wall, swap in a spare decree without ceremony.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Grade-7 devil's advocate: easier and funnier than 'invent the other side' — they borrow an argument they actually heard. 2–3 performances, then the debrief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reprise decree: they fought this 20 minutes ago, so every delegate already knows both arsenals. Run 60-second negotiations, then 2–3 performances.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seconds to write. Screen every slip in one pass — read out the ones that split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When a student decree deserves the projector, unhide this slide, double-click the statement text, and type their sentence verbatim (fix nothing — read their words). Reuse it for Double Agents or as the Decree of the Hour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exit slips on the way out — the 'almost moved' answers tell you which ILT project hooks this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response pattern in 10 seconds ('I ask, you answer — loudly, but with reasons'). Deliver the last line, declare the curse broken, and let them file out past the bunny.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a decree lands 90% on one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a decree lands 90% on one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a decree lands 90% on one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a decree lands 90% on one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a decree lands 90% on one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a decree lands 90% on one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a decree lands 90% on one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0" y="-685800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0" b="1" i="0">
                <a:solidFill>
                  <a:srgbClr val="3A4552"/>
                </a:solidFill>
                <a:latin typeface="Arial"/>
              </a:rPr>
              <a:t>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EB6BD"/>
                </a:solidFill>
                <a:latin typeface="Arial"/>
              </a:rPr>
              <a:t>INTEGRATED LEARNING TIME  ·  GRADE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82880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THE SUMMIT OF</a:t>
            </a:r>
          </a:p>
          <a:p>
            <a:pPr algn="l">
              <a:spcBef>
                <a:spcPts val="200"/>
              </a:spcBef>
            </a:pPr>
            <a:r>
              <a:rPr sz="6000" b="1" i="0">
                <a:solidFill>
                  <a:srgbClr val="FFFFFF"/>
                </a:solidFill>
                <a:latin typeface="Arial"/>
              </a:rPr>
              <a:t>TWO KINGDOMS</a:t>
            </a:r>
            <a:r>
              <a:rPr sz="6000" b="1" i="0">
                <a:solidFill>
                  <a:srgbClr val="F56A6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6A6A"/>
                </a:solidFill>
                <a:latin typeface="Arial"/>
              </a:rPr>
              <a:t>One hour. 28 delegates. A thousand-year quarrel.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EB6BD"/>
                </a:solidFill>
                <a:latin typeface="Arial"/>
              </a:rPr>
              <a:t>YeahTotally  vs.  NoWay  —  and the Mid in between.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9966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A thousand years ago,</a:t>
            </a:r>
          </a:p>
          <a:p>
            <a:pPr algn="ctr">
              <a:spcBef>
                <a:spcPts val="600"/>
              </a:spcBef>
            </a:pPr>
            <a:r>
              <a:rPr sz="4000" b="1" i="0">
                <a:solidFill>
                  <a:srgbClr val="AEB6BD"/>
                </a:solidFill>
                <a:latin typeface="Arial"/>
              </a:rPr>
              <a:t>there was one country.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EB6BD"/>
                </a:solidFill>
                <a:latin typeface="Arial"/>
              </a:rPr>
              <a:t>THE ENEMY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2011680"/>
            <a:ext cx="6949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56A6A"/>
                </a:solidFill>
                <a:latin typeface="Arial"/>
              </a:rPr>
              <a:t>THE LOUD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He teaches shouting. Mocking.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FFFFFF"/>
                </a:solidFill>
                <a:latin typeface="Arial"/>
              </a:rPr>
              <a:t>“Because I said so.”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AEB6BD"/>
                </a:solidFill>
                <a:latin typeface="Arial"/>
              </a:rPr>
              <a:t>Every interruption makes him glow brighter.</a:t>
            </a:r>
          </a:p>
        </p:txBody>
      </p:sp>
      <p:sp>
        <p:nvSpPr>
          <p:cNvPr id="5" name="Oval 4"/>
          <p:cNvSpPr/>
          <p:nvPr/>
        </p:nvSpPr>
        <p:spPr>
          <a:xfrm>
            <a:off x="6979158" y="1447037"/>
            <a:ext cx="5244084" cy="5244084"/>
          </a:xfrm>
          <a:prstGeom prst="ellipse">
            <a:avLst/>
          </a:prstGeom>
          <a:solidFill>
            <a:srgbClr val="FF9EBB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86650" y="1954529"/>
            <a:ext cx="4229100" cy="4229100"/>
          </a:xfrm>
          <a:prstGeom prst="ellipse">
            <a:avLst/>
          </a:prstGeom>
          <a:solidFill>
            <a:srgbClr val="FF9EBB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09560" y="2377439"/>
            <a:ext cx="3383280" cy="3383280"/>
          </a:xfrm>
          <a:prstGeom prst="ellipse">
            <a:avLst/>
          </a:prstGeom>
          <a:solidFill>
            <a:srgbClr val="FF9EBB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21120000">
            <a:off x="8653881" y="2309774"/>
            <a:ext cx="744321" cy="1759305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21120000">
            <a:off x="8856878" y="2580436"/>
            <a:ext cx="338328" cy="1082649"/>
          </a:xfrm>
          <a:prstGeom prst="ellipse">
            <a:avLst/>
          </a:prstGeom>
          <a:solidFill>
            <a:srgbClr val="E8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480000">
            <a:off x="9804196" y="2309774"/>
            <a:ext cx="744321" cy="1759305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480000">
            <a:off x="10007193" y="2580436"/>
            <a:ext cx="338328" cy="1082649"/>
          </a:xfrm>
          <a:prstGeom prst="ellipse">
            <a:avLst/>
          </a:prstGeom>
          <a:solidFill>
            <a:srgbClr val="E8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94142" y="3899915"/>
            <a:ext cx="3214116" cy="1860804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52383" y="2851099"/>
            <a:ext cx="2097633" cy="1962302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27540" y="3663086"/>
            <a:ext cx="202996" cy="202996"/>
          </a:xfrm>
          <a:prstGeom prst="ellipse">
            <a:avLst/>
          </a:prstGeom>
          <a:solidFill>
            <a:srgbClr val="2E3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1862" y="3663086"/>
            <a:ext cx="202996" cy="202996"/>
          </a:xfrm>
          <a:prstGeom prst="ellipse">
            <a:avLst/>
          </a:prstGeom>
          <a:solidFill>
            <a:srgbClr val="2E3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16618" y="4035247"/>
            <a:ext cx="169164" cy="169164"/>
          </a:xfrm>
          <a:prstGeom prst="ellipse">
            <a:avLst/>
          </a:prstGeom>
          <a:solidFill>
            <a:srgbClr val="D9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The kingdoms split.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7F888F"/>
                </a:solidFill>
                <a:latin typeface="Arial"/>
              </a:rPr>
              <a:t>Two walls of this room. Every decree, you take a stand.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KINGDOM OF</a:t>
            </a:r>
          </a:p>
          <a:p>
            <a:pPr algn="ctr">
              <a:spcBef>
                <a:spcPts val="200"/>
              </a:spcBef>
            </a:pPr>
            <a:r>
              <a:rPr sz="2600" b="1">
                <a:solidFill>
                  <a:srgbClr val="FFFFFF"/>
                </a:solidFill>
                <a:latin typeface="Arial"/>
              </a:rPr>
              <a:t>YEAHTOTALLY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believes first — defends with reasons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920240"/>
            <a:ext cx="2926080" cy="2286000"/>
          </a:xfrm>
          <a:prstGeom prst="roundRect">
            <a:avLst>
              <a:gd name="adj" fmla="val 6000"/>
            </a:avLst>
          </a:prstGeom>
          <a:solidFill>
            <a:srgbClr val="7F8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THE</a:t>
            </a:r>
          </a:p>
          <a:p>
            <a:pPr algn="ctr">
              <a:spcBef>
                <a:spcPts val="200"/>
              </a:spcBef>
            </a:pPr>
            <a:r>
              <a:rPr sz="2600" b="1">
                <a:solidFill>
                  <a:srgbClr val="FFFFFF"/>
                </a:solidFill>
                <a:latin typeface="Arial"/>
              </a:rPr>
              <a:t>MID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undecided — and it costs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92024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2E3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REPUBLIC OF</a:t>
            </a:r>
          </a:p>
          <a:p>
            <a:pPr algn="ctr">
              <a:spcBef>
                <a:spcPts val="200"/>
              </a:spcBef>
            </a:pPr>
            <a:r>
              <a:rPr sz="2600" b="1">
                <a:solidFill>
                  <a:srgbClr val="FFFFFF"/>
                </a:solidFill>
                <a:latin typeface="Arial"/>
              </a:rPr>
              <a:t>NOWAY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doubts first — demands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56A6A"/>
                </a:solidFill>
                <a:latin typeface="Arial"/>
              </a:rPr>
              <a:t>←  that 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457200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7F888F"/>
                </a:solidFill>
                <a:latin typeface="Arial"/>
              </a:rPr>
              <a:t>the middle strip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45720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E383E"/>
                </a:solidFill>
                <a:latin typeface="Arial"/>
              </a:rPr>
              <a:t>the other wall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7F888F"/>
                </a:solidFill>
                <a:latin typeface="Arial"/>
              </a:rPr>
              <a:t>Citizens of the Mid pay a toll: say out loud what would convince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6A6A"/>
                </a:solidFill>
                <a:latin typeface="Arial"/>
              </a:rPr>
              <a:t>YOUR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463040"/>
            <a:ext cx="9692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Fill the Ledger of Moved Minds before the hour ends.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8778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EB6BD"/>
                </a:solidFill>
                <a:latin typeface="Arial"/>
              </a:rPr>
              <a:t>You are delegates — the first 28 ever trusted with both borders.</a:t>
            </a:r>
          </a:p>
          <a:p>
            <a:pPr algn="l">
              <a:spcBef>
                <a:spcPts val="1000"/>
              </a:spcBef>
            </a:pPr>
            <a:r>
              <a:rPr sz="1700" b="0" i="0">
                <a:solidFill>
                  <a:srgbClr val="AEB6BD"/>
                </a:solidFill>
                <a:latin typeface="Arial"/>
              </a:rPr>
              <a:t>Defect when a better reason finds you — and name what moved you.</a:t>
            </a:r>
          </a:p>
          <a:p>
            <a:pPr algn="l">
              <a:spcBef>
                <a:spcPts val="1000"/>
              </a:spcBef>
            </a:pPr>
            <a:r>
              <a:rPr sz="1700" b="0" i="0">
                <a:solidFill>
                  <a:srgbClr val="AEB6BD"/>
                </a:solidFill>
                <a:latin typeface="Arial"/>
              </a:rPr>
              <a:t>The Arbiter reads the decrees. The Arbiter never argues.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6BD"/>
                </a:solidFill>
                <a:latin typeface="Arial"/>
              </a:rPr>
              <a:t>“LEDGER OF MOVED MINDS” goes on the board — watch it fill.</a:t>
            </a:r>
          </a:p>
        </p:txBody>
      </p:sp>
      <p:sp>
        <p:nvSpPr>
          <p:cNvPr id="6" name="Oval 5"/>
          <p:cNvSpPr/>
          <p:nvPr/>
        </p:nvSpPr>
        <p:spPr>
          <a:xfrm>
            <a:off x="9909810" y="4743450"/>
            <a:ext cx="2125980" cy="2125980"/>
          </a:xfrm>
          <a:prstGeom prst="ellipse">
            <a:avLst/>
          </a:prstGeom>
          <a:solidFill>
            <a:srgbClr val="FF9EBB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15550" y="4949190"/>
            <a:ext cx="1714500" cy="1714500"/>
          </a:xfrm>
          <a:prstGeom prst="ellipse">
            <a:avLst/>
          </a:prstGeom>
          <a:solidFill>
            <a:srgbClr val="FF9EBB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5120640"/>
            <a:ext cx="1371600" cy="1371600"/>
          </a:xfrm>
          <a:prstGeom prst="ellipse">
            <a:avLst/>
          </a:prstGeom>
          <a:solidFill>
            <a:srgbClr val="FF9EBB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21120000">
            <a:off x="10588752" y="5093207"/>
            <a:ext cx="301752" cy="713232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21120000">
            <a:off x="10671048" y="5202936"/>
            <a:ext cx="137160" cy="438912"/>
          </a:xfrm>
          <a:prstGeom prst="ellipse">
            <a:avLst/>
          </a:prstGeom>
          <a:solidFill>
            <a:srgbClr val="E8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480000">
            <a:off x="11055096" y="5093207"/>
            <a:ext cx="301752" cy="713232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480000">
            <a:off x="11137392" y="5202936"/>
            <a:ext cx="137160" cy="438912"/>
          </a:xfrm>
          <a:prstGeom prst="ellipse">
            <a:avLst/>
          </a:prstGeom>
          <a:solidFill>
            <a:srgbClr val="E8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21290" y="5737859"/>
            <a:ext cx="1303019" cy="754380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47604" y="5312664"/>
            <a:ext cx="850392" cy="795527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0776" y="5641848"/>
            <a:ext cx="82296" cy="82296"/>
          </a:xfrm>
          <a:prstGeom prst="ellipse">
            <a:avLst/>
          </a:prstGeom>
          <a:solidFill>
            <a:srgbClr val="2E3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82528" y="5641848"/>
            <a:ext cx="82296" cy="82296"/>
          </a:xfrm>
          <a:prstGeom prst="ellipse">
            <a:avLst/>
          </a:prstGeom>
          <a:solidFill>
            <a:srgbClr val="2E3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38510" y="5792724"/>
            <a:ext cx="68580" cy="68580"/>
          </a:xfrm>
          <a:prstGeom prst="ellipse">
            <a:avLst/>
          </a:prstGeom>
          <a:solidFill>
            <a:srgbClr val="D9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Summit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4416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Attack the argument — never the arguer.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No names, no eye-rolls, no “that’s dumb.” The idea takes the hit.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21992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76856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04288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Reasons, not volume.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The Loud God feeds on shouting, mocking, and “because I said so.” Reasons starve him.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54680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09544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36976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Every claim needs a because.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An opinion without a reason is just noise. Say the because.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87368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42232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69664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Defect with honour.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Moving is the noblest act here — but you must name the argument that moved you.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20056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02352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Silent feet.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Move on the countdown (3‑2‑1). Talking starts only once partners are 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371600"/>
            <a:ext cx="2176272" cy="44805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2" y="1691640"/>
            <a:ext cx="1691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6A6A"/>
                </a:solidFill>
                <a:latin typeface="Arial"/>
              </a:rPr>
              <a:t>SAY IT LIKE A DELEGATE</a:t>
            </a:r>
          </a:p>
          <a:p>
            <a:pPr algn="l">
              <a:spcBef>
                <a:spcPts val="1200"/>
              </a:spcBef>
            </a:pPr>
            <a:r>
              <a:rPr sz="1350" b="0" i="0">
                <a:solidFill>
                  <a:srgbClr val="3D4449"/>
                </a:solidFill>
                <a:latin typeface="Arial"/>
              </a:rPr>
              <a:t>“I see it differently because …”</a:t>
            </a:r>
          </a:p>
          <a:p>
            <a:pPr algn="l">
              <a:spcBef>
                <a:spcPts val="1000"/>
              </a:spcBef>
            </a:pPr>
            <a:r>
              <a:rPr sz="1350" b="0" i="0">
                <a:solidFill>
                  <a:srgbClr val="3D4449"/>
                </a:solidFill>
                <a:latin typeface="Arial"/>
              </a:rPr>
              <a:t>“That’s a fair point, but …”</a:t>
            </a:r>
          </a:p>
          <a:p>
            <a:pPr algn="l">
              <a:spcBef>
                <a:spcPts val="1000"/>
              </a:spcBef>
            </a:pPr>
            <a:r>
              <a:rPr sz="1350" b="0" i="0">
                <a:solidFill>
                  <a:srgbClr val="3D4449"/>
                </a:solidFill>
                <a:latin typeface="Arial"/>
              </a:rPr>
              <a:t>“What’s your evidence?”</a:t>
            </a:r>
          </a:p>
          <a:p>
            <a:pPr algn="l">
              <a:spcBef>
                <a:spcPts val="1000"/>
              </a:spcBef>
            </a:pPr>
            <a:r>
              <a:rPr sz="1350" b="0" i="0">
                <a:solidFill>
                  <a:srgbClr val="3D4449"/>
                </a:solidFill>
                <a:latin typeface="Arial"/>
              </a:rPr>
              <a:t>“You’re right that … , but …”</a:t>
            </a:r>
          </a:p>
        </p:txBody>
      </p:sp>
      <p:sp>
        <p:nvSpPr>
          <p:cNvPr id="19" name="Oval 18"/>
          <p:cNvSpPr/>
          <p:nvPr/>
        </p:nvSpPr>
        <p:spPr>
          <a:xfrm rot="21120000">
            <a:off x="11258092" y="5836615"/>
            <a:ext cx="170992" cy="404164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21120000">
            <a:off x="11304727" y="5898794"/>
            <a:ext cx="77724" cy="248716"/>
          </a:xfrm>
          <a:prstGeom prst="ellipse">
            <a:avLst/>
          </a:prstGeom>
          <a:solidFill>
            <a:srgbClr val="E8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480000">
            <a:off x="11522354" y="5836615"/>
            <a:ext cx="170992" cy="404164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480000">
            <a:off x="11568988" y="5898794"/>
            <a:ext cx="77724" cy="248716"/>
          </a:xfrm>
          <a:prstGeom prst="ellipse">
            <a:avLst/>
          </a:prstGeom>
          <a:solidFill>
            <a:srgbClr val="E8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06531" y="6201918"/>
            <a:ext cx="738378" cy="427482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34775" y="5960973"/>
            <a:ext cx="481888" cy="450799"/>
          </a:xfrm>
          <a:prstGeom prst="ellipse">
            <a:avLst/>
          </a:prstGeom>
          <a:solidFill>
            <a:srgbClr val="FF9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66906" y="6147511"/>
            <a:ext cx="46634" cy="46634"/>
          </a:xfrm>
          <a:prstGeom prst="ellipse">
            <a:avLst/>
          </a:prstGeom>
          <a:solidFill>
            <a:srgbClr val="2E3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7899" y="6147511"/>
            <a:ext cx="46634" cy="46634"/>
          </a:xfrm>
          <a:prstGeom prst="ellipse">
            <a:avLst/>
          </a:prstGeom>
          <a:solidFill>
            <a:srgbClr val="2E3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56289" y="6233007"/>
            <a:ext cx="38862" cy="38862"/>
          </a:xfrm>
          <a:prstGeom prst="ellipse">
            <a:avLst/>
          </a:prstGeom>
          <a:solidFill>
            <a:srgbClr val="D9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How a decree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7131" y="155448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/>
            <a:r>
              <a:rPr sz="1700" b="1">
                <a:solidFill>
                  <a:srgbClr val="F56A6A"/>
                </a:solidFill>
                <a:latin typeface="Arial"/>
              </a:rPr>
              <a:t>STAND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3D4449"/>
                </a:solidFill>
                <a:latin typeface="Arial"/>
              </a:rPr>
              <a:t>The Arbiter reads the decree. 3‑2‑1, silent feet — pick your wall.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7F888F"/>
                </a:solidFill>
                <a:latin typeface="Arial"/>
              </a:rPr>
              <a:t>≈30 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61107" y="2743200"/>
            <a:ext cx="219456" cy="0"/>
          </a:xfrm>
          <a:prstGeom prst="line">
            <a:avLst/>
          </a:prstGeom>
          <a:ln w="25400">
            <a:solidFill>
              <a:srgbClr val="F56A6A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17139" y="155448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/>
            <a:r>
              <a:rPr sz="1700" b="1">
                <a:solidFill>
                  <a:srgbClr val="F56A6A"/>
                </a:solidFill>
                <a:latin typeface="Arial"/>
              </a:rPr>
              <a:t>FOLD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3D4449"/>
                </a:solidFill>
                <a:latin typeface="Arial"/>
              </a:rPr>
              <a:t>Both ends turn and walk inward. Negotiate with the delegate you meet.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7F888F"/>
                </a:solidFill>
                <a:latin typeface="Arial"/>
              </a:rPr>
              <a:t>≈20 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11115" y="2743200"/>
            <a:ext cx="219456" cy="0"/>
          </a:xfrm>
          <a:prstGeom prst="line">
            <a:avLst/>
          </a:prstGeom>
          <a:ln w="25400">
            <a:solidFill>
              <a:srgbClr val="F56A6A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67147" y="155448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/>
            <a:r>
              <a:rPr sz="1700" b="1">
                <a:solidFill>
                  <a:srgbClr val="F56A6A"/>
                </a:solidFill>
                <a:latin typeface="Arial"/>
              </a:rPr>
              <a:t>NEGOTIATE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3D4449"/>
                </a:solidFill>
                <a:latin typeface="Arial"/>
              </a:rPr>
              <a:t>60 seconds each way. Reasons, not volume. Starters on the wall.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7F888F"/>
                </a:solidFill>
                <a:latin typeface="Arial"/>
              </a:rPr>
              <a:t>60 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61123" y="2743200"/>
            <a:ext cx="219456" cy="0"/>
          </a:xfrm>
          <a:prstGeom prst="line">
            <a:avLst/>
          </a:prstGeom>
          <a:ln w="25400">
            <a:solidFill>
              <a:srgbClr val="F56A6A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17155" y="155448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/>
            <a:r>
              <a:rPr sz="1700" b="1">
                <a:solidFill>
                  <a:srgbClr val="F56A6A"/>
                </a:solidFill>
                <a:latin typeface="Arial"/>
              </a:rPr>
              <a:t>VOICES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3D4449"/>
                </a:solidFill>
                <a:latin typeface="Arial"/>
              </a:rPr>
              <a:t>Two or three delegates speak to the whole summit. Everyone listens.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7F888F"/>
                </a:solidFill>
                <a:latin typeface="Arial"/>
              </a:rPr>
              <a:t>2 min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11131" y="2743200"/>
            <a:ext cx="219456" cy="0"/>
          </a:xfrm>
          <a:prstGeom prst="line">
            <a:avLst/>
          </a:prstGeom>
          <a:ln w="25400">
            <a:solidFill>
              <a:srgbClr val="F56A6A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767163" y="155448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/>
            <a:r>
              <a:rPr sz="1700" b="1">
                <a:solidFill>
                  <a:srgbClr val="F56A6A"/>
                </a:solidFill>
                <a:latin typeface="Arial"/>
              </a:rPr>
              <a:t>DEFECT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3D4449"/>
                </a:solidFill>
                <a:latin typeface="Arial"/>
              </a:rPr>
              <a:t>Persuaded? Cross the floor — and name the argument that moved you.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7F888F"/>
                </a:solidFill>
                <a:latin typeface="Arial"/>
              </a:rPr>
              <a:t>tally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343400"/>
            <a:ext cx="12191695" cy="868680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3D4449"/>
                </a:solidFill>
                <a:latin typeface="Arial"/>
              </a:rPr>
              <a:t>One full decree ≈ 4 minutes. Seven decrees fill the hour — every defector goes on the Ledger.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7F888F"/>
                </a:solidFill>
                <a:latin typeface="Arial"/>
              </a:rPr>
              <a:t>Referee signal: when you hear “DECREE!” — stand, then fold. That’s the whole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TRAINING DECREE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“Pineapple belongs on pizza.”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Rehearsal decree — learn STAND, FOLD, NEGOTIATE, VOICES, DEFECT before anything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TRAINING DECREE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“Cats are better pets than dogs.”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DECREE OF THE REALM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F56A6A"/>
                </a:solidFill>
                <a:latin typeface="Arial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“Homework should be banned in every grade.”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DECREE OF THE REALM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“School should start at 10 a.m.”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DECREE OF THE REALM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“Video games should be an official school sport.”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A WEIGHTIER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“Zoos do more good than harm.”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  ·  reasons and examples, not feelings alone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Double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7F888F"/>
                </a:solidFill>
                <a:latin typeface="Arial"/>
              </a:rPr>
              <a:t>One decree. Everyone argues the OTHER kingdom’s 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0136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2880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Walk to the other wall.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You are now a citizen there. Swear temporary loyalty — this is a spy mission.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15184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7004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9748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Steal their best argument.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Use the intelligence you overheard during negotiations — their strongest reason, now yours.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83864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3872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6616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Deliver it like you believe it.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Best double-agent performance earns the crown. Conviction is the costume.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892040"/>
            <a:ext cx="12191695" cy="914400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1">
                <a:solidFill>
                  <a:srgbClr val="3D4449"/>
                </a:solidFill>
                <a:latin typeface="Arial"/>
              </a:rPr>
              <a:t>Debrief: how did it feel to argue what you don’t believe?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DOUBLE AGENTS · ARGUE THE OTHER KINGDOM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F56A6A"/>
                </a:solidFill>
                <a:latin typeface="Arial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“Homework should be banned in every grade.”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Yes — again. Your kingdom has switched. Steal their best argument and make it sing.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The Delegates’ Own Laws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7F888F"/>
                </a:solidFill>
                <a:latin typeface="Arial"/>
              </a:rPr>
              <a:t>Write a decree the whole summit must take a stand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6A6A"/>
                </a:solidFill>
                <a:latin typeface="Arial"/>
              </a:rPr>
              <a:t>school rules  ·  food  ·  weekends  ·  technology  ·  sports  ·  shows &amp;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720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834640"/>
            <a:ext cx="7680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Write it on a slip. One sentence.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Statements, not questions — something to agree or disagree with.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6732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794760"/>
            <a:ext cx="7680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The Arbiter vets in silence.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Three or four become law and get read aloud.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2744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754880"/>
            <a:ext cx="7680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Authors stay silent.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Watch the kingdoms take your idea seriously. That’s the reward.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371600"/>
            <a:ext cx="2176272" cy="40233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65792" y="1691640"/>
            <a:ext cx="16916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6A6A"/>
                </a:solidFill>
                <a:latin typeface="Arial"/>
              </a:rPr>
              <a:t>TWO LAWS OF LAWMAKING</a:t>
            </a:r>
          </a:p>
          <a:p>
            <a:pPr algn="l">
              <a:spcBef>
                <a:spcPts val="1400"/>
              </a:spcBef>
            </a:pPr>
            <a:r>
              <a:rPr sz="1400" b="0" i="0">
                <a:solidFill>
                  <a:srgbClr val="3D4449"/>
                </a:solidFill>
                <a:latin typeface="Arial"/>
              </a:rPr>
              <a:t>1.  No naming classmates.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3D4449"/>
                </a:solidFill>
                <a:latin typeface="Arial"/>
              </a:rPr>
              <a:t>2.  Nothing about anyone’s body or identity.</a:t>
            </a:r>
          </a:p>
          <a:p>
            <a:pPr algn="l">
              <a:spcBef>
                <a:spcPts val="1400"/>
              </a:spcBef>
            </a:pPr>
            <a:r>
              <a:rPr sz="1250" b="0" i="0">
                <a:solidFill>
                  <a:srgbClr val="7F888F"/>
                </a:solidFill>
                <a:latin typeface="Arial"/>
              </a:rPr>
              <a:t>Vetoes are silent and final — no debate.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A DELEGATE’S OWN LAW · READ ALOUD TO THE SUMMIT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“[ type the delegate’s decree here — double-click this text ]”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Hidden slide. During the Own Laws round, type a chosen slip here and project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The Ledger &amp; the Curse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7F888F"/>
                </a:solidFill>
                <a:latin typeface="Arial"/>
              </a:rPr>
              <a:t>Ten minutes left. Time to find out if the Loud God starves.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9280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920240"/>
            <a:ext cx="103327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Count the moved minds.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Walk the Ledger: which decree defected the most delegates?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752344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80720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834640"/>
            <a:ext cx="103327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Crown the Decree of the Hour.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The statement that moved the class — was it logic, evidence, or an example?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66744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21607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749039"/>
            <a:ext cx="103327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Confess to the Ledger.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Exit slip: one argument that almost moved you — and what stopped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074920"/>
            <a:ext cx="12191695" cy="914400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3D4449"/>
                </a:solidFill>
                <a:latin typeface="Arial"/>
              </a:rPr>
              <a:t>Then the Arbiter declares the curse broken. It always breaks — the oath decides, not the tally.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6A6A"/>
                </a:solidFill>
                <a:latin typeface="Arial"/>
              </a:rPr>
              <a:t>THE OATH OF THE MOVED 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AEB6BD"/>
                </a:solidFill>
                <a:latin typeface="Arial"/>
              </a:rPr>
              <a:t>Arbiter: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Do you swear to argue with reasons, not volume?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1">
                <a:solidFill>
                  <a:srgbClr val="F56A6A"/>
                </a:solidFill>
                <a:latin typeface="Arial"/>
              </a:rPr>
              <a:t>We swear.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AEB6BD"/>
                </a:solidFill>
                <a:latin typeface="Arial"/>
              </a:rPr>
              <a:t>Arbiter: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To attack the argument — never the arguer?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1">
                <a:solidFill>
                  <a:srgbClr val="F56A6A"/>
                </a:solidFill>
                <a:latin typeface="Arial"/>
              </a:rPr>
              <a:t>We swear.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AEB6BD"/>
                </a:solidFill>
                <a:latin typeface="Arial"/>
              </a:rPr>
              <a:t>Arbiter: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And if a better reason finds you — will you move without shame?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1">
                <a:solidFill>
                  <a:srgbClr val="F56A6A"/>
                </a:solidFill>
                <a:latin typeface="Arial"/>
              </a:rPr>
              <a:t>I will 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EB6BD"/>
                </a:solidFill>
                <a:latin typeface="Arial"/>
              </a:rPr>
              <a:t>Call and response. Last two minutes of the hour.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· TRAINING DECREE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“Winter is the best season in Nova Scotia.”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  ·  hidden slide — unhide to swap 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· TRAINING DECREE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“The movie is never as good as the book.”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  ·  hidden slide — unhide to swap 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· DECREE OF THE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“Exams should always be open-book.”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  ·  hidden slide — unhide to swap 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· DECREE OF THE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“Students should be allowed to redo any test they fail.”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  ·  hidden slide — unhide to swap 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· A WEIGHTIER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“It’s never OK to lie — even to be kind.”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  ·  hidden slide — unhide to swap 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· A WEIGHTIER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“Professional athletes are paid too much.”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  ·  hidden slide — unhide to swap 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· A WEIGHTIER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0" b="1" i="0">
                <a:solidFill>
                  <a:srgbClr val="F56A6A"/>
                </a:solidFill>
                <a:latin typeface="Arial"/>
              </a:rPr>
              <a:t>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D4449"/>
                </a:solidFill>
                <a:latin typeface="Arial"/>
              </a:rPr>
              <a:t>“Junk food should be banned from school cafeterias.”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Take your stand  ·  fold the line  ·  defect with honour  ·  hidden slide — unhide to swap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