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</ns0:sldIdLst>
  <ns0:sldSz cx="12192000" cy="6858000" type="screen4x3"/>
  <ns0:notesSz cx="6858000" cy="9144000"/>
  <ns0:embeddedFontLst>
    <ns0:embeddedFont>
      <ns0:font typeface="Outfit"/>
      <ns0:bold ns1:id="rIdFont8"/>
    </ns0:embeddedFont>
    <ns0:embeddedFont>
      <ns0:font typeface="Plus Jakarta Sans"/>
      <ns0:bold ns1:id="rIdFont9"/>
      <ns0:italic ns1:id="rIdFont10"/>
      <ns0:boldItalic ns1:id="rIdFont11"/>
      <ns0:regular ns1:id="rIdFont1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Font8" Type="http://schemas.openxmlformats.org/officeDocument/2006/relationships/font" Target="fonts/87944469-252f-4045-b01a-d66ba0992a26.fntdata" /><ns0:Relationship Id="rIdFont9" Type="http://schemas.openxmlformats.org/officeDocument/2006/relationships/font" Target="fonts/bb3fd99a-2b2f-4d0d-ac86-e5d9fb56b115.fntdata" /><ns0:Relationship Id="rIdFont10" Type="http://schemas.openxmlformats.org/officeDocument/2006/relationships/font" Target="fonts/4ce7b69b-4a3f-4597-bee6-73ea00c6b85e.fntdata" /><ns0:Relationship Id="rIdFont11" Type="http://schemas.openxmlformats.org/officeDocument/2006/relationships/font" Target="fonts/23e63bbd-47ae-4d18-a4d3-4b6b6c285317.fntdata" /><ns0:Relationship Id="rIdFont12" Type="http://schemas.openxmlformats.org/officeDocument/2006/relationships/font" Target="fonts/591220f6-8a4c-4567-b442-34a44b6871f3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5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342900"/>
            <a:ext cx="11277600" cy="962025"/>
          </a:xfrm>
          <a:prstGeom prst="roundRect">
            <a:avLst>
              <a:gd name="adj" fmla="val 19801"/>
            </a:avLst>
          </a:prstGeom>
          <a:solidFill>
            <a:srgbClr val="1B1E36"/>
          </a:solidFill>
          <a:ln w="9525">
            <a:solidFill>
              <a:srgbClr val="2A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81850" y="591442"/>
            <a:ext cx="4276725" cy="464790"/>
          </a:xfrm>
          <a:prstGeom prst="roundRect">
            <a:avLst>
              <a:gd name="adj" fmla="val 28690"/>
            </a:avLst>
          </a:prstGeom>
          <a:solidFill>
            <a:srgbClr val="35223B"/>
          </a:solidFill>
          <a:ln w="9525">
            <a:solidFill>
              <a:srgbClr val="722B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053679"/>
            <a:ext cx="3519338" cy="3922216"/>
          </a:xfrm>
          <a:prstGeom prst="roundRect">
            <a:avLst>
              <a:gd name="adj" fmla="val 5412"/>
            </a:avLst>
          </a:prstGeom>
          <a:solidFill>
            <a:srgbClr val="1B2438"/>
          </a:solidFill>
          <a:ln w="9525">
            <a:solidFill>
              <a:srgbClr val="2A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86088" y="2026443"/>
            <a:ext cx="3970139" cy="3976687"/>
          </a:xfrm>
          <a:prstGeom prst="roundRect">
            <a:avLst>
              <a:gd name="adj" fmla="val 4798"/>
            </a:avLst>
          </a:prstGeom>
          <a:solidFill>
            <a:srgbClr val="1B2438"/>
          </a:solidFill>
          <a:ln w="9525">
            <a:solidFill>
              <a:srgbClr val="2A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65777" y="2257573"/>
            <a:ext cx="3369022" cy="3514278"/>
          </a:xfrm>
          <a:prstGeom prst="roundRect">
            <a:avLst>
              <a:gd name="adj" fmla="val 5654"/>
            </a:avLst>
          </a:prstGeom>
          <a:solidFill>
            <a:srgbClr val="1B2438"/>
          </a:solidFill>
          <a:ln w="9525">
            <a:solidFill>
              <a:srgbClr val="2A2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4375" y="3034754"/>
            <a:ext cx="3004988" cy="1275308"/>
          </a:xfrm>
          <a:prstGeom prst="roundRect">
            <a:avLst>
              <a:gd name="adj" fmla="val 10456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4375" y="4443412"/>
            <a:ext cx="3004988" cy="1275308"/>
          </a:xfrm>
          <a:prstGeom prst="roundRect">
            <a:avLst>
              <a:gd name="adj" fmla="val 10456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3263" y="2836068"/>
            <a:ext cx="3455789" cy="1179314"/>
          </a:xfrm>
          <a:prstGeom prst="roundRect">
            <a:avLst>
              <a:gd name="adj" fmla="val 11307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3263" y="4129682"/>
            <a:ext cx="3455789" cy="1616273"/>
          </a:xfrm>
          <a:prstGeom prst="roundRect">
            <a:avLst>
              <a:gd name="adj" fmla="val 8250"/>
            </a:avLst>
          </a:prstGeom>
          <a:solidFill>
            <a:srgbClr val="13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22952" y="3067198"/>
            <a:ext cx="2854672" cy="1045666"/>
          </a:xfrm>
          <a:prstGeom prst="roundRect">
            <a:avLst>
              <a:gd name="adj" fmla="val 12752"/>
            </a:avLst>
          </a:prstGeom>
          <a:solidFill>
            <a:srgbClr val="1A3641"/>
          </a:solidFill>
          <a:ln w="9525">
            <a:solidFill>
              <a:srgbClr val="256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22952" y="4246215"/>
            <a:ext cx="2854672" cy="1268462"/>
          </a:xfrm>
          <a:prstGeom prst="roundRect">
            <a:avLst>
              <a:gd name="adj" fmla="val 10512"/>
            </a:avLst>
          </a:prstGeom>
          <a:solidFill>
            <a:srgbClr val="35273D"/>
          </a:solidFill>
          <a:ln w="9525">
            <a:solidFill>
              <a:srgbClr val="722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4375" y="3034754"/>
            <a:ext cx="47625" cy="1275308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4375" y="4443412"/>
            <a:ext cx="47625" cy="127530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547687"/>
            <a:ext cx="552450" cy="552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681037"/>
            <a:ext cx="247650" cy="285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975" y="743842"/>
            <a:ext cx="200025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396579"/>
            <a:ext cx="395436" cy="4000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263" y="2283618"/>
            <a:ext cx="400050" cy="4000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952" y="2514748"/>
            <a:ext cx="400050" cy="4000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481" y="2501354"/>
            <a:ext cx="219075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24226" y="2388393"/>
            <a:ext cx="238125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13440" y="2619523"/>
            <a:ext cx="219075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3210966"/>
            <a:ext cx="171450" cy="1714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4619625"/>
            <a:ext cx="152400" cy="1714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95663" y="3007518"/>
            <a:ext cx="171450" cy="1714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95663" y="4301132"/>
            <a:ext cx="1714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84877" y="3252936"/>
            <a:ext cx="219075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84877" y="4431952"/>
            <a:ext cx="152400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76375" y="504825"/>
            <a:ext cx="3338512" cy="638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B7185"/>
                </a:solidFill>
                <a:latin typeface="Plus Jakarta Sans"/>
              </a:rPr>
              <a:t>MISSION RULES • EYES ON THE 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9856" y="715267"/>
            <a:ext cx="4750593" cy="217140"/>
          </a:xfrm>
          <a:prstGeom prst="rect">
            <a:avLst/>
          </a:prstGeom>
          <a:noFill/>
        </p:spPr>
        <p:txBody>
          <a:bodyPr wrap="none" lIns="276225" rIns="0" tIns="0" bIns="0" anchor="t">
            <a:spAutoFit/>
          </a:bodyPr>
          <a:lstStyle/>
          <a:p>
            <a:pPr algn="r">
              <a:lnSpc>
                <a:spcPts val="1710"/>
              </a:lnSpc>
            </a:pPr>
            <a:r>
              <a:rPr b="1" sz="1425" i="0" u="none">
                <a:solidFill>
                  <a:srgbClr val="FFE4E6"/>
                </a:solidFill>
                <a:latin typeface="Plus Jakarta Sans"/>
              </a:rPr>
              <a:t>Keep your paper slip hidden at all times!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6375" y="723900"/>
            <a:ext cx="4256782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b="1" sz="3000" i="0" u="none">
                <a:solidFill>
                  <a:srgbClr val="FFFFFF"/>
                </a:solidFill>
                <a:latin typeface="Outfit"/>
              </a:rPr>
              <a:t>THE IMPOSTER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24111" y="2310854"/>
            <a:ext cx="2720027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Outfit"/>
              </a:rPr>
              <a:t>1. WHAT'S YOUR ROLE?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57613" y="2340768"/>
            <a:ext cx="25503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Outfit"/>
              </a:rPr>
              <a:t>2. ON YOUR 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5663" y="2969418"/>
            <a:ext cx="3246239" cy="9126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9D5FF"/>
                </a:solidFill>
                <a:latin typeface="Plus Jakarta Sans"/>
              </a:rPr>
              <a:t> Ask One Classmate A Question: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5663" y="4263032"/>
            <a:ext cx="3246239" cy="1349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9D5FF"/>
                </a:solidFill>
                <a:latin typeface="Plus Jakarta Sans"/>
              </a:rPr>
              <a:t> Answer Smartly: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7302" y="2571898"/>
            <a:ext cx="22002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Outfit"/>
              </a:rPr>
              <a:t>3. HOW TO WIN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463379"/>
            <a:ext cx="2747813" cy="6942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b="1" sz="1350" i="0" u="none">
                <a:solidFill>
                  <a:srgbClr val="F1F5F9"/>
                </a:solidFill>
                <a:latin typeface="Plus Jakarta Sans"/>
              </a:rPr>
              <a:t>You know the secret place (e.g., </a:t>
            </a:r>
            <a:r>
              <a:rPr b="1" sz="1350" i="1" u="none">
                <a:solidFill>
                  <a:srgbClr val="F1F5F9"/>
                </a:solidFill>
                <a:latin typeface="Plus Jakarta Sans"/>
              </a:rPr>
              <a:t>Space Station</a:t>
            </a:r>
            <a:r>
              <a:rPr b="1" sz="1350" i="0" u="none">
                <a:solidFill>
                  <a:srgbClr val="F1F5F9"/>
                </a:solidFill>
                <a:latin typeface="Plus Jakarta Sans"/>
              </a:rPr>
              <a:t>). Find out who doesn't know it!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72037"/>
            <a:ext cx="2747813" cy="6942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b="1" sz="1350" i="0" u="none">
                <a:solidFill>
                  <a:srgbClr val="F1F5F9"/>
                </a:solidFill>
                <a:latin typeface="Plus Jakarta Sans"/>
              </a:rPr>
              <a:t>You DON'T know the location! Blend in, listen carefully, and pretend you belong!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5663" y="3226593"/>
            <a:ext cx="3246239" cy="655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b="0" sz="1275" i="0" u="none">
                <a:solidFill>
                  <a:srgbClr val="CBD5E1"/>
                </a:solidFill>
                <a:latin typeface="Plus Jakarta Sans"/>
              </a:rPr>
              <a:t>Ask about the place without naming it!</a:t>
            </a:r>
            <a:r>
              <a:t>
</a:t>
            </a:r>
            <a:r>
              <a:rPr b="1" sz="1275" i="0" u="none">
                <a:solidFill>
                  <a:srgbClr val="A855F7"/>
                </a:solidFill>
                <a:latin typeface="Plus Jakarta Sans"/>
              </a:rPr>
              <a:t>Examples: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</a:t>
            </a:r>
            <a:r>
              <a:rPr b="0" sz="1275" i="1" u="none">
                <a:solidFill>
                  <a:srgbClr val="CBD5E1"/>
                </a:solidFill>
                <a:latin typeface="Plus Jakarta Sans"/>
              </a:rPr>
              <a:t>"Is it cold here?"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or </a:t>
            </a:r>
            <a:r>
              <a:rPr b="0" sz="1275" i="1" u="none">
                <a:solidFill>
                  <a:srgbClr val="CBD5E1"/>
                </a:solidFill>
                <a:latin typeface="Plus Jakarta Sans"/>
              </a:rPr>
              <a:t>"Do people wear special uniforms here?"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5663" y="4520207"/>
            <a:ext cx="3246239" cy="10923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21"/>
              </a:lnSpc>
            </a:pPr>
            <a:r>
              <a:rPr b="1" sz="1275" i="0" u="none">
                <a:solidFill>
                  <a:srgbClr val="CBD5E1"/>
                </a:solidFill>
                <a:latin typeface="Plus Jakarta Sans"/>
              </a:rPr>
              <a:t>Detectives: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Be clear enough to prove you know it, but vague so the Imposter can't guess.</a:t>
            </a:r>
            <a:r>
              <a:t>
</a:t>
            </a:r>
            <a:r>
              <a:rPr b="1" sz="1275" i="0" u="none">
                <a:solidFill>
                  <a:srgbClr val="CBD5E1"/>
                </a:solidFill>
                <a:latin typeface="Plus Jakarta Sans"/>
              </a:rPr>
              <a:t>Imposter:</a:t>
            </a:r>
            <a:r>
              <a:rPr b="0" sz="1275" i="0" u="none">
                <a:solidFill>
                  <a:srgbClr val="CBD5E1"/>
                </a:solidFill>
                <a:latin typeface="Plus Jakarta Sans"/>
              </a:rPr>
              <a:t> Copy previous answers and fake it!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84877" y="3505348"/>
            <a:ext cx="2626072" cy="445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1" sz="1350" i="0" u="none">
                <a:solidFill>
                  <a:srgbClr val="F0FDF4"/>
                </a:solidFill>
                <a:latin typeface="Plus Jakarta Sans"/>
              </a:rPr>
              <a:t>Vote together and catch the real Imposter after 5 minutes!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4877" y="4684365"/>
            <a:ext cx="2626072" cy="6683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b="1" sz="1350" i="0" u="none">
                <a:solidFill>
                  <a:srgbClr val="FFF1F2"/>
                </a:solidFill>
                <a:latin typeface="Plus Jakarta Sans"/>
              </a:rPr>
              <a:t>Avoid getting voted out </a:t>
            </a:r>
            <a:r>
              <a:t>
</a:t>
            </a:r>
            <a:r>
              <a:rPr b="1" sz="1350" i="0" u="none">
                <a:solidFill>
                  <a:srgbClr val="FB7185"/>
                </a:solidFill>
                <a:latin typeface="Plus Jakarta Sans"/>
              </a:rPr>
              <a:t>OR</a:t>
            </a:r>
            <a:r>
              <a:rPr b="1" sz="1350" i="0" u="none">
                <a:solidFill>
                  <a:srgbClr val="FFF1F2"/>
                </a:solidFill>
                <a:latin typeface="Plus Jakarta Sans"/>
              </a:rPr>
              <a:t> guess the secret location out loud at any time!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2050" y="3187154"/>
            <a:ext cx="2309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7DD3FC"/>
                </a:solidFill>
                <a:latin typeface="Plus Jakarta Sans"/>
              </a:rPr>
              <a:t>YOU GET A LOCATION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4595812"/>
            <a:ext cx="230981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B7185"/>
                </a:solidFill>
                <a:latin typeface="Plus Jakarta Sans"/>
              </a:rPr>
              <a:t>YOU GET "IMPOSTER"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80152" y="3229123"/>
            <a:ext cx="2333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EE7B7"/>
                </a:solidFill>
                <a:latin typeface="Outfit"/>
              </a:rPr>
              <a:t>CLASSROOM VICTORY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3477" y="4408140"/>
            <a:ext cx="20716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CA5A5"/>
                </a:solidFill>
                <a:latin typeface="Outfit"/>
              </a:rPr>
              <a:t>IMPOSTER VICTORY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