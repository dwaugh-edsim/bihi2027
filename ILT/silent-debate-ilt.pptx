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60-minute run sheet — 8 min setup (slides 1-5) · 21 min rotation (7 stations x 3 min) · 20 min verdict + 60-second presentations · 10 min reflection.</a:t>
            </a:r>
          </a:p>
          <a:p>
            <a:r>
              <a:t>MATERIALS: 7 sheets of chart paper taped around the room at eye height, one pencil colour per student, a bell/timer.</a:t>
            </a:r>
          </a:p>
          <a:p>
            <a:r>
              <a:t>BEFORE CLASS: decide your 7 home stations and which group of 4 starts at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— read it, pause, then move straight to the rules. Total silence starts when the first group reaches a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rules fast (90 seconds). Hand out pencil colours as you go. Model one example on the board: ‘Grades should be abolished BECAUSE …’ so they hear the shape of a claim + because.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Assign home stations BEFORE showing this. Rotation: bell every 3 minutes, groups move clockwise (1→2→…→7→1). 7 stops x 3 min = 21 minutes. Keep the timer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 max. Read the chain aloud with one worked example: CLAIM ‘Homework should be banned’ → REASON ‘because it eats the hours where teenagers actually recover’ → EVIDENCE → EXAMPLE. The rebuttal formula is the slide to leave on screen during rotation.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1 — tape it to chart paper at Station 1.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2 — tape it to chart paper at Station 2.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3 — tape it to chart paper at Station 3.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4 — tape it to chart paper at Station 4.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5 — tape it to chart paper at Station 5.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6 — tape it to chart paper at Station 6.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PRINT PAGE 7 — tape it to chart paper at Station 7. Students open the debate here, then rebut in other colours as sheets rotate.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Hidden slide. Unhide and print if you want to swap out any of the 7 station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Hidden slide. Unhide and print if you want to swap out any of the 7 station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Hidden slide. Unhide and print if you want to swap out any of the 7 station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 silent reading + 2 min picking/prepping. Then 7 speakers x 60 seconds ≈ 8 min, with quick challenges between. Keep your own tally — it feeds the exit reflection.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 on scrap paper — 2 minutes. Skim them tonight: the near-persuaded answers tell you which ILT project hooks the class (forensics, AI, sport analytics all appear in the ILT repository).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8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0" y="-685800"/>
            <a:ext cx="393192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0" b="1" i="0">
                <a:solidFill>
                  <a:srgbClr val="3A4552"/>
                </a:solidFill>
                <a:latin typeface="Arial"/>
              </a:rPr>
              <a:t>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AEB6BD"/>
                </a:solidFill>
                <a:latin typeface="Arial"/>
              </a:rPr>
              <a:t>INTEGRATED LEARNING TIME  ·  GRADE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874519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Arial"/>
              </a:rPr>
              <a:t>SILENT DEBATE</a:t>
            </a:r>
            <a:r>
              <a:rPr sz="7200" b="1" i="0">
                <a:solidFill>
                  <a:srgbClr val="F56A6A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One hour. 28 people. Zero talking.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AEB6BD"/>
                </a:solidFill>
                <a:latin typeface="Arial"/>
              </a:rPr>
              <a:t>Seven statements around the room. Groups of four. Your pencil is your voice.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"/>
            <a:ext cx="384048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0" b="1" i="0">
                <a:solidFill>
                  <a:srgbClr val="FAD8D8"/>
                </a:solidFill>
                <a:latin typeface="Arial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286000"/>
            <a:ext cx="926287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3D4449"/>
                </a:solidFill>
                <a:latin typeface="Arial"/>
              </a:rPr>
              <a:t>The loudest argument you’ll ever have —</a:t>
            </a:r>
          </a:p>
          <a:p>
            <a:pPr algn="ctr"/>
            <a:r>
              <a:rPr sz="4000" b="1" i="1">
                <a:solidFill>
                  <a:srgbClr val="F56A6A"/>
                </a:solidFill>
                <a:latin typeface="Arial"/>
              </a:rPr>
              <a:t>without saying a word.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4800600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0">
                <a:solidFill>
                  <a:srgbClr val="7F888F"/>
                </a:solidFill>
                <a:latin typeface="Arial"/>
              </a:rPr>
              <a:t>No voices. No hands. One sheet of paper per statement — and your best reasons.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3D4449"/>
                </a:solidFill>
                <a:latin typeface="Arial"/>
              </a:rPr>
              <a:t>The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44168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371600"/>
            <a:ext cx="786384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Silence is absolute.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From the first bell to the last — no whispering, no mouthing, no gestures.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221992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6856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304288"/>
            <a:ext cx="786384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Argue with ideas, not people.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Attack the argument on the sheet — never the student who wrote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154680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209544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36976"/>
            <a:ext cx="786384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Every claim needs a because.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An opinion without a reason is just noise. Write the because.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087368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142232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169664"/>
            <a:ext cx="786384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Disagree on purpose.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Rebuttals are the point: “They say … , but … , because … 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20056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07492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102352"/>
            <a:ext cx="7863840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Your colour is your voice.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Pick one pencil colour and keep it all hour — it shows who’s winning.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1371600"/>
            <a:ext cx="2176272" cy="44805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691640"/>
            <a:ext cx="1691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6A6A"/>
                </a:solidFill>
                <a:latin typeface="Arial"/>
              </a:rPr>
              <a:t>WHY SILENCE?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3D4449"/>
                </a:solidFill>
                <a:latin typeface="Arial"/>
              </a:rPr>
              <a:t>Silence stops the loudest voice from winning — and pushes quiet students’ ideas onto the page.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3D4449"/>
                </a:solidFill>
                <a:latin typeface="Arial"/>
              </a:rPr>
              <a:t>Every colour on a sheet is a different student. At the end, you’ll see exactly who persuaded whom.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3D4449"/>
                </a:solidFill>
                <a:latin typeface="Arial"/>
              </a:rPr>
              <a:t>How the room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7F888F"/>
                </a:solidFill>
                <a:latin typeface="Arial"/>
              </a:rPr>
              <a:t>Groups of four. Each group claims one home sheet, then rotates on the bell until every sheet is visited.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2971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70251" y="2354580"/>
            <a:ext cx="25603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72003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69283" y="2354580"/>
            <a:ext cx="25603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71035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268315" y="2354580"/>
            <a:ext cx="25603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70067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67347" y="2354580"/>
            <a:ext cx="25603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969099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66379" y="2354580"/>
            <a:ext cx="25603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368131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465411" y="2354580"/>
            <a:ext cx="25603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767163" y="1828800"/>
            <a:ext cx="1051560" cy="1051560"/>
          </a:xfrm>
          <a:prstGeom prst="roundRect">
            <a:avLst>
              <a:gd name="adj" fmla="val 18000"/>
            </a:avLst>
          </a:prstGeom>
          <a:solidFill>
            <a:srgbClr val="F5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92943" y="3451859"/>
            <a:ext cx="0" cy="68581"/>
          </a:xfrm>
          <a:prstGeom prst="line">
            <a:avLst/>
          </a:prstGeom>
          <a:ln w="19050">
            <a:solidFill>
              <a:srgbClr val="7F888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1898751" y="3520440"/>
            <a:ext cx="8394192" cy="0"/>
          </a:xfrm>
          <a:prstGeom prst="line">
            <a:avLst/>
          </a:prstGeom>
          <a:ln w="19050">
            <a:solidFill>
              <a:srgbClr val="7F888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898751" y="3479291"/>
            <a:ext cx="0" cy="41149"/>
          </a:xfrm>
          <a:prstGeom prst="line">
            <a:avLst/>
          </a:prstGeom>
          <a:ln w="19050">
            <a:solidFill>
              <a:srgbClr val="7F888F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54880" y="36118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7F888F"/>
                </a:solidFill>
                <a:latin typeface="Arial"/>
              </a:rPr>
              <a:t>after station 7 → station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4251960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F56A6A"/>
                </a:solidFill>
                <a:latin typeface="Arial"/>
              </a:rPr>
              <a:t>7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3D4449"/>
                </a:solidFill>
                <a:latin typeface="Arial"/>
              </a:rPr>
              <a:t>statements around the room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4251960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F56A6A"/>
                </a:solidFill>
                <a:latin typeface="Arial"/>
              </a:rPr>
              <a:t>3 min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3D4449"/>
                </a:solidFill>
                <a:latin typeface="Arial"/>
              </a:rPr>
              <a:t>on each sheet — move when the bell rings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4251960"/>
            <a:ext cx="2743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F56A6A"/>
                </a:solidFill>
                <a:latin typeface="Arial"/>
              </a:rPr>
              <a:t>21 min</a:t>
            </a:r>
          </a:p>
          <a:p>
            <a:pPr algn="ctr">
              <a:spcBef>
                <a:spcPts val="400"/>
              </a:spcBef>
            </a:pPr>
            <a:r>
              <a:rPr sz="1400" b="0" i="0">
                <a:solidFill>
                  <a:srgbClr val="3D4449"/>
                </a:solidFill>
                <a:latin typeface="Arial"/>
              </a:rPr>
              <a:t>of rotation — every group visits every sheet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6035040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0">
                <a:solidFill>
                  <a:srgbClr val="7F888F"/>
                </a:solidFill>
                <a:latin typeface="Arial"/>
              </a:rPr>
              <a:t>Home sheets get one last visit at the end — that’s where the verdict happens.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3D4449"/>
                </a:solidFill>
                <a:latin typeface="Arial"/>
              </a:rPr>
              <a:t>Your argument toolkit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15187" y="15087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2000" b="1">
                <a:solidFill>
                  <a:srgbClr val="F56A6A"/>
                </a:solidFill>
                <a:latin typeface="Arial"/>
              </a:rPr>
              <a:t>CLAIM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D4449"/>
                </a:solidFill>
                <a:latin typeface="Arial"/>
              </a:rPr>
              <a:t>State it like it’s already true. Short, certain, one sentence.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1771" y="2423160"/>
            <a:ext cx="30175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558387" y="15087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2000" b="1">
                <a:solidFill>
                  <a:srgbClr val="F56A6A"/>
                </a:solidFill>
                <a:latin typeface="Arial"/>
              </a:rPr>
              <a:t>REASON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D4449"/>
                </a:solidFill>
                <a:latin typeface="Arial"/>
              </a:rPr>
              <a:t>Follow it with because. The reason is the argument.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4971" y="2423160"/>
            <a:ext cx="30175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301587" y="15087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2000" b="1">
                <a:solidFill>
                  <a:srgbClr val="F56A6A"/>
                </a:solidFill>
                <a:latin typeface="Arial"/>
              </a:rPr>
              <a:t>EVIDENCE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D4449"/>
                </a:solidFill>
                <a:latin typeface="Arial"/>
              </a:rPr>
              <a:t>A fact, a number, something checkable — not just feelings.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8171" y="2423160"/>
            <a:ext cx="301752" cy="0"/>
          </a:xfrm>
          <a:prstGeom prst="line">
            <a:avLst/>
          </a:prstGeom>
          <a:ln w="25400">
            <a:solidFill>
              <a:srgbClr val="F56A6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9044787" y="1508760"/>
            <a:ext cx="2331720" cy="1828800"/>
          </a:xfrm>
          <a:prstGeom prst="roundRect">
            <a:avLst>
              <a:gd name="adj" fmla="val 8000"/>
            </a:avLst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2000" b="1">
                <a:solidFill>
                  <a:srgbClr val="F56A6A"/>
                </a:solidFill>
                <a:latin typeface="Arial"/>
              </a:rPr>
              <a:t>EXAMPLE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3D4449"/>
                </a:solidFill>
                <a:latin typeface="Arial"/>
              </a:rPr>
              <a:t>Make it concrete: this school, this week, your own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3886200"/>
            <a:ext cx="12191695" cy="1371600"/>
          </a:xfrm>
          <a:prstGeom prst="rect">
            <a:avLst/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6A6A"/>
                </a:solidFill>
                <a:latin typeface="Arial"/>
              </a:rPr>
              <a:t>THE STRONGEST MOVE</a:t>
            </a:r>
          </a:p>
          <a:p>
            <a:pPr algn="l">
              <a:spcBef>
                <a:spcPts val="600"/>
              </a:spcBef>
            </a:pPr>
            <a:r>
              <a:rPr sz="2200" b="1" i="1">
                <a:solidFill>
                  <a:srgbClr val="3D4449"/>
                </a:solidFill>
                <a:latin typeface="Arial"/>
              </a:rPr>
              <a:t>“They say … , </a:t>
            </a:r>
            <a:r>
              <a:rPr sz="2200" b="1" i="1">
                <a:solidFill>
                  <a:srgbClr val="F56A6A"/>
                </a:solidFill>
                <a:latin typeface="Arial"/>
              </a:rPr>
              <a:t>but</a:t>
            </a:r>
            <a:r>
              <a:rPr sz="2200" b="1" i="1">
                <a:solidFill>
                  <a:srgbClr val="3D4449"/>
                </a:solidFill>
                <a:latin typeface="Arial"/>
              </a:rPr>
              <a:t> … , </a:t>
            </a:r>
            <a:r>
              <a:rPr sz="2200" b="1" i="1">
                <a:solidFill>
                  <a:srgbClr val="F56A6A"/>
                </a:solidFill>
                <a:latin typeface="Arial"/>
              </a:rPr>
              <a:t>because</a:t>
            </a:r>
            <a:r>
              <a:rPr sz="2200" b="1" i="1">
                <a:solidFill>
                  <a:srgbClr val="3D4449"/>
                </a:solidFill>
                <a:latin typeface="Arial"/>
              </a:rPr>
              <a:t> … 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7F888F"/>
                </a:solidFill>
                <a:latin typeface="Arial"/>
              </a:rPr>
              <a:t>Concede before you counter — “you’re right that … , but …” lands harder than plain disagreement.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Grades should be abolished.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If nobody got marks, who would still learn?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School should start at 10 a.m.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Teenage brains run on a different clock — so what are the bells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AI tools should be allowed on every assignment.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If the answer is findable, what is the assignment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Video games should be an official school sport.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Strategy, teamwork, reflexes — what’s missing before it counts?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Sixteen-year-olds should be able to vote.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You can work and pay tax at sixteen — why not hold a ballot?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Social media does more harm than good.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The most documented generation in history — better, or worse?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STATION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Homework should be banned.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Six hours of school a day — is it enough time to learn?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SPARE — SWAP FOR ANY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Exams should be open-internet.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You’ll always have Google in real life — why not in the exam room?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SPARE — SWAP FOR ANY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Professional athletes are paid too much.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Should a salary reflect skill, risk, or what people will pay to watch?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48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6A6A"/>
                </a:solidFill>
                <a:latin typeface="Arial"/>
              </a:rPr>
              <a:t>SPARE — SWAP FOR ANY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40080"/>
            <a:ext cx="2834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0" b="1" i="0">
                <a:solidFill>
                  <a:srgbClr val="F56A6A"/>
                </a:solidFill>
                <a:latin typeface="Arial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1417320"/>
            <a:ext cx="8229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3D4449"/>
                </a:solidFill>
                <a:latin typeface="Arial"/>
              </a:rPr>
              <a:t>Every student must play on a school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6432" y="4160520"/>
            <a:ext cx="8138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7F888F"/>
                </a:solidFill>
                <a:latin typeface="Arial"/>
              </a:rPr>
              <a:t>—  Is fitness a subject to teach, or a choice to protect?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59893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7F888F"/>
                </a:solidFill>
                <a:latin typeface="Arial"/>
              </a:rPr>
              <a:t>Opening arguments, rebuttals and replies all live on this 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3D4449"/>
                </a:solidFill>
                <a:latin typeface="Arial"/>
              </a:rPr>
              <a:t>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7F888F"/>
                </a:solidFill>
                <a:latin typeface="Arial"/>
              </a:rPr>
              <a:t>Twenty minutes left. Back to your home sheet.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01368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828800"/>
            <a:ext cx="1033272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Read everything on your sheet.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Every colour, every rebuttal — especially the ones that trashed your opening argument.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15184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670048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697480"/>
            <a:ext cx="1033272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Crown one winning argument.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It can’t be your own. Judge the writing, never the writer.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483864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538728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566160"/>
            <a:ext cx="1033272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Name why it won.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Logic, evidence, or a killer example — identify the move that beat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352544"/>
            <a:ext cx="9509760" cy="10972"/>
          </a:xfrm>
          <a:prstGeom prst="rect">
            <a:avLst/>
          </a:prstGeom>
          <a:solidFill>
            <a:srgbClr val="E5E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407407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56A6A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434840"/>
            <a:ext cx="1033272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3D4449"/>
                </a:solidFill>
                <a:latin typeface="Arial"/>
              </a:rPr>
              <a:t>Nominate a speaker.</a:t>
            </a:r>
          </a:p>
          <a:p>
            <a:pPr algn="l">
              <a:spcBef>
                <a:spcPts val="300"/>
              </a:spcBef>
            </a:pPr>
            <a:r>
              <a:rPr sz="1350" b="0" i="0">
                <a:solidFill>
                  <a:srgbClr val="7F888F"/>
                </a:solidFill>
                <a:latin typeface="Arial"/>
              </a:rPr>
              <a:t>Sixty seconds to present your winner. Everyone else: be ready to challenge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532120"/>
            <a:ext cx="12191695" cy="914400"/>
          </a:xfrm>
          <a:prstGeom prst="rect">
            <a:avLst/>
          </a:prstGeom>
          <a:solidFill>
            <a:srgbClr val="FD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3212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1">
                <a:solidFill>
                  <a:srgbClr val="3D4449"/>
                </a:solidFill>
                <a:latin typeface="Arial"/>
              </a:rPr>
              <a:t>The judging test: would this argument still stand if it were read aloud to someone who wasn’t in the room?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8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6A6A"/>
                </a:solidFill>
                <a:latin typeface="Arial"/>
              </a:rPr>
              <a:t>BEFORE YOU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6A6A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1874519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Which argument almost changed your mind — and what stopped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6A6A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3474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What actually won today: logic, evidence, or an example?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394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AEB6BD"/>
                </a:solidFill>
                <a:latin typeface="Arial"/>
              </a:rPr>
              <a:t>Scrap paper. Two minutes. Hand it in on the way 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