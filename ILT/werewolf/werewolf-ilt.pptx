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here. Say: 'We're playing Werewolf today — also called Mafia. It's a game of secrets and arguments. Some of you will be given a secret role. Nobody knows who is who — except the wolves. I run the game; I am NOT a player.'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60 seconds of storytelling. Drama sells the game: lower your voice on 'every night, the wolves take a victim.'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spectator rule early — it defuses 'I'm out, this is boring.' Eliminated players stay in the room, watch everything, and get their questions answered at the final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run the 4-wolf variant with a strong group: swap one villager card for the spare wolf card — 4 wolves, 22 villagers.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only the NIGHT and DAY lines aloud if revealing roles this way. Say to wolves privately via card text: 'You win by surviving votes.'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Practise the silent signal BEFORE the first night: thumbs up = wolf, thumbs down = innocent. Keep your hand low, near your chest, so a peeking neighbour can't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doctor protects the wolves' target, announce at dawn: 'The wolves attacked last night — but the doctor was there. Nobody died.' That moment always gets a big reaction; milk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villagers: having no power isn't boring — the villagers hold the only real weapon in the game, the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game on one slide. Come back to it between rounds if anyone looks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Script: 'Night falls. Everyone close your eyes — heads down on the desk. NO PEEKING.' Then the wake order: wolves, detective, doctor. Use the exact lines on your pocket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visible timer. When it hits zero, say: 'Time. Hands on heads — vote.' A hard cap keeps the pace and forces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Anonymous slips beat hands-up voting for shy classes. Have a box or mug ready, plus printed ballot slips (in your print pack).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lecture this slide — flash it for 30 seconds. Half the fun is kids discovering these strategies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rule 2 with weight — this is the rule that keeps the game safe. 'It's a game about lying TO EACH OTHER in character; the moment it's about a real person, it stops.'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3 questions if time is short. This debrief is your ILT evidence: evidence-based reasoning, persuasion, and group dynamics — students name it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Deal role cards face down BEFORE this slide. Then: 'Village — you are 28 strong. Wolves — I know who you are. Nobody else does. Close your eyes...'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hidden — it will not show during the slideshow. Print the facilitator guide (DOCX) for the full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144" y="877824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12144" y="1463040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55144" y="731520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73990" y="1243584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04913" y="80467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0" y="153619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54683" y="731520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37298" y="1024128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68221" y="153619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84606" y="2121408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40683" y="2414015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221" y="1755648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1836" y="1901952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77375" y="2048255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19913" y="80467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0" y="1097280"/>
            <a:ext cx="2377440" cy="2377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43923" y="716889"/>
            <a:ext cx="2377440" cy="2377440"/>
          </a:xfrm>
          <a:prstGeom prst="ellipse">
            <a:avLst/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874519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INTEGRATED LEARNING TIME  ·  CLASS 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2148840"/>
            <a:ext cx="8686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2EFE6"/>
                </a:solidFill>
                <a:latin typeface="Arial Black"/>
              </a:rPr>
              <a:t>WERE</a:t>
            </a:r>
            <a:r>
              <a:rPr sz="8800" b="1" i="0">
                <a:solidFill>
                  <a:srgbClr val="F2C14E"/>
                </a:solidFill>
                <a:latin typeface="Arial Black"/>
              </a:rPr>
              <a:t>WOLF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AA6BF"/>
                </a:solidFill>
                <a:latin typeface="Arial"/>
              </a:rPr>
              <a:t>A social deduction game of secrets, suspicion, and smart voting.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983480"/>
            <a:ext cx="658368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EFE6"/>
                </a:solidFill>
                <a:latin typeface="Arial"/>
              </a:rPr>
              <a:t>28 players</a:t>
            </a:r>
            <a:r>
              <a:rPr sz="1500" b="0" i="0">
                <a:solidFill>
                  <a:srgbClr val="9AA6BF"/>
                </a:solidFill>
                <a:latin typeface="Arial"/>
              </a:rPr>
              <a:t>   ·   </a:t>
            </a:r>
            <a:r>
              <a:rPr sz="1500" b="1" i="0">
                <a:solidFill>
                  <a:srgbClr val="F2EFE6"/>
                </a:solidFill>
                <a:latin typeface="Arial"/>
              </a:rPr>
              <a:t>1 moderator</a:t>
            </a:r>
            <a:r>
              <a:rPr sz="1500" b="0" i="0">
                <a:solidFill>
                  <a:srgbClr val="9AA6BF"/>
                </a:solidFill>
                <a:latin typeface="Arial"/>
              </a:rPr>
              <a:t>   ·   </a:t>
            </a:r>
            <a:r>
              <a:rPr sz="1500" b="1" i="0">
                <a:solidFill>
                  <a:srgbClr val="F2EFE6"/>
                </a:solidFill>
                <a:latin typeface="Arial"/>
              </a:rPr>
              <a:t>2 hidden teams</a:t>
            </a:r>
            <a:r>
              <a:rPr sz="1500" b="0" i="0">
                <a:solidFill>
                  <a:srgbClr val="9AA6BF"/>
                </a:solidFill>
                <a:latin typeface="Arial"/>
              </a:rPr>
              <a:t>   ·   </a:t>
            </a:r>
            <a:r>
              <a:rPr sz="1500" b="1" i="0">
                <a:solidFill>
                  <a:srgbClr val="F2EFE6"/>
                </a:solidFill>
                <a:latin typeface="Arial"/>
              </a:rPr>
              <a:t>45–60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THE SET-UP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Wolves are hiding in the village.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852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0" i="0">
                <a:solidFill>
                  <a:srgbClr val="F2EFE6"/>
                </a:solidFill>
                <a:latin typeface="Arial"/>
              </a:rPr>
              <a:t>Everyone in this room is a villager. But three of you are secretly werewolves — and only they know who their pack is.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0" i="0">
                <a:solidFill>
                  <a:srgbClr val="F2EFE6"/>
                </a:solidFill>
                <a:latin typeface="Arial"/>
              </a:rPr>
              <a:t>Every night, the wolves silently choose one victim. Every day, the village wakes, discovers the loss — and has five minutes to work out who is lying.</a:t>
            </a:r>
          </a:p>
          <a:p>
            <a:pPr algn="l">
              <a:lnSpc>
                <a:spcPct val="125000"/>
              </a:lnSpc>
            </a:pPr>
            <a:r>
              <a:rPr sz="1700" b="0" i="1">
                <a:solidFill>
                  <a:srgbClr val="9AA6BF"/>
                </a:solidFill>
                <a:latin typeface="Arial"/>
              </a:rPr>
              <a:t>The village argues. Accuses. Votes. And the wolves vote right along with everyone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822960"/>
            <a:ext cx="4663440" cy="521208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0" y="1280160"/>
            <a:ext cx="1371600" cy="137160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27889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C14E"/>
                </a:solidFill>
                <a:latin typeface="Arial Black"/>
              </a:rPr>
              <a:t>NIGHT — the wolves hunt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127248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AA6BF"/>
                </a:solidFill>
                <a:latin typeface="Arial"/>
              </a:rPr>
              <a:t>Eyes closed. Silence. Victims fall.</a:t>
            </a:r>
          </a:p>
        </p:txBody>
      </p:sp>
      <p:sp>
        <p:nvSpPr>
          <p:cNvPr id="9" name="Down Arrow 8"/>
          <p:cNvSpPr/>
          <p:nvPr/>
        </p:nvSpPr>
        <p:spPr>
          <a:xfrm>
            <a:off x="9098280" y="3703320"/>
            <a:ext cx="365760" cy="457200"/>
          </a:xfrm>
          <a:prstGeom prst="downArrow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32520" y="4251960"/>
            <a:ext cx="1097280" cy="109728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54406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EFE6"/>
                </a:solidFill>
                <a:latin typeface="Arial Black"/>
              </a:rPr>
              <a:t>DAY — the village votes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TWO TEAMS · TWO WAYS TO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How you 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005840" y="2302459"/>
            <a:ext cx="822960" cy="395020"/>
          </a:xfrm>
          <a:prstGeom prst="triangl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1054" y="2681020"/>
            <a:ext cx="592531" cy="39502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3317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2C14E"/>
                </a:solidFill>
                <a:latin typeface="Arial Black"/>
              </a:rPr>
              <a:t>VILLAGE WINS</a:t>
            </a:r>
          </a:p>
          <a:p>
            <a:pPr algn="l"/>
            <a:r>
              <a:rPr sz="1500" b="0" i="0">
                <a:solidFill>
                  <a:srgbClr val="F2EFE6"/>
                </a:solidFill>
                <a:latin typeface="Arial"/>
              </a:rPr>
              <a:t>when the last wolf is voted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AA6BF"/>
                </a:solidFill>
                <a:latin typeface="Arial"/>
              </a:rPr>
              <a:t>Every single werewolf has been eliminated by day votes.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35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4868" y="2615184"/>
            <a:ext cx="466344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93992" y="2382012"/>
            <a:ext cx="164592" cy="16459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79157" y="2251710"/>
            <a:ext cx="178308" cy="17830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98614" y="2251710"/>
            <a:ext cx="178308" cy="17830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97496" y="2382012"/>
            <a:ext cx="164592" cy="16459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33172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E4572E"/>
                </a:solidFill>
                <a:latin typeface="Arial Black"/>
              </a:rPr>
              <a:t>WOLVES WIN</a:t>
            </a:r>
          </a:p>
          <a:p>
            <a:pPr algn="l"/>
            <a:r>
              <a:rPr sz="1500" b="0" i="0">
                <a:solidFill>
                  <a:srgbClr val="F2EFE6"/>
                </a:solidFill>
                <a:latin typeface="Arial"/>
              </a:rPr>
              <a:t>when wolves match the villagers.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AA6BF"/>
                </a:solidFill>
                <a:latin typeface="Arial"/>
              </a:rPr>
              <a:t>Wolves equal or outnumber the living villagers — the night feed is unstoppable.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14000"/>
            </a:avLst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5955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EFE6"/>
                </a:solidFill>
                <a:latin typeface="Arial"/>
              </a:rPr>
              <a:t>Eliminated players are not out of the fun — </a:t>
            </a:r>
            <a:r>
              <a:rPr sz="1500" b="1" i="0">
                <a:solidFill>
                  <a:srgbClr val="F2C14E"/>
                </a:solidFill>
                <a:latin typeface="Arial"/>
              </a:rPr>
              <a:t>they become silent spectators</a:t>
            </a:r>
            <a:r>
              <a:rPr sz="1500" b="0" i="0">
                <a:solidFill>
                  <a:srgbClr val="F2EFE6"/>
                </a:solidFill>
                <a:latin typeface="Arial"/>
              </a:rPr>
              <a:t> and watch every secret unfold at the reveal.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SECRET ROLES · STANDARD GAME · 28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Who's who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88336" cy="3977639"/>
          </a:xfrm>
          <a:prstGeom prst="roundRect">
            <a:avLst>
              <a:gd name="adj" fmla="val 5000"/>
            </a:avLst>
          </a:prstGeom>
          <a:solidFill>
            <a:srgbClr val="35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8546" y="2649931"/>
            <a:ext cx="528523" cy="43525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7553" y="2385669"/>
            <a:ext cx="186537" cy="186537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7408" y="2237994"/>
            <a:ext cx="202082" cy="20208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16125" y="2237994"/>
            <a:ext cx="202082" cy="20208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41524" y="2385669"/>
            <a:ext cx="186537" cy="186537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EFE6"/>
                </a:solidFill>
                <a:latin typeface="Arial Black"/>
              </a:rPr>
              <a:t>WEREWOLF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4572E"/>
                </a:solidFill>
                <a:latin typeface="Arial Black"/>
              </a:rPr>
              <a:t>×3 in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434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9AA6BF"/>
                </a:solidFill>
                <a:latin typeface="Arial"/>
              </a:rPr>
              <a:t>Wakes with the pack and picks tonight's victim.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828800"/>
            <a:ext cx="2688336" cy="3977639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5754" y="2401214"/>
            <a:ext cx="481888" cy="481888"/>
          </a:xfrm>
          <a:prstGeom prst="ellipse">
            <a:avLst/>
          </a:prstGeom>
          <a:noFill/>
          <a:ln w="59372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2700000">
            <a:off x="4824374" y="2836468"/>
            <a:ext cx="388620" cy="12435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342900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EFE6"/>
                </a:solidFill>
                <a:latin typeface="Arial Black"/>
              </a:rPr>
              <a:t>DETECTIVE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822191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C14E"/>
                </a:solidFill>
                <a:latin typeface="Arial Black"/>
              </a:rPr>
              <a:t>×1 in 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3434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9AA6BF"/>
                </a:solidFill>
                <a:latin typeface="Arial"/>
              </a:rPr>
              <a:t>Checks one player each night: wolf or innocent?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1828800"/>
            <a:ext cx="2688336" cy="3977639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1727" y="2416759"/>
            <a:ext cx="170992" cy="652881"/>
          </a:xfrm>
          <a:prstGeom prst="roundRect">
            <a:avLst>
              <a:gd name="adj" fmla="val 3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80783" y="2657703"/>
            <a:ext cx="652881" cy="170992"/>
          </a:xfrm>
          <a:prstGeom prst="roundRect">
            <a:avLst>
              <a:gd name="adj" fmla="val 3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342900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EFE6"/>
                </a:solidFill>
                <a:latin typeface="Arial Black"/>
              </a:rPr>
              <a:t>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822191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C14E"/>
                </a:solidFill>
                <a:latin typeface="Arial Black"/>
              </a:rPr>
              <a:t>×1 in 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3434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9AA6BF"/>
                </a:solidFill>
                <a:latin typeface="Arial"/>
              </a:rPr>
              <a:t>Shields one player each night from the wolves.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63" y="1828800"/>
            <a:ext cx="2688336" cy="3977639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9925811" y="2370124"/>
            <a:ext cx="777240" cy="373075"/>
          </a:xfrm>
          <a:prstGeom prst="triangl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34625" y="2727655"/>
            <a:ext cx="559612" cy="373075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342900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EFE6"/>
                </a:solidFill>
                <a:latin typeface="Arial Black"/>
              </a:rPr>
              <a:t>VILLAGER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3822191"/>
            <a:ext cx="23225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C14E"/>
                </a:solidFill>
                <a:latin typeface="Arial Black"/>
              </a:rPr>
              <a:t>×23 in 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5" y="43434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9AA6BF"/>
                </a:solidFill>
                <a:latin typeface="Arial"/>
              </a:rPr>
              <a:t>No powers. Questions, listening — and a vote.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9AA6BF"/>
                </a:solidFill>
                <a:latin typeface="Arial"/>
              </a:rPr>
              <a:t>Your role card is secret. Keep it hidden — even from your best friend. Especially from your best friend.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4572E"/>
                </a:solidFill>
                <a:latin typeface="Arial"/>
              </a:rPr>
              <a:t>YOUR SECRET ROLE  ·  3 OF 28 PLAYERS · TEAM: WOLVES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2EFE6"/>
                </a:solidFill>
                <a:latin typeface="Arial Black"/>
              </a:rPr>
              <a:t>Werewolf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E4572E"/>
                </a:solidFill>
                <a:latin typeface="Arial"/>
              </a:rPr>
              <a:t>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020824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Wake silently with the other wolves. Agree — by pointing, never speaking — on one villager to eliminate.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99815"/>
            <a:ext cx="667512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5584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E4572E"/>
                </a:solidFill>
                <a:latin typeface="Arial"/>
              </a:rPr>
              <a:t>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319272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Blend in. Accuse someone else. Lie if you must, but never get caught in a lie.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868680"/>
            <a:ext cx="4114800" cy="5166360"/>
          </a:xfrm>
          <a:prstGeom prst="roundRect">
            <a:avLst>
              <a:gd name="adj" fmla="val 6000"/>
            </a:avLst>
          </a:prstGeom>
          <a:solidFill>
            <a:srgbClr val="35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1490" y="2183587"/>
            <a:ext cx="839419" cy="69128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09913" y="1763877"/>
            <a:ext cx="296265" cy="296265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43212" y="1529334"/>
            <a:ext cx="320954" cy="32095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38233" y="1529334"/>
            <a:ext cx="320954" cy="32095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96220" y="1763877"/>
            <a:ext cx="296265" cy="296265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7033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4572E"/>
                </a:solidFill>
                <a:latin typeface="Arial"/>
              </a:rPr>
              <a:t>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041648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2EFE6"/>
                </a:solidFill>
                <a:latin typeface="Arial"/>
              </a:rPr>
              <a:t>You know your pack from night one. Protect them, deflect suspicion, and let loud villagers do your work for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YOUR SECRET ROLE  ·  1 OF 28 PLAYERS · TEAM: VILLAGE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2EFE6"/>
                </a:solidFill>
                <a:latin typeface="Arial Black"/>
              </a:rPr>
              <a:t>The Detective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F2C14E"/>
                </a:solidFill>
                <a:latin typeface="Arial"/>
              </a:rPr>
              <a:t>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020824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Wake alone. Point at any player. The moderator silently answers: thumbs up = WEREWOLF, thumbs down = innocent.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99815"/>
            <a:ext cx="667512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5584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F2C14E"/>
                </a:solidFill>
                <a:latin typeface="Arial"/>
              </a:rPr>
              <a:t>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319272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You hold real information. Guard your secret — reveal it too early and you'll be dead before dawn.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868680"/>
            <a:ext cx="4114800" cy="516636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1490" y="1788566"/>
            <a:ext cx="765352" cy="765352"/>
          </a:xfrm>
          <a:prstGeom prst="ellipse">
            <a:avLst/>
          </a:prstGeom>
          <a:noFill/>
          <a:ln w="94297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700000">
            <a:off x="9798710" y="2479852"/>
            <a:ext cx="617220" cy="197510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033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41648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2EFE6"/>
                </a:solidFill>
                <a:latin typeface="Arial"/>
              </a:rPr>
              <a:t>Collect two or three certain answers before you stake your reputation on one. A detective who dies is a village without a 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YOUR SECRET ROLE  ·  1 OF 28 PLAYERS · TEAM: VILLAGE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2EFE6"/>
                </a:solidFill>
                <a:latin typeface="Arial Black"/>
              </a:rPr>
              <a:t>The Doctor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F2C14E"/>
                </a:solidFill>
                <a:latin typeface="Arial"/>
              </a:rPr>
              <a:t>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020824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Wake alone. Point at one player to protect. If the wolves attacked them tonight, they survive and nobody dies.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99815"/>
            <a:ext cx="667512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5584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F2C14E"/>
                </a:solidFill>
                <a:latin typeface="Arial"/>
              </a:rPr>
              <a:t>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319272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Say nothing. A doctor who brags becomes the wolves' second target — right after the detective.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868680"/>
            <a:ext cx="4114800" cy="516636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65411" y="1813255"/>
            <a:ext cx="271576" cy="1036929"/>
          </a:xfrm>
          <a:prstGeom prst="roundRect">
            <a:avLst>
              <a:gd name="adj" fmla="val 3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82735" y="2195931"/>
            <a:ext cx="1036929" cy="271576"/>
          </a:xfrm>
          <a:prstGeom prst="roundRect">
            <a:avLst>
              <a:gd name="adj" fmla="val 3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033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41648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2EFE6"/>
                </a:solidFill>
                <a:latin typeface="Arial"/>
              </a:rPr>
              <a:t>You MAY protect yourself. You may NOT guard the same person two nights running.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YOUR SECRET ROLE  ·  23 OF 28 PLAYERS · TEAM: VILLAGE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2EFE6"/>
                </a:solidFill>
                <a:latin typeface="Arial Black"/>
              </a:rPr>
              <a:t>The Villager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F2C14E"/>
                </a:solidFill>
                <a:latin typeface="Arial"/>
              </a:rPr>
              <a:t>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020824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Sleep. You have no powers — which is exactly why the village needs your clear head by 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99815"/>
            <a:ext cx="667512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5584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00">
                <a:solidFill>
                  <a:srgbClr val="F2C14E"/>
                </a:solidFill>
                <a:latin typeface="Arial"/>
              </a:rPr>
              <a:t>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319272"/>
            <a:ext cx="5349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Your weapons are questions, listening, and your vote. Track who changes their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868680"/>
            <a:ext cx="4114800" cy="516636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8983980" y="1739188"/>
            <a:ext cx="1234440" cy="592531"/>
          </a:xfrm>
          <a:prstGeom prst="triangl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56801" y="2307031"/>
            <a:ext cx="888796" cy="592531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033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41648"/>
            <a:ext cx="3429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2EFE6"/>
                </a:solidFill>
                <a:latin typeface="Arial"/>
              </a:rPr>
              <a:t>The loudest voice in the room is not automatically the wolf. Wolves are loud on purpose.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GAME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EFE6"/>
                </a:solidFill>
                <a:latin typeface="Arial Black"/>
              </a:rPr>
              <a:t>One round = one night + one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0283" y="2148840"/>
            <a:ext cx="2057400" cy="3017520"/>
          </a:xfrm>
          <a:prstGeom prst="roundRect">
            <a:avLst>
              <a:gd name="adj" fmla="val 7000"/>
            </a:avLst>
          </a:prstGeom>
          <a:solidFill>
            <a:srgbClr val="35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4875" y="233172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4875" y="2971800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E4572E"/>
                </a:solidFill>
                <a:latin typeface="Arial Black"/>
              </a:rPr>
              <a:t>NIGHT · 90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875" y="3611880"/>
            <a:ext cx="17282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F2EFE6"/>
                </a:solidFill>
                <a:latin typeface="Arial"/>
              </a:rPr>
              <a:t>Eyes closed. Wolves hunt, detective investigates, doctor protects.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5115" y="3429000"/>
            <a:ext cx="201168" cy="274320"/>
          </a:xfrm>
          <a:prstGeom prst="rightArrow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53715" y="2148840"/>
            <a:ext cx="2057400" cy="3017520"/>
          </a:xfrm>
          <a:prstGeom prst="roundRect">
            <a:avLst>
              <a:gd name="adj" fmla="val 7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18307" y="2331720"/>
            <a:ext cx="457200" cy="45720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F1726"/>
                </a:solidFill>
                <a:latin typeface="Arial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8307" y="2971800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2C14E"/>
                </a:solidFill>
                <a:latin typeface="Arial Black"/>
              </a:rPr>
              <a:t>DAWN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8307" y="3611880"/>
            <a:ext cx="17282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F2EFE6"/>
                </a:solidFill>
                <a:latin typeface="Arial"/>
              </a:rPr>
              <a:t>Moderator announces who died — or that everyone survived.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38547" y="3429000"/>
            <a:ext cx="201168" cy="274320"/>
          </a:xfrm>
          <a:prstGeom prst="rightArrow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7147" y="2148840"/>
            <a:ext cx="2057400" cy="3017520"/>
          </a:xfrm>
          <a:prstGeom prst="roundRect">
            <a:avLst>
              <a:gd name="adj" fmla="val 7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1739" y="2331720"/>
            <a:ext cx="457200" cy="45720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F1726"/>
                </a:solidFill>
                <a:latin typeface="Arial Blac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1739" y="2971800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2C14E"/>
                </a:solidFill>
                <a:latin typeface="Arial Black"/>
              </a:rPr>
              <a:t>DEBATE · 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1739" y="3611880"/>
            <a:ext cx="17282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F2EFE6"/>
                </a:solidFill>
                <a:latin typeface="Arial"/>
              </a:rPr>
              <a:t>Ask questions. Make accusations. Defend yourself.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51979" y="3429000"/>
            <a:ext cx="201168" cy="274320"/>
          </a:xfrm>
          <a:prstGeom prst="rightArrow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80579" y="2148840"/>
            <a:ext cx="2057400" cy="3017520"/>
          </a:xfrm>
          <a:prstGeom prst="roundRect">
            <a:avLst>
              <a:gd name="adj" fmla="val 7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5171" y="2331720"/>
            <a:ext cx="457200" cy="45720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F1726"/>
                </a:solidFill>
                <a:latin typeface="Arial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5171" y="2971800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2C14E"/>
                </a:solidFill>
                <a:latin typeface="Arial Black"/>
              </a:rPr>
              <a:t>THE VOTE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5171" y="3611880"/>
            <a:ext cx="17282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F2EFE6"/>
                </a:solidFill>
                <a:latin typeface="Arial"/>
              </a:rPr>
              <a:t>Anonymous ballot slip. Majority is eliminated.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65411" y="3429000"/>
            <a:ext cx="201168" cy="274320"/>
          </a:xfrm>
          <a:prstGeom prst="rightArrow">
            <a:avLst/>
          </a:prstGeom>
          <a:solidFill>
            <a:srgbClr val="9AA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4011" y="2148840"/>
            <a:ext cx="2057400" cy="3017520"/>
          </a:xfrm>
          <a:prstGeom prst="roundRect">
            <a:avLst>
              <a:gd name="adj" fmla="val 7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58603" y="2331720"/>
            <a:ext cx="457200" cy="45720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0F1726"/>
                </a:solidFill>
                <a:latin typeface="Arial Blac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8603" y="2971800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2C14E"/>
                </a:solidFill>
                <a:latin typeface="Arial Black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8603" y="3611880"/>
            <a:ext cx="172821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F2EFE6"/>
                </a:solidFill>
                <a:latin typeface="Arial"/>
              </a:rPr>
              <a:t>All wolves gone? Village wins. Wolves = villagers? Wolves win.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806043" y="5532120"/>
            <a:ext cx="10579608" cy="502920"/>
          </a:xfrm>
          <a:prstGeom prst="leftArrow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9AA6BF"/>
                </a:solidFill>
                <a:latin typeface="Arial"/>
              </a:rPr>
              <a:t>REPEAT — each round takes 8–10 minutes · play 3–5 rounds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PHASE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Night — eyes closed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93391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Heads down, eyes closed, absolute silence.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404872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The game only works if nobody peeks and nobody talks.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72384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The moderator calls each role in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83864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Wolves first, then the detective, then the doctor. Everyone else stays asleep.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51376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23944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Act by pointing — never by sound.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62856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No whispers, no giggling, no chair-creaking tells.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230368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02936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Peeking once = a warning. Twice = you sit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641848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Harsh? Yes. Fair to 27 other players? Also yes.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28800"/>
            <a:ext cx="3794760" cy="420624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79408" y="2423160"/>
            <a:ext cx="1554480" cy="155448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4662" y="2174443"/>
            <a:ext cx="1554480" cy="1554480"/>
          </a:xfrm>
          <a:prstGeom prst="ellipse">
            <a:avLst/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343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400">
                <a:solidFill>
                  <a:srgbClr val="F2C14E"/>
                </a:solidFill>
                <a:latin typeface="Arial Black"/>
              </a:rPr>
              <a:t>SILENCE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89204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1">
                <a:solidFill>
                  <a:srgbClr val="9AA6BF"/>
                </a:solidFill>
                <a:latin typeface="Arial"/>
              </a:rPr>
              <a:t>If you talk at night, you steal the game from everyone else.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PHASE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Day — the debate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93391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The moderator announces the night's victim.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40487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That player becomes a silent spectator immediately.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72384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60 seconds of silence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8386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Think. Look around. Let the shock settle before anyone speaks.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51376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23944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Open debate — five minutes, hard cap.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6285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Speak only while holding the talking object. The timer rules.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230368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02936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Every accusation needs a BECAUSE.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64184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“I suspect Sam because...” No because = no floor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81160" y="2286000"/>
            <a:ext cx="1188720" cy="118872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8480" y="283464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4049" y="3448889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29800" y="370332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15550" y="3448889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0" y="283464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15550" y="222039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29800" y="196596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44049" y="222039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97763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2EFE6"/>
                </a:solidFill>
                <a:latin typeface="Arial Black"/>
              </a:rPr>
              <a:t>5:00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6177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1">
                <a:solidFill>
                  <a:srgbClr val="9AA6BF"/>
                </a:solidFill>
                <a:latin typeface="Arial"/>
              </a:rPr>
              <a:t>Debate cap per day. The moderator's phone timer is the law.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THE DAILY VOTE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Votes are silent. And secret.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93391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659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Write one name on your ballot slip.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40487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Anyone except yourself. Fold it. Drop it in the box.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72384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The moderator counts aloud.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8386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Every vote is read out loud so the count is public.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51376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23944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Majority = eliminated. Tie = nobody dies.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6285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A tied village wakes everyone again the next night.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230368"/>
            <a:ext cx="420624" cy="420624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F1726"/>
                </a:solidFill>
                <a:latin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02936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2EFE6"/>
                </a:solidFill>
                <a:latin typeface="Arial"/>
              </a:rPr>
              <a:t>Last words, then silence.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64184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The eliminated player gets ONE sentence, then spectates quietly.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0760000">
            <a:off x="9144000" y="2148840"/>
            <a:ext cx="777240" cy="50292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540000">
            <a:off x="9646920" y="2286000"/>
            <a:ext cx="777240" cy="50292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">
            <a:off x="8869680" y="2514600"/>
            <a:ext cx="777240" cy="502920"/>
          </a:xfrm>
          <a:prstGeom prst="rect">
            <a:avLst/>
          </a:prstGeom>
          <a:solidFill>
            <a:srgbClr val="F2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41080" y="3154680"/>
            <a:ext cx="1554480" cy="1234440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3063240"/>
            <a:ext cx="457200" cy="109728"/>
          </a:xfrm>
          <a:prstGeom prst="rect">
            <a:avLst/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2C14E"/>
                </a:solidFill>
                <a:latin typeface="Arial Black"/>
              </a:rPr>
              <a:t>Anonymous = fearless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12064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1">
                <a:solidFill>
                  <a:srgbClr val="9AA6BF"/>
                </a:solidFill>
                <a:latin typeface="Arial"/>
              </a:rPr>
              <a:t>Quiet players vote as hard as loud 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LEVEL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EFE6"/>
                </a:solidFill>
                <a:latin typeface="Arial Black"/>
              </a:rPr>
              <a:t>How to actually be good at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93592" cy="4160520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100">
                <a:solidFill>
                  <a:srgbClr val="F2C14E"/>
                </a:solidFill>
                <a:latin typeface="Arial"/>
              </a:rPr>
              <a:t>IF YOU'RE A VILLAGER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59" y="2606040"/>
            <a:ext cx="3044952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834640"/>
            <a:ext cx="304495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F2C14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Ask quiet players directly — wolves love a debate where only loud people talk.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F2C14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Compare stories: who said something yesterday that doesn't match today?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F2C14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Vote with the group's evidence, not with its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828800"/>
            <a:ext cx="3593592" cy="4160520"/>
          </a:xfrm>
          <a:prstGeom prst="roundRect">
            <a:avLst>
              <a:gd name="adj" fmla="val 5000"/>
            </a:avLst>
          </a:prstGeom>
          <a:solidFill>
            <a:srgbClr val="35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10312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100">
                <a:solidFill>
                  <a:srgbClr val="E4572E"/>
                </a:solidFill>
                <a:latin typeface="Arial"/>
              </a:rPr>
              <a:t>IF YOU'RE A WOLF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1144" y="2606040"/>
            <a:ext cx="3044952" cy="12801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2834640"/>
            <a:ext cx="304495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E4572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Act like a villager: agree a little, accuse slowly, never defend your pack too hard.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E4572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Get one innocent voted out early and the village will trust your judgement.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E4572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If a packmate is doomed, join the vote against them — sacrifice keeps you alive.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828800"/>
            <a:ext cx="3593592" cy="4160520"/>
          </a:xfrm>
          <a:prstGeom prst="roundRect">
            <a:avLst>
              <a:gd name="adj" fmla="val 5000"/>
            </a:avLst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10312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100">
                <a:solidFill>
                  <a:srgbClr val="F2C14E"/>
                </a:solidFill>
                <a:latin typeface="Arial"/>
              </a:rPr>
              <a:t>IF YOU'RE SPECIAL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9328" y="2606040"/>
            <a:ext cx="3044952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834640"/>
            <a:ext cx="304495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F2C14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Detective: never reveal on day one. Survive first, inform later.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F2C14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Doctor: protect silently, predict where the wolves will strike.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F2C14E"/>
                </a:solidFill>
                <a:latin typeface="Arial"/>
              </a:rPr>
              <a:t>—  </a:t>
            </a:r>
            <a:r>
              <a:rPr sz="1450" b="0" i="0">
                <a:solidFill>
                  <a:srgbClr val="F2EFE6"/>
                </a:solidFill>
                <a:latin typeface="Arial"/>
              </a:rPr>
              <a:t>One good night of information beats three days of guessing.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FAIR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The village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01952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E5A24"/>
                </a:solidFill>
                <a:latin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0116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EFE6"/>
                </a:solidFill>
                <a:latin typeface="Arial"/>
              </a:rPr>
              <a:t>No peeking at night. 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44144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One warning, then you sit out. This protects everyone's fun.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43784"/>
            <a:ext cx="1106424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E5A24"/>
                </a:solidFill>
                <a:latin typeface="Arial Black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04495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EFE6"/>
                </a:solidFill>
                <a:latin typeface="Arial"/>
              </a:rPr>
              <a:t>Accuse the argument, not the person.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74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No real-world jabs, no gangs, no grudges from outside the game.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77056"/>
            <a:ext cx="1106424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68496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E5A24"/>
                </a:solidFill>
                <a:latin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078224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EFE6"/>
                </a:solidFill>
                <a:latin typeface="Arial"/>
              </a:rPr>
              <a:t>Losing is part of the game.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50799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A brilliant wolf win deserves applause as loud as a village win.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10328"/>
            <a:ext cx="11064240" cy="12801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01768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E5A24"/>
                </a:solidFill>
                <a:latin typeface="Arial Black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11496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EFE6"/>
                </a:solidFill>
                <a:latin typeface="Arial"/>
              </a:rPr>
              <a:t>Spectators are shadows.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54126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F"/>
                </a:solidFill>
                <a:latin typeface="Arial"/>
              </a:rPr>
              <a:t>Once you're out: watch everything, say nothing — no faces, no hints.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2C14E"/>
                </a:solidFill>
                <a:latin typeface="Arial"/>
              </a:rPr>
              <a:t>AFTER THE FINAL REVEAL · 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EFE6"/>
                </a:solidFill>
                <a:latin typeface="Arial Black"/>
              </a:rPr>
              <a:t>Talk about it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38528"/>
            <a:ext cx="402336" cy="402336"/>
          </a:xfrm>
          <a:prstGeom prst="ellipse">
            <a:avLst/>
          </a:prstGeom>
          <a:solidFill>
            <a:srgbClr val="1A2540"/>
          </a:solidFill>
          <a:ln w="1524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2C14E"/>
                </a:solidFill>
                <a:latin typeface="Arial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What actually helped you decide your vote — and what just felt like noise?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60904"/>
            <a:ext cx="402336" cy="402336"/>
          </a:xfrm>
          <a:prstGeom prst="ellipse">
            <a:avLst/>
          </a:prstGeom>
          <a:solidFill>
            <a:srgbClr val="1A2540"/>
          </a:solidFill>
          <a:ln w="1524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2C14E"/>
                </a:solidFill>
                <a:latin typeface="Arial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42616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When the loudest voice won an argument, were they right?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83280"/>
            <a:ext cx="402336" cy="402336"/>
          </a:xfrm>
          <a:prstGeom prst="ellipse">
            <a:avLst/>
          </a:prstGeom>
          <a:solidFill>
            <a:srgbClr val="1A2540"/>
          </a:solidFill>
          <a:ln w="1524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2C14E"/>
                </a:solidFill>
                <a:latin typeface="Arial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64992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Did you change your mind mid-day? What changed it?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1A2540"/>
          </a:solidFill>
          <a:ln w="1524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2C14E"/>
                </a:solidFill>
                <a:latin typeface="Arial"/>
              </a:rP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8736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Wolves: what was hardest about lying to your friends?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1A2540"/>
          </a:solidFill>
          <a:ln w="1524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2C14E"/>
                </a:solidFill>
                <a:latin typeface="Arial"/>
              </a:rPr>
              <a:t>Q5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09744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Detective: when did you sit on information, and why?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550408"/>
            <a:ext cx="402336" cy="402336"/>
          </a:xfrm>
          <a:prstGeom prst="ellipse">
            <a:avLst/>
          </a:prstGeom>
          <a:solidFill>
            <a:srgbClr val="1A2540"/>
          </a:solidFill>
          <a:ln w="1524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2C14E"/>
                </a:solidFill>
                <a:latin typeface="Arial"/>
              </a:rPr>
              <a:t>Q6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F2EFE6"/>
                </a:solidFill>
                <a:latin typeface="Arial"/>
              </a:rPr>
              <a:t>What should the village do differently in the next game?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6355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AA6BF"/>
                </a:solidFill>
                <a:latin typeface="Arial"/>
              </a:rPr>
              <a:t>You're practising evidence, source-checking and group psychology — that's the learning, disguised as fun.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9AA6B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144" y="877824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12144" y="1463040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55144" y="731520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73990" y="1243584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04913" y="80467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0" y="153619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54683" y="731520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37298" y="1024128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68221" y="153619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84606" y="2121408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40683" y="2414015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221" y="1755648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1836" y="1901952"/>
            <a:ext cx="50292" cy="50292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77375" y="2048255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619913" y="804672"/>
            <a:ext cx="32004" cy="32004"/>
          </a:xfrm>
          <a:prstGeom prst="ellipse">
            <a:avLst/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47488" y="1691640"/>
            <a:ext cx="2103120" cy="210312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36361" y="1355140"/>
            <a:ext cx="2103120" cy="2103120"/>
          </a:xfrm>
          <a:prstGeom prst="ellipse">
            <a:avLst/>
          </a:prstGeom>
          <a:solidFill>
            <a:srgbClr val="0F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2EFE6"/>
                </a:solidFill>
                <a:latin typeface="Arial Black"/>
              </a:rPr>
              <a:t>Close your eyes.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9AA6BF"/>
                </a:solidFill>
                <a:latin typeface="Arial"/>
              </a:rPr>
              <a:t>Night one begins. Good luck, village.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F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E4572E"/>
                </a:solidFill>
                <a:latin typeface="Arial"/>
              </a:rPr>
              <a:t>TEACHER SETUP — HIDDEN IN SLIDESHOW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22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2EFE6"/>
                </a:solidFill>
                <a:latin typeface="Arial Black"/>
              </a:rPr>
              <a:t>Before class —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C14E"/>
                </a:solidFill>
                <a:latin typeface="Arial"/>
              </a:rPr>
              <a:t>DEAL THE ROLES (standard 28)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0" i="0">
                <a:solidFill>
                  <a:srgbClr val="F2EFE6"/>
                </a:solidFill>
                <a:latin typeface="Arial"/>
              </a:rPr>
              <a:t>3 Werewolf · 1 Detective · 1 Doctor · 23 Villager — shuffle and deal face down, one per student. Spares stay in your folder.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C14E"/>
                </a:solidFill>
                <a:latin typeface="Arial"/>
              </a:rPr>
              <a:t>SPICY VARIANT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0" i="0">
                <a:solidFill>
                  <a:srgbClr val="F2EFE6"/>
                </a:solidFill>
                <a:latin typeface="Arial"/>
              </a:rPr>
              <a:t>Strong group? Swap one villager for the 4th wolf card → 4 wolves, 22 villagers. Accusations fly faster.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C14E"/>
                </a:solidFill>
                <a:latin typeface="Arial"/>
              </a:rPr>
              <a:t>MATERIALS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EFE6"/>
                </a:solidFill>
                <a:latin typeface="Arial"/>
              </a:rPr>
              <a:t>Role cards (cut) · ballot slips · a box or mug · a talking object (marker) · phone timer · your pocket night-order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828800"/>
            <a:ext cx="50292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C14E"/>
                </a:solidFill>
                <a:latin typeface="Arial"/>
              </a:rPr>
              <a:t>TIMING PLAN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F2EFE6"/>
                </a:solidFill>
                <a:latin typeface="Arial"/>
              </a:rPr>
              <a:t>30 min → 3 rounds, tight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F2EFE6"/>
                </a:solidFill>
                <a:latin typeface="Arial"/>
              </a:rPr>
              <a:t>45 min → 4 rounds + short debrief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450" b="0" i="0">
                <a:solidFill>
                  <a:srgbClr val="F2EFE6"/>
                </a:solidFill>
                <a:latin typeface="Arial"/>
              </a:rPr>
              <a:t>60 min → 2 games + full debrief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C14E"/>
                </a:solidFill>
                <a:latin typeface="Arial"/>
              </a:rPr>
              <a:t>GOLDEN MODERATOR RULES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F2EFE6"/>
                </a:solidFill>
                <a:latin typeface="Arial"/>
              </a:rPr>
              <a:t>You never play. You never hint. Follow the pocket card script word-for-word the first game — it keeps nights tight and fair.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