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 on the projector while homeroom 902 is in the room. When the ILT group arrives, advance to SILENT DEBATE (next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60-minute run sheet — 8 min setup (slides 1-5) · 24 min rotation (8 stations x 3 min) · 18 min verdict + 60-second presentations · 10 min reflection.</a:t>
            </a:r>
          </a:p>
          <a:p>
            <a:r>
              <a:t>MATERIALS: 8 sheets of chart paper taped around the room at eye height, one pencil colour per student, a bell/timer.</a:t>
            </a:r>
          </a:p>
          <a:p>
            <a:r>
              <a:t>BEFORE CLASS: decide your 8 home stations and which group of 3–4 starts at each (four groups of four, four groups of three).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— read it, pause, then move straight to the rules. Low-voice rule starts when the first group reaches a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rules fast (90 seconds). Hand out pencil colours as you go. Model one example on the board: ‘Grades should be abolished BECAUSE …’ so they hear the shape of a claim + because.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home stations BEFORE showing this. Rotation: bell every 3 minutes, groups move clockwise (1→2→…→8→1). 8 stops x 3 min = 24 minutes. Keep the timer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minutes max. Read the chain aloud with one worked example: CLAIM ‘Homework should be banned’ → REASON ‘because it eats the hours where teenagers actually recover’ → EVIDENCE → EXAMPLE. The rebuttal formula is the slide to leave on screen during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7 — tape it to chart paper at Station 1.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8 — tape it to chart paper at Station 2.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9 — tape it to chart paper at Station 3.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10 — tape it to chart paper at Station 4.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11 — tape it to chart paper at Station 5.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12 — tape it to chart paper at Station 6.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13 — tape it to chart paper at Station 7.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PAGE 14 — tape it to chart paper at Station 8. Students open the debate here, then rebut in other colours as sheets rotate.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Unhide and print if you want to swap out any of the 8 station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slide. Unhide and print if you want to swap out any of the 8 station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 silent reading + 2 min picking/prepping. Then 8 speakers x 60 seconds ≈ 8 min, with quick challenges between. Keep your own tally — it feeds the exit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 on scrap paper — 2 minutes. Skim them tonight: the near-persuaded answers tell you which ILT project hooks the class (forensics, AI, sport analytics all appear in the ILT repository).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79" y="2011680"/>
            <a:ext cx="45720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0" b="1" i="0">
                <a:solidFill>
                  <a:srgbClr val="3A4552"/>
                </a:solidFill>
                <a:latin typeface="Arial"/>
              </a:rPr>
              <a:t>902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6A6A"/>
                </a:solidFill>
                <a:latin typeface="Arial"/>
              </a:rPr>
              <a:t>HOMEROOM 902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3716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Today’s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6A6A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5146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PE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227832"/>
            <a:ext cx="8595360" cy="10972"/>
          </a:xfrm>
          <a:prstGeom prst="rect">
            <a:avLst/>
          </a:prstGeom>
          <a:solidFill>
            <a:srgbClr val="3A4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5584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6A6A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355848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Math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069080"/>
            <a:ext cx="8595360" cy="10972"/>
          </a:xfrm>
          <a:prstGeom prst="rect">
            <a:avLst/>
          </a:prstGeom>
          <a:solidFill>
            <a:srgbClr val="3A4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97096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6A6A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197096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Child Studies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910328"/>
            <a:ext cx="8595360" cy="10972"/>
          </a:xfrm>
          <a:prstGeom prst="rect">
            <a:avLst/>
          </a:prstGeom>
          <a:solidFill>
            <a:srgbClr val="3A4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3834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6A6A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038344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Science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751576"/>
            <a:ext cx="8595360" cy="10972"/>
          </a:xfrm>
          <a:prstGeom prst="rect">
            <a:avLst/>
          </a:prstGeom>
          <a:solidFill>
            <a:srgbClr val="3A4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87959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56A6A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879592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0" y="-685800"/>
            <a:ext cx="393192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0" b="1" i="0">
                <a:solidFill>
                  <a:srgbClr val="3A4552"/>
                </a:solidFill>
                <a:latin typeface="Arial"/>
              </a:rPr>
              <a:t>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AEB6BD"/>
                </a:solidFill>
                <a:latin typeface="Arial"/>
              </a:rPr>
              <a:t>INTEGRATED LEARNING TIME  ·  GRADE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874519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SILENT DEBATE</a:t>
            </a:r>
            <a:r>
              <a:rPr sz="7200" b="1" i="0">
                <a:solidFill>
                  <a:srgbClr val="F56A6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One hour. 28 people. No shouting.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AEB6BD"/>
                </a:solidFill>
                <a:latin typeface="Arial"/>
              </a:rPr>
              <a:t>Eight statements around the room. Groups of three or four. Your pencil is your voice.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384048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0" b="1" i="0">
                <a:solidFill>
                  <a:srgbClr val="FAD8D8"/>
                </a:solidFill>
                <a:latin typeface="Arial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0"/>
            <a:ext cx="926287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3D4449"/>
                </a:solidFill>
                <a:latin typeface="Arial"/>
              </a:rPr>
              <a:t>The loudest argument you’ll ever have —</a:t>
            </a:r>
          </a:p>
          <a:p>
            <a:pPr algn="ctr"/>
            <a:r>
              <a:rPr sz="4000" b="1" i="1">
                <a:solidFill>
                  <a:srgbClr val="F56A6A"/>
                </a:solidFill>
                <a:latin typeface="Arial"/>
              </a:rPr>
              <a:t>without raising your 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480060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7F888F"/>
                </a:solidFill>
                <a:latin typeface="Arial"/>
              </a:rPr>
              <a:t>Low voices. No shouting. One sheet of paper per statement — and your best reasons.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The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4416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71600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Low voices only.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Your group hears you; the next sheet doesn’t. Whisper-level, first bell to last.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21992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76856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304288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Argue with ideas, not people.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Attack the argument on the sheet — never the student who wrote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54680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09544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36976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Every claim needs a because.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An opinion without a reason is just noise. Write the because.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87368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42232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69664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Disagree on purpose.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Rebuttals are the point: “They say … , but … , because … 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020056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07492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102352"/>
            <a:ext cx="7863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Your colour is your voice.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Pick one pencil colour and keep it all hour — it shows who’s winning.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371600"/>
            <a:ext cx="2176272" cy="4480560"/>
          </a:xfrm>
          <a:prstGeom prst="roundRect">
            <a:avLst>
              <a:gd name="adj" fmla="val 6000"/>
            </a:avLst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65792" y="1691640"/>
            <a:ext cx="1691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56A6A"/>
                </a:solidFill>
                <a:latin typeface="Arial"/>
              </a:rPr>
              <a:t>WHY QUIET?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3D4449"/>
                </a:solidFill>
                <a:latin typeface="Arial"/>
              </a:rPr>
              <a:t>Quiet stops the loudest voice from winning — and pushes quiet students’ ideas onto the page.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3D4449"/>
                </a:solidFill>
                <a:latin typeface="Arial"/>
              </a:rPr>
              <a:t>Every colour on a sheet is a different student. At the end, you’ll see exactly who persuaded whom.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How the room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7F888F"/>
                </a:solidFill>
                <a:latin typeface="Arial"/>
              </a:rPr>
              <a:t>Groups of three or four — eight groups. Each group claims one home sheet, then rotates on the bell until every sheet is visited.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3455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70735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72487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69767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1519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68799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70551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67831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9583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66863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68615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65895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67647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64927" y="2354580"/>
            <a:ext cx="25603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66679" y="1828800"/>
            <a:ext cx="1051560" cy="1051560"/>
          </a:xfrm>
          <a:prstGeom prst="roundRect">
            <a:avLst>
              <a:gd name="adj" fmla="val 18000"/>
            </a:avLst>
          </a:prstGeom>
          <a:solidFill>
            <a:srgbClr val="F5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992459" y="3451859"/>
            <a:ext cx="0" cy="68581"/>
          </a:xfrm>
          <a:prstGeom prst="line">
            <a:avLst/>
          </a:prstGeom>
          <a:ln w="19050">
            <a:solidFill>
              <a:srgbClr val="7F888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199235" y="3520440"/>
            <a:ext cx="9793224" cy="0"/>
          </a:xfrm>
          <a:prstGeom prst="line">
            <a:avLst/>
          </a:prstGeom>
          <a:ln w="19050">
            <a:solidFill>
              <a:srgbClr val="7F888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99235" y="3479291"/>
            <a:ext cx="0" cy="41149"/>
          </a:xfrm>
          <a:prstGeom prst="line">
            <a:avLst/>
          </a:prstGeom>
          <a:ln w="19050">
            <a:solidFill>
              <a:srgbClr val="7F888F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54880" y="3611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7F888F"/>
                </a:solidFill>
                <a:latin typeface="Arial"/>
              </a:rPr>
              <a:t>after station 8 → station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56A6A"/>
                </a:solidFill>
                <a:latin typeface="Arial"/>
              </a:rPr>
              <a:t>8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3D4449"/>
                </a:solidFill>
                <a:latin typeface="Arial"/>
              </a:rPr>
              <a:t>statements around the 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56A6A"/>
                </a:solidFill>
                <a:latin typeface="Arial"/>
              </a:rPr>
              <a:t>3 min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3D4449"/>
                </a:solidFill>
                <a:latin typeface="Arial"/>
              </a:rPr>
              <a:t>on each sheet — move when the bell rings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36408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F56A6A"/>
                </a:solidFill>
                <a:latin typeface="Arial"/>
              </a:rPr>
              <a:t>24 min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3D4449"/>
                </a:solidFill>
                <a:latin typeface="Arial"/>
              </a:rPr>
              <a:t>of rotation — every group visits every sheet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03504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7F888F"/>
                </a:solidFill>
                <a:latin typeface="Arial"/>
              </a:rPr>
              <a:t>Home sheets get one last visit at the end — that’s where the verdict happens.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Your argument toolkit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5187" y="150876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2000" b="1">
                <a:solidFill>
                  <a:srgbClr val="F56A6A"/>
                </a:solidFill>
                <a:latin typeface="Arial"/>
              </a:rPr>
              <a:t>CLAIM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D4449"/>
                </a:solidFill>
                <a:latin typeface="Arial"/>
              </a:rPr>
              <a:t>State it like it’s already true. Short, certain, one sentence.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1771" y="2423160"/>
            <a:ext cx="30175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558387" y="150876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2000" b="1">
                <a:solidFill>
                  <a:srgbClr val="F56A6A"/>
                </a:solidFill>
                <a:latin typeface="Arial"/>
              </a:rPr>
              <a:t>REASON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D4449"/>
                </a:solidFill>
                <a:latin typeface="Arial"/>
              </a:rPr>
              <a:t>Follow it with because. The reason is the argument.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4971" y="2423160"/>
            <a:ext cx="30175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301587" y="150876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2000" b="1">
                <a:solidFill>
                  <a:srgbClr val="F56A6A"/>
                </a:solidFill>
                <a:latin typeface="Arial"/>
              </a:rPr>
              <a:t>EVIDENCE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D4449"/>
                </a:solidFill>
                <a:latin typeface="Arial"/>
              </a:rPr>
              <a:t>A fact, a number, something checkable — not just feelings.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8171" y="2423160"/>
            <a:ext cx="301752" cy="0"/>
          </a:xfrm>
          <a:prstGeom prst="line">
            <a:avLst/>
          </a:prstGeom>
          <a:ln w="25400">
            <a:solidFill>
              <a:srgbClr val="F5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044787" y="1508760"/>
            <a:ext cx="2331720" cy="18288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2000" b="1">
                <a:solidFill>
                  <a:srgbClr val="F56A6A"/>
                </a:solidFill>
                <a:latin typeface="Arial"/>
              </a:rPr>
              <a:t>EXAMPLE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D4449"/>
                </a:solidFill>
                <a:latin typeface="Arial"/>
              </a:rPr>
              <a:t>Make it concrete: this school, this week, your own life.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886200"/>
            <a:ext cx="12191695" cy="1371600"/>
          </a:xfrm>
          <a:prstGeom prst="rect">
            <a:avLst/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332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6A6A"/>
                </a:solidFill>
                <a:latin typeface="Arial"/>
              </a:rPr>
              <a:t>THE STRONGEST MOVE</a:t>
            </a:r>
          </a:p>
          <a:p>
            <a:pPr algn="l">
              <a:spcBef>
                <a:spcPts val="600"/>
              </a:spcBef>
            </a:pPr>
            <a:r>
              <a:rPr sz="2200" b="1" i="1">
                <a:solidFill>
                  <a:srgbClr val="3D4449"/>
                </a:solidFill>
                <a:latin typeface="Arial"/>
              </a:rPr>
              <a:t>“They say … , </a:t>
            </a:r>
            <a:r>
              <a:rPr sz="2200" b="1" i="1">
                <a:solidFill>
                  <a:srgbClr val="F56A6A"/>
                </a:solidFill>
                <a:latin typeface="Arial"/>
              </a:rPr>
              <a:t>but</a:t>
            </a:r>
            <a:r>
              <a:rPr sz="2200" b="1" i="1">
                <a:solidFill>
                  <a:srgbClr val="3D4449"/>
                </a:solidFill>
                <a:latin typeface="Arial"/>
              </a:rPr>
              <a:t> … , </a:t>
            </a:r>
            <a:r>
              <a:rPr sz="2200" b="1" i="1">
                <a:solidFill>
                  <a:srgbClr val="F56A6A"/>
                </a:solidFill>
                <a:latin typeface="Arial"/>
              </a:rPr>
              <a:t>because</a:t>
            </a:r>
            <a:r>
              <a:rPr sz="2200" b="1" i="1">
                <a:solidFill>
                  <a:srgbClr val="3D4449"/>
                </a:solidFill>
                <a:latin typeface="Arial"/>
              </a:rPr>
              <a:t> … 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7F888F"/>
                </a:solidFill>
                <a:latin typeface="Arial"/>
              </a:rPr>
              <a:t>Concede before you counter — “you’re right that … , but …” lands harder than plain disagreement.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Grades should be abolished.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If nobody got marks, who would still learn?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School should start at 10 a.m.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Teenage brains run on a different clock — so what are the bells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AI tools should be allowed on every assignment.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If the answer is findable, what is the assignment for?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Video games should be an official school sport.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Strategy, teamwork, reflexes — what’s missing before it counts?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Sixteen-year-olds should be able to vote.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You can work and pay tax at sixteen — why not hold a ballot?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Social media does more harm than good.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The most documented generation in history — better, or worse?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Homework should be banned.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Six hours of school a day — is it enough time to learn?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STATION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Exams should be open-internet.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You’ll always have Google in real life — why not in the exam room?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SPARE — SWAP FOR ANY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Professional athletes are paid too much.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Should a salary reflect skill, risk, or what people will pay to watch?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6A6A"/>
                </a:solidFill>
                <a:latin typeface="Arial"/>
              </a:rPr>
              <a:t>SPARE — SWAP FOR ANY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2834640" cy="4297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0" b="1" i="0">
                <a:solidFill>
                  <a:srgbClr val="F56A6A"/>
                </a:solidFill>
                <a:latin typeface="Arial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417320"/>
            <a:ext cx="8229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3D4449"/>
                </a:solidFill>
                <a:latin typeface="Arial"/>
              </a:rPr>
              <a:t>Every student must play on a school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56432" y="416052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1">
                <a:solidFill>
                  <a:srgbClr val="7F888F"/>
                </a:solidFill>
                <a:latin typeface="Arial"/>
              </a:rPr>
              <a:t>—  Is fitness a subject to teach, or a choice to protect?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98932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7F888F"/>
                </a:solidFill>
                <a:latin typeface="Arial"/>
              </a:rPr>
              <a:t>Opening arguments, rebuttals and replies all live on this sheet.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D4449"/>
                </a:solidFill>
                <a:latin typeface="Arial"/>
              </a:rPr>
              <a:t>The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7F888F"/>
                </a:solidFill>
                <a:latin typeface="Arial"/>
              </a:rPr>
              <a:t>Eighteen minutes left. Back to your home sheet.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0136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28800"/>
            <a:ext cx="10332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Read everything on your sheet.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Every colour, every rebuttal — especially the ones that trashed your opening argument.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15184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7004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97480"/>
            <a:ext cx="10332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Crown one winning argument.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It can’t be your own. Judge the writing, never the writer.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83864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38728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66160"/>
            <a:ext cx="10332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Name why it won.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Logic, evidence, or a killer example — identify the move that beat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52544"/>
            <a:ext cx="9509760" cy="10972"/>
          </a:xfrm>
          <a:prstGeom prst="rect">
            <a:avLst/>
          </a:prstGeom>
          <a:solidFill>
            <a:srgbClr val="E5E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407407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6A6A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34840"/>
            <a:ext cx="1033272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D4449"/>
                </a:solidFill>
                <a:latin typeface="Arial"/>
              </a:rPr>
              <a:t>Nominate a speaker.</a:t>
            </a:r>
          </a:p>
          <a:p>
            <a:pPr algn="l">
              <a:spcBef>
                <a:spcPts val="300"/>
              </a:spcBef>
            </a:pPr>
            <a:r>
              <a:rPr sz="1350" b="0" i="0">
                <a:solidFill>
                  <a:srgbClr val="7F888F"/>
                </a:solidFill>
                <a:latin typeface="Arial"/>
              </a:rPr>
              <a:t>Sixty seconds to present your winner. Everyone else: be ready to challenge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532120"/>
            <a:ext cx="12191695" cy="914400"/>
          </a:xfrm>
          <a:prstGeom prst="rect">
            <a:avLst/>
          </a:prstGeom>
          <a:solidFill>
            <a:srgbClr val="F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0" i="1">
                <a:solidFill>
                  <a:srgbClr val="3D4449"/>
                </a:solidFill>
                <a:latin typeface="Arial"/>
              </a:rPr>
              <a:t>The judging test: would this argument still stand if it were read aloud to someone who wasn’t in the room?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8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56A6A"/>
                </a:solidFill>
                <a:latin typeface="Arial"/>
              </a:rPr>
              <a:t>BEFORE YOU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6A6A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874519"/>
            <a:ext cx="9326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Which argument almost changed your mind — and what stopped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56A6A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474720"/>
            <a:ext cx="9326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What actually won today: logic, evidence, or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53949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AEB6BD"/>
                </a:solidFill>
                <a:latin typeface="Arial"/>
              </a:rPr>
              <a:t>Scrap paper. Two minutes. Hand it in on the way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